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3.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64212f38674548" /><Relationship Type="http://schemas.openxmlformats.org/officeDocument/2006/relationships/extended-properties" Target="/docProps/app.xml" Id="R6b589cab7a5f4f4d" /><Relationship Type="http://schemas.openxmlformats.org/officeDocument/2006/relationships/officeDocument" Target="/ppt/presentation.xml" Id="R5989d999609042cd" /></Relationships>
</file>

<file path=ppt/presentation.xml><?xml version="1.0" encoding="utf-8"?>
<p:presentation xmlns:p="http://schemas.openxmlformats.org/presentationml/2006/main">
  <p:sldMasterIdLst>
    <p:sldMasterId xmlns:r="http://schemas.openxmlformats.org/officeDocument/2006/relationships" id="2147483648" r:id="Rfdaddbae50094720"/>
    <p:sldMasterId xmlns:r="http://schemas.openxmlformats.org/officeDocument/2006/relationships" id="2147483660" r:id="Rcdf8820007c1492c"/>
  </p:sldMasterIdLst>
  <p:notesMasterIdLst>
    <p:notesMasterId xmlns:r="http://schemas.openxmlformats.org/officeDocument/2006/relationships" r:id="R8d42182c9aa94f75"/>
  </p:notesMasterIdLst>
  <p:sldIdLst>
    <p:sldId xmlns:r="http://schemas.openxmlformats.org/officeDocument/2006/relationships" id="256" r:id="R2ed66627a2794910"/>
    <p:sldId xmlns:r="http://schemas.openxmlformats.org/officeDocument/2006/relationships" id="257" r:id="R634e794f7715465a"/>
    <p:sldId xmlns:r="http://schemas.openxmlformats.org/officeDocument/2006/relationships" id="258" r:id="R888dae309af244ba"/>
    <p:sldId xmlns:r="http://schemas.openxmlformats.org/officeDocument/2006/relationships" id="259" r:id="R7e2da0c3f12d4efc"/>
    <p:sldId xmlns:r="http://schemas.openxmlformats.org/officeDocument/2006/relationships" id="260" r:id="Rc3cda55cefc44ac3"/>
    <p:sldId xmlns:r="http://schemas.openxmlformats.org/officeDocument/2006/relationships" id="261" r:id="R39e5cbc57f3047c2"/>
    <p:sldId xmlns:r="http://schemas.openxmlformats.org/officeDocument/2006/relationships" id="262" r:id="R834f08278af646d2"/>
    <p:sldId xmlns:r="http://schemas.openxmlformats.org/officeDocument/2006/relationships" id="263" r:id="R9750f6ac582d47b2"/>
    <p:sldId xmlns:r="http://schemas.openxmlformats.org/officeDocument/2006/relationships" id="264" r:id="R7f953ff6018c4e18"/>
    <p:sldId xmlns:r="http://schemas.openxmlformats.org/officeDocument/2006/relationships" id="265" r:id="R7e5c607505224fc8"/>
    <p:sldId xmlns:r="http://schemas.openxmlformats.org/officeDocument/2006/relationships" id="266" r:id="Re13c770324464428"/>
    <p:sldId xmlns:r="http://schemas.openxmlformats.org/officeDocument/2006/relationships" id="267" r:id="R8d7ab98010b14862"/>
    <p:sldId xmlns:r="http://schemas.openxmlformats.org/officeDocument/2006/relationships" id="268" r:id="R97eb4b9ed7b64d5f"/>
    <p:sldId xmlns:r="http://schemas.openxmlformats.org/officeDocument/2006/relationships" id="269" r:id="Re83697b3a6644451"/>
    <p:sldId xmlns:r="http://schemas.openxmlformats.org/officeDocument/2006/relationships" id="270" r:id="R8e1cad8dad7d426d"/>
    <p:sldId xmlns:r="http://schemas.openxmlformats.org/officeDocument/2006/relationships" id="271" r:id="R566a78ae3f2648cc"/>
    <p:sldId xmlns:r="http://schemas.openxmlformats.org/officeDocument/2006/relationships" id="272" r:id="R4005dcb56de247ee"/>
    <p:sldId xmlns:r="http://schemas.openxmlformats.org/officeDocument/2006/relationships" id="273" r:id="Red84ecb3479f4db1"/>
    <p:sldId xmlns:r="http://schemas.openxmlformats.org/officeDocument/2006/relationships" id="274" r:id="R6c3a623bea044b9a"/>
    <p:sldId xmlns:r="http://schemas.openxmlformats.org/officeDocument/2006/relationships" id="275" r:id="R33df0370ab1947cc"/>
    <p:sldId xmlns:r="http://schemas.openxmlformats.org/officeDocument/2006/relationships" id="276" r:id="R1a1446f3e2e34673"/>
    <p:sldId xmlns:r="http://schemas.openxmlformats.org/officeDocument/2006/relationships" id="277" r:id="R8ca821b2395f4b3d"/>
    <p:sldId xmlns:r="http://schemas.openxmlformats.org/officeDocument/2006/relationships" id="278" r:id="R5d1e4aae340e4247"/>
    <p:sldId xmlns:r="http://schemas.openxmlformats.org/officeDocument/2006/relationships" id="279" r:id="R811efb1eb5904e35"/>
    <p:sldId xmlns:r="http://schemas.openxmlformats.org/officeDocument/2006/relationships" id="280" r:id="R23302be9711e45ea"/>
    <p:sldId xmlns:r="http://schemas.openxmlformats.org/officeDocument/2006/relationships" id="281" r:id="Rf103dce309b1451f"/>
    <p:sldId xmlns:r="http://schemas.openxmlformats.org/officeDocument/2006/relationships" id="282" r:id="R7127081ecfc44baf"/>
    <p:sldId xmlns:r="http://schemas.openxmlformats.org/officeDocument/2006/relationships" id="283" r:id="R4ddc020d1f9b409b"/>
    <p:sldId xmlns:r="http://schemas.openxmlformats.org/officeDocument/2006/relationships" id="284" r:id="Raa0db2cad4f041ec"/>
    <p:sldId xmlns:r="http://schemas.openxmlformats.org/officeDocument/2006/relationships" id="285" r:id="R886d9f6b6d83402e"/>
    <p:sldId xmlns:r="http://schemas.openxmlformats.org/officeDocument/2006/relationships" id="286" r:id="R3acfe09597114da6"/>
    <p:sldId xmlns:r="http://schemas.openxmlformats.org/officeDocument/2006/relationships" id="287" r:id="Raee721098341490c"/>
    <p:sldId xmlns:r="http://schemas.openxmlformats.org/officeDocument/2006/relationships" id="288" r:id="R199ffcfce7354748"/>
    <p:sldId xmlns:r="http://schemas.openxmlformats.org/officeDocument/2006/relationships" id="289" r:id="R20a6d9211a184cf0"/>
    <p:sldId xmlns:r="http://schemas.openxmlformats.org/officeDocument/2006/relationships" id="290" r:id="Re649c42def21418a"/>
    <p:sldId xmlns:r="http://schemas.openxmlformats.org/officeDocument/2006/relationships" id="291" r:id="Ra5236cf838e24bf2"/>
    <p:sldId xmlns:r="http://schemas.openxmlformats.org/officeDocument/2006/relationships" id="292" r:id="Rf9b90ff61ad94b09"/>
    <p:sldId xmlns:r="http://schemas.openxmlformats.org/officeDocument/2006/relationships" id="293" r:id="Rf06e23531d684ce2"/>
    <p:sldId xmlns:r="http://schemas.openxmlformats.org/officeDocument/2006/relationships" id="294" r:id="R1e04ef710314401f"/>
    <p:sldId xmlns:r="http://schemas.openxmlformats.org/officeDocument/2006/relationships" id="295" r:id="R511632d25e3d4b2a"/>
    <p:sldId xmlns:r="http://schemas.openxmlformats.org/officeDocument/2006/relationships" id="296" r:id="R6d8fdb1489564ba4"/>
    <p:sldId xmlns:r="http://schemas.openxmlformats.org/officeDocument/2006/relationships" id="297" r:id="R4472bdb4bc1a4479"/>
    <p:sldId xmlns:r="http://schemas.openxmlformats.org/officeDocument/2006/relationships" id="298" r:id="R3fe9422a70db4d89"/>
    <p:sldId xmlns:r="http://schemas.openxmlformats.org/officeDocument/2006/relationships" id="299" r:id="R5c1c6115929449a1"/>
    <p:sldId xmlns:r="http://schemas.openxmlformats.org/officeDocument/2006/relationships" id="300" r:id="Rf67773969adb40ec"/>
    <p:sldId xmlns:r="http://schemas.openxmlformats.org/officeDocument/2006/relationships" id="301" r:id="R1b7d6390a0564bf5"/>
    <p:sldId xmlns:r="http://schemas.openxmlformats.org/officeDocument/2006/relationships" id="302" r:id="Rcf09f36d82354ae9"/>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e74c9f34ed2c4175" /><Relationship Type="http://schemas.openxmlformats.org/officeDocument/2006/relationships/slideMaster" Target="/ppt/slideMasters/slideMaster1.xml" Id="Rfdaddbae50094720" /><Relationship Type="http://schemas.openxmlformats.org/officeDocument/2006/relationships/slideMaster" Target="/ppt/slideMasters/slideMaster2.xml" Id="Rcdf8820007c1492c" /><Relationship Type="http://schemas.openxmlformats.org/officeDocument/2006/relationships/notesMaster" Target="/ppt/notesMasters/notesMaster1.xml" Id="R8d42182c9aa94f75" /><Relationship Type="http://schemas.openxmlformats.org/officeDocument/2006/relationships/presProps" Target="/ppt/presProps.xml" Id="Rd6ec16fe2edf4dbc" /><Relationship Type="http://schemas.openxmlformats.org/officeDocument/2006/relationships/viewProps" Target="/ppt/viewProps.xml" Id="Ra634eb4bd0b94a54" /><Relationship Type="http://schemas.openxmlformats.org/officeDocument/2006/relationships/tableStyles" Target="/ppt/tableStyles.xml" Id="R217812abb51f4141" /><Relationship Type="http://schemas.openxmlformats.org/officeDocument/2006/relationships/slide" Target="/ppt/slides/slide1.xml" Id="R2ed66627a2794910" /><Relationship Type="http://schemas.openxmlformats.org/officeDocument/2006/relationships/slide" Target="/ppt/slides/slide2.xml" Id="R634e794f7715465a" /><Relationship Type="http://schemas.openxmlformats.org/officeDocument/2006/relationships/slide" Target="/ppt/slides/slide3.xml" Id="R888dae309af244ba" /><Relationship Type="http://schemas.openxmlformats.org/officeDocument/2006/relationships/slide" Target="/ppt/slides/slide4.xml" Id="R7e2da0c3f12d4efc" /><Relationship Type="http://schemas.openxmlformats.org/officeDocument/2006/relationships/slide" Target="/ppt/slides/slide5.xml" Id="Rc3cda55cefc44ac3" /><Relationship Type="http://schemas.openxmlformats.org/officeDocument/2006/relationships/slide" Target="/ppt/slides/slide6.xml" Id="R39e5cbc57f3047c2" /><Relationship Type="http://schemas.openxmlformats.org/officeDocument/2006/relationships/slide" Target="/ppt/slides/slide7.xml" Id="R834f08278af646d2" /><Relationship Type="http://schemas.openxmlformats.org/officeDocument/2006/relationships/slide" Target="/ppt/slides/slide8.xml" Id="R9750f6ac582d47b2" /><Relationship Type="http://schemas.openxmlformats.org/officeDocument/2006/relationships/slide" Target="/ppt/slides/slide9.xml" Id="R7f953ff6018c4e18" /><Relationship Type="http://schemas.openxmlformats.org/officeDocument/2006/relationships/slide" Target="/ppt/slides/slide10.xml" Id="R7e5c607505224fc8" /><Relationship Type="http://schemas.openxmlformats.org/officeDocument/2006/relationships/slide" Target="/ppt/slides/slide11.xml" Id="Re13c770324464428" /><Relationship Type="http://schemas.openxmlformats.org/officeDocument/2006/relationships/slide" Target="/ppt/slides/slide12.xml" Id="R8d7ab98010b14862" /><Relationship Type="http://schemas.openxmlformats.org/officeDocument/2006/relationships/slide" Target="/ppt/slides/slide13.xml" Id="R97eb4b9ed7b64d5f" /><Relationship Type="http://schemas.openxmlformats.org/officeDocument/2006/relationships/slide" Target="/ppt/slides/slide14.xml" Id="Re83697b3a6644451" /><Relationship Type="http://schemas.openxmlformats.org/officeDocument/2006/relationships/slide" Target="/ppt/slides/slide15.xml" Id="R8e1cad8dad7d426d" /><Relationship Type="http://schemas.openxmlformats.org/officeDocument/2006/relationships/slide" Target="/ppt/slides/slide16.xml" Id="R566a78ae3f2648cc" /><Relationship Type="http://schemas.openxmlformats.org/officeDocument/2006/relationships/slide" Target="/ppt/slides/slide17.xml" Id="R4005dcb56de247ee" /><Relationship Type="http://schemas.openxmlformats.org/officeDocument/2006/relationships/slide" Target="/ppt/slides/slide18.xml" Id="Red84ecb3479f4db1" /><Relationship Type="http://schemas.openxmlformats.org/officeDocument/2006/relationships/slide" Target="/ppt/slides/slide19.xml" Id="R6c3a623bea044b9a" /><Relationship Type="http://schemas.openxmlformats.org/officeDocument/2006/relationships/slide" Target="/ppt/slides/slide20.xml" Id="R33df0370ab1947cc" /><Relationship Type="http://schemas.openxmlformats.org/officeDocument/2006/relationships/slide" Target="/ppt/slides/slide21.xml" Id="R1a1446f3e2e34673" /><Relationship Type="http://schemas.openxmlformats.org/officeDocument/2006/relationships/slide" Target="/ppt/slides/slide22.xml" Id="R8ca821b2395f4b3d" /><Relationship Type="http://schemas.openxmlformats.org/officeDocument/2006/relationships/slide" Target="/ppt/slides/slide23.xml" Id="R5d1e4aae340e4247" /><Relationship Type="http://schemas.openxmlformats.org/officeDocument/2006/relationships/slide" Target="/ppt/slides/slide24.xml" Id="R811efb1eb5904e35" /><Relationship Type="http://schemas.openxmlformats.org/officeDocument/2006/relationships/slide" Target="/ppt/slides/slide25.xml" Id="R23302be9711e45ea" /><Relationship Type="http://schemas.openxmlformats.org/officeDocument/2006/relationships/slide" Target="/ppt/slides/slide26.xml" Id="Rf103dce309b1451f" /><Relationship Type="http://schemas.openxmlformats.org/officeDocument/2006/relationships/slide" Target="/ppt/slides/slide27.xml" Id="R7127081ecfc44baf" /><Relationship Type="http://schemas.openxmlformats.org/officeDocument/2006/relationships/slide" Target="/ppt/slides/slide28.xml" Id="R4ddc020d1f9b409b" /><Relationship Type="http://schemas.openxmlformats.org/officeDocument/2006/relationships/slide" Target="/ppt/slides/slide29.xml" Id="Raa0db2cad4f041ec" /><Relationship Type="http://schemas.openxmlformats.org/officeDocument/2006/relationships/slide" Target="/ppt/slides/slide30.xml" Id="R886d9f6b6d83402e" /><Relationship Type="http://schemas.openxmlformats.org/officeDocument/2006/relationships/slide" Target="/ppt/slides/slide31.xml" Id="R3acfe09597114da6" /><Relationship Type="http://schemas.openxmlformats.org/officeDocument/2006/relationships/slide" Target="/ppt/slides/slide32.xml" Id="Raee721098341490c" /><Relationship Type="http://schemas.openxmlformats.org/officeDocument/2006/relationships/slide" Target="/ppt/slides/slide33.xml" Id="R199ffcfce7354748" /><Relationship Type="http://schemas.openxmlformats.org/officeDocument/2006/relationships/slide" Target="/ppt/slides/slide34.xml" Id="R20a6d9211a184cf0" /><Relationship Type="http://schemas.openxmlformats.org/officeDocument/2006/relationships/slide" Target="/ppt/slides/slide35.xml" Id="Re649c42def21418a" /><Relationship Type="http://schemas.openxmlformats.org/officeDocument/2006/relationships/slide" Target="/ppt/slides/slide36.xml" Id="Ra5236cf838e24bf2" /><Relationship Type="http://schemas.openxmlformats.org/officeDocument/2006/relationships/slide" Target="/ppt/slides/slide37.xml" Id="Rf9b90ff61ad94b09" /><Relationship Type="http://schemas.openxmlformats.org/officeDocument/2006/relationships/slide" Target="/ppt/slides/slide38.xml" Id="Rf06e23531d684ce2" /><Relationship Type="http://schemas.openxmlformats.org/officeDocument/2006/relationships/slide" Target="/ppt/slides/slide39.xml" Id="R1e04ef710314401f" /><Relationship Type="http://schemas.openxmlformats.org/officeDocument/2006/relationships/slide" Target="/ppt/slides/slide40.xml" Id="R511632d25e3d4b2a" /><Relationship Type="http://schemas.openxmlformats.org/officeDocument/2006/relationships/slide" Target="/ppt/slides/slide41.xml" Id="R6d8fdb1489564ba4" /><Relationship Type="http://schemas.openxmlformats.org/officeDocument/2006/relationships/slide" Target="/ppt/slides/slide42.xml" Id="R4472bdb4bc1a4479" /><Relationship Type="http://schemas.openxmlformats.org/officeDocument/2006/relationships/slide" Target="/ppt/slides/slide43.xml" Id="R3fe9422a70db4d89" /><Relationship Type="http://schemas.openxmlformats.org/officeDocument/2006/relationships/slide" Target="/ppt/slides/slide44.xml" Id="R5c1c6115929449a1" /><Relationship Type="http://schemas.openxmlformats.org/officeDocument/2006/relationships/slide" Target="/ppt/slides/slide45.xml" Id="Rf67773969adb40ec" /><Relationship Type="http://schemas.openxmlformats.org/officeDocument/2006/relationships/slide" Target="/ppt/slides/slide46.xml" Id="R1b7d6390a0564bf5" /><Relationship Type="http://schemas.openxmlformats.org/officeDocument/2006/relationships/slide" Target="/ppt/slides/slide47.xml" Id="Rcf09f36d82354a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c7ad1de79d647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1f7cd2a4594050" /><Relationship Type="http://schemas.openxmlformats.org/officeDocument/2006/relationships/notesMaster" Target="/ppt/notesMasters/notesMaster1.xml" Id="R45baf26de26a45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120714b5984aed" /><Relationship Type="http://schemas.openxmlformats.org/officeDocument/2006/relationships/notesMaster" Target="/ppt/notesMasters/notesMaster1.xml" Id="R4d30406da5f743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c9be20d2844524" /><Relationship Type="http://schemas.openxmlformats.org/officeDocument/2006/relationships/notesMaster" Target="/ppt/notesMasters/notesMaster1.xml" Id="Rfe5f0aedfcc948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a5917d16dc4d0e" /><Relationship Type="http://schemas.openxmlformats.org/officeDocument/2006/relationships/notesMaster" Target="/ppt/notesMasters/notesMaster1.xml" Id="Rfaa4404a2c0d43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9e1c6b7554e76" /><Relationship Type="http://schemas.openxmlformats.org/officeDocument/2006/relationships/notesMaster" Target="/ppt/notesMasters/notesMaster1.xml" Id="R07d9235bfb7b44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e1ccebefe04a2a" /><Relationship Type="http://schemas.openxmlformats.org/officeDocument/2006/relationships/notesMaster" Target="/ppt/notesMasters/notesMaster1.xml" Id="Rc9b7d2b1a13145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619c3343ca4cba" /><Relationship Type="http://schemas.openxmlformats.org/officeDocument/2006/relationships/notesMaster" Target="/ppt/notesMasters/notesMaster1.xml" Id="R419db30b35b44e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21e4edbe741bb" /><Relationship Type="http://schemas.openxmlformats.org/officeDocument/2006/relationships/notesMaster" Target="/ppt/notesMasters/notesMaster1.xml" Id="R2bcef398592d41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18acd866a142af" /><Relationship Type="http://schemas.openxmlformats.org/officeDocument/2006/relationships/notesMaster" Target="/ppt/notesMasters/notesMaster1.xml" Id="R0a5f795cf32f4e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1de8a3deee4286" /><Relationship Type="http://schemas.openxmlformats.org/officeDocument/2006/relationships/notesMaster" Target="/ppt/notesMasters/notesMaster1.xml" Id="R5b96d455b2dc46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bf7abf35fe4d54" /><Relationship Type="http://schemas.openxmlformats.org/officeDocument/2006/relationships/notesMaster" Target="/ppt/notesMasters/notesMaster1.xml" Id="R51d6b0d9a0434b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1cbaa49fd94a62" /><Relationship Type="http://schemas.openxmlformats.org/officeDocument/2006/relationships/notesMaster" Target="/ppt/notesMasters/notesMaster1.xml" Id="R225c383b9a5941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8f4f95b6b7b4d41" /><Relationship Type="http://schemas.openxmlformats.org/officeDocument/2006/relationships/notesMaster" Target="/ppt/notesMasters/notesMaster1.xml" Id="R00e824c4b7b54a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f7fb38a39c412f" /><Relationship Type="http://schemas.openxmlformats.org/officeDocument/2006/relationships/notesMaster" Target="/ppt/notesMasters/notesMaster1.xml" Id="Rd163e1256a2146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b67c1df6a0495d" /><Relationship Type="http://schemas.openxmlformats.org/officeDocument/2006/relationships/notesMaster" Target="/ppt/notesMasters/notesMaster1.xml" Id="Rbf9795c78b8246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ac2e25b46d40df" /><Relationship Type="http://schemas.openxmlformats.org/officeDocument/2006/relationships/notesMaster" Target="/ppt/notesMasters/notesMaster1.xml" Id="Rfbefd98ccd984a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6244bf79d04ac2" /><Relationship Type="http://schemas.openxmlformats.org/officeDocument/2006/relationships/notesMaster" Target="/ppt/notesMasters/notesMaster1.xml" Id="Rc33d99e2cc4b428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e7da2519a344c6" /><Relationship Type="http://schemas.openxmlformats.org/officeDocument/2006/relationships/notesMaster" Target="/ppt/notesMasters/notesMaster1.xml" Id="R15e4f44d8c6e46b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bd451718874144" /><Relationship Type="http://schemas.openxmlformats.org/officeDocument/2006/relationships/notesMaster" Target="/ppt/notesMasters/notesMaster1.xml" Id="R03169a365c8c4f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d6e4dabeab4cdd" /><Relationship Type="http://schemas.openxmlformats.org/officeDocument/2006/relationships/notesMaster" Target="/ppt/notesMasters/notesMaster1.xml" Id="R96801a401d11411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e93216d3014cc2" /><Relationship Type="http://schemas.openxmlformats.org/officeDocument/2006/relationships/notesMaster" Target="/ppt/notesMasters/notesMaster1.xml" Id="R8ca1bb870dea4d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aa32d19bc747bc" /><Relationship Type="http://schemas.openxmlformats.org/officeDocument/2006/relationships/notesMaster" Target="/ppt/notesMasters/notesMaster1.xml" Id="Ra69ee87dcb7e4c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1e8a26f242432d" /><Relationship Type="http://schemas.openxmlformats.org/officeDocument/2006/relationships/notesMaster" Target="/ppt/notesMasters/notesMaster1.xml" Id="R98d8ce9b0a9345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d699c1e8914364" /><Relationship Type="http://schemas.openxmlformats.org/officeDocument/2006/relationships/notesMaster" Target="/ppt/notesMasters/notesMaster1.xml" Id="R08648215530a40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967d0d75884080" /><Relationship Type="http://schemas.openxmlformats.org/officeDocument/2006/relationships/notesMaster" Target="/ppt/notesMasters/notesMaster1.xml" Id="R4f2bed119d1147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771a4dd3744da9" /><Relationship Type="http://schemas.openxmlformats.org/officeDocument/2006/relationships/notesMaster" Target="/ppt/notesMasters/notesMaster1.xml" Id="R1c321486ae7c4e1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98b61d3727947f2" /><Relationship Type="http://schemas.openxmlformats.org/officeDocument/2006/relationships/notesMaster" Target="/ppt/notesMasters/notesMaster1.xml" Id="Ra04f1a1f074442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5655b6a98d4de4" /><Relationship Type="http://schemas.openxmlformats.org/officeDocument/2006/relationships/notesMaster" Target="/ppt/notesMasters/notesMaster1.xml" Id="Ra947e56424e04a4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d0e1c12e7a040ce" /><Relationship Type="http://schemas.openxmlformats.org/officeDocument/2006/relationships/notesMaster" Target="/ppt/notesMasters/notesMaster1.xml" Id="R5149932c501e40e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8e0d11f30b34f02" /><Relationship Type="http://schemas.openxmlformats.org/officeDocument/2006/relationships/notesMaster" Target="/ppt/notesMasters/notesMaster1.xml" Id="R4d61d3aee3cb4c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b919990631b4048" /><Relationship Type="http://schemas.openxmlformats.org/officeDocument/2006/relationships/notesMaster" Target="/ppt/notesMasters/notesMaster1.xml" Id="Rba00378704464c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941a4d7c8e4a48" /><Relationship Type="http://schemas.openxmlformats.org/officeDocument/2006/relationships/notesMaster" Target="/ppt/notesMasters/notesMaster1.xml" Id="R764f89f0c0b547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0a24c9b3c654ae3" /><Relationship Type="http://schemas.openxmlformats.org/officeDocument/2006/relationships/notesMaster" Target="/ppt/notesMasters/notesMaster1.xml" Id="R3554548f0ee9431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dcbafb33164ae6" /><Relationship Type="http://schemas.openxmlformats.org/officeDocument/2006/relationships/notesMaster" Target="/ppt/notesMasters/notesMaster1.xml" Id="R29dadff63f6348e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218280405744721" /><Relationship Type="http://schemas.openxmlformats.org/officeDocument/2006/relationships/notesMaster" Target="/ppt/notesMasters/notesMaster1.xml" Id="Re3a403ceb7d54fe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f963ed02a11430f" /><Relationship Type="http://schemas.openxmlformats.org/officeDocument/2006/relationships/notesMaster" Target="/ppt/notesMasters/notesMaster1.xml" Id="R9189bfc071ee436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63a5114309b49a7" /><Relationship Type="http://schemas.openxmlformats.org/officeDocument/2006/relationships/notesMaster" Target="/ppt/notesMasters/notesMaster1.xml" Id="R91c374907ee64d3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c3a4e3e1c714895" /><Relationship Type="http://schemas.openxmlformats.org/officeDocument/2006/relationships/notesMaster" Target="/ppt/notesMasters/notesMaster1.xml" Id="R1f83054b13ad46c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d54872e7c544ca8" /><Relationship Type="http://schemas.openxmlformats.org/officeDocument/2006/relationships/notesMaster" Target="/ppt/notesMasters/notesMaster1.xml" Id="R1cf9a73906c84b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57419f43b0c4335" /><Relationship Type="http://schemas.openxmlformats.org/officeDocument/2006/relationships/notesMaster" Target="/ppt/notesMasters/notesMaster1.xml" Id="R9ae3bf34c085490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121a2ddfcc24225" /><Relationship Type="http://schemas.openxmlformats.org/officeDocument/2006/relationships/notesMaster" Target="/ppt/notesMasters/notesMaster1.xml" Id="Rfb3a89a2b3ee450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ede944cf9904251" /><Relationship Type="http://schemas.openxmlformats.org/officeDocument/2006/relationships/notesMaster" Target="/ppt/notesMasters/notesMaster1.xml" Id="R0f45bc29528243d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e83bf18e68f4964" /><Relationship Type="http://schemas.openxmlformats.org/officeDocument/2006/relationships/notesMaster" Target="/ppt/notesMasters/notesMaster1.xml" Id="R447960189899495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b20ea1648834795" /><Relationship Type="http://schemas.openxmlformats.org/officeDocument/2006/relationships/notesMaster" Target="/ppt/notesMasters/notesMaster1.xml" Id="R7fe80d19e5654b4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6d3a726ea7f40be" /><Relationship Type="http://schemas.openxmlformats.org/officeDocument/2006/relationships/notesMaster" Target="/ppt/notesMasters/notesMaster1.xml" Id="Rf8f9a099e97c4ec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c63a300053d4620" /><Relationship Type="http://schemas.openxmlformats.org/officeDocument/2006/relationships/notesMaster" Target="/ppt/notesMasters/notesMaster1.xml" Id="Re5c1a05f4499461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6d5ea617bd34aee" /><Relationship Type="http://schemas.openxmlformats.org/officeDocument/2006/relationships/notesMaster" Target="/ppt/notesMasters/notesMaster1.xml" Id="R5a32c362cc114a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The report retains the published lab results. Additional checks use the same IBM CSV. Live collection errors and incomplete source notebook cells are disclosed. The sources remain unchanged.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https://github.com/elvenj/elvenj-ibm-data-science-professional-certificate/blob/main/applied-data-science-capstone/notebooks/labs-jupyter-spacex-Data%20wrangling.ipynb</a:t>
            </a:r>
            <a:endParaRPr/>
          </a:p>
          <a:p xmlns:a="http://schemas.openxmlformats.org/drawingml/2006/main">
            <a:pPr marL="0" lvl="0" indent="0" algn="l">
              <a:spcBef>
                <a:spcPts val="0"/>
              </a:spcBef>
              <a:spcAft>
                <a:spcPts val="0"/>
              </a:spcAft>
              <a:buNone/>
            </a:pPr>
            <a:r>
              <a:t>Source: https://github.com/elvenj/elvenj-ibm-data-science-professional-certificate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https://github.com/elvenj/elvenj-ibm-data-science-professional-certificate/blob/main/applied-data-science-capstone/notebooks/jupyter-labs-spacex-data-collection-api.ipynb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https://github.com/elvenj/elvenj-ibm-data-science-professional-certificate/blob/main/applied-data-science-capstone/notebooks/jupyter-labs-webscraping.ipynb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https://github.com/elvenj/elvenj-ibm-data-science-professional-certificate/blob/main/applied-data-science-capstone/notebooks/SpaceX_Machine%20Learning%20Prediction_Part_5.ipynb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https://github.com/elvenj/elvenj-ibm-data-science-professional-certificate/blob/main/applied-data-science-capstone/notebooks/jupyter-labs-spacex-data-collection-api.ipynb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https://github.com/elvenj/elvenj-ibm-data-science-professional-certificate/blob/main/applied-data-science-capstone/notebooks/jupyter-labs-webscraping.ipynb</a:t>
            </a:r>
            <a:endParaRPr/>
          </a:p>
          <a:p xmlns:a="http://schemas.openxmlformats.org/drawingml/2006/main">
            <a:pPr marL="0" lvl="0" indent="0" algn="l">
              <a:spcBef>
                <a:spcPts val="0"/>
              </a:spcBef>
              <a:spcAft>
                <a:spcPts val="0"/>
              </a:spcAft>
              <a:buNone/>
            </a:pPr>
            <a:r>
              <a:t>The schematic describes the collection exercises. The scraper output is empty, and analysis uses prepared IBM CSV files. It does not imply a completed merge of both 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https://github.com/elvenj/elvenj-ibm-data-science-professional-certificate/blob/main/applied-data-science-capstone/notebooks/jupyter-labs-spacex-data-collection-api.ipynb</a:t>
            </a:r>
            <a:endParaRPr/>
          </a:p>
          <a:p xmlns:a="http://schemas.openxmlformats.org/drawingml/2006/main">
            <a:pPr marL="0" lvl="0" indent="0" algn="l">
              <a:spcBef>
                <a:spcPts val="0"/>
              </a:spcBef>
              <a:spcAft>
                <a:spcPts val="0"/>
              </a:spcAft>
              <a:buNone/>
            </a:pPr>
            <a:r>
              <a:t>The published notebook records HTTP 525, JSON decoding errors and failed metadata enrichment. Its final dataset contains 90 prepared launch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https://github.com/elvenj/elvenj-ibm-data-science-professional-certificate/blob/main/applied-data-science-capstone/notebooks/jupyter-labs-webscraping.ipynb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https://github.com/elvenj/elvenj-ibm-data-science-professional-certificate/blob/main/applied-data-science-capstone/data/spacex_web_scraped.csv</a:t>
            </a:r>
            <a:endParaRPr/>
          </a:p>
          <a:p xmlns:a="http://schemas.openxmlformats.org/drawingml/2006/main">
            <a:pPr marL="0" lvl="0" indent="0" algn="l">
              <a:spcBef>
                <a:spcPts val="0"/>
              </a:spcBef>
              <a:spcAft>
                <a:spcPts val="0"/>
              </a:spcAft>
              <a:buNone/>
            </a:pPr>
            <a:r>
              <a:t>The exported CSV has headers but no data rows. The report does not use it for any reported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https://github.com/elvenj/elvenj-ibm-data-science-professional-certificate/blob/main/applied-data-science-capstone/notebooks/jupyter-labs-spacex-data-collection-api.ipynb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https://github.com/elvenj/elvenj-ibm-data-science-professional-certificate/blob/main/applied-data-science-capstone/notebooks/labs-jupyter-spacex-Data%20wrangling.ipynb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The lab target includes five True Ocean outcomes as Class 1. Class 1 is therefore a lab-defined landing outcome, not proof of reusable booster recovery. Mean payload replacement appears in the API notebook. Missing LandingPad values remain and do not create a separate dummy category.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https://github.com/elvenj/elvenj-ibm-data-science-professional-certificate/blob/main/applied-data-science-capstone/notebooks/labs-jupyter-spacex-Data%20wrangling.ipynb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Source: https://cf-courses-data.s3.us.cloud-object-storage.appdomain.cloud/IBM-DS0321EN-SkillsNetwork/labs/module_2/data/Spacex.csv</a:t>
            </a:r>
            <a:endParaRPr/>
          </a:p>
          <a:p xmlns:a="http://schemas.openxmlformats.org/drawingml/2006/main">
            <a:pPr marL="0" lvl="0" indent="0" algn="l">
              <a:spcBef>
                <a:spcPts val="0"/>
              </a:spcBef>
              <a:spcAft>
                <a:spcPts val="0"/>
              </a:spcAft>
              <a:buNone/>
            </a:pPr>
            <a:r>
              <a:t>Additional SQL audit results explicitly compare query scopes on the same 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None/>
            </a:pPr>
            <a:r>
              <a:t>Source: https://cf-courses-data.s3.us.cloud-object-storage.appdomain.cloud/IBM-DS0321EN-SkillsNetwork/datasets/spacex_launch_geo.csv</a:t>
            </a:r>
            <a:endParaRPr/>
          </a:p>
          <a:p xmlns:a="http://schemas.openxmlformats.org/drawingml/2006/main">
            <a:pPr marL="0" lvl="0" indent="0" algn="l">
              <a:spcBef>
                <a:spcPts val="0"/>
              </a:spcBef>
              <a:spcAft>
                <a:spcPts val="0"/>
              </a:spcAft>
              <a:buNone/>
            </a:pPr>
            <a:r>
              <a:t>Maps for this report were reproduced using Folium and the IBM geospatial CSV. The published notebook retains unfinished TODO cells and has no saved map outputs. The selected coastline point comes from the lab example.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https://github.com/elvenj/elvenj-ibm-data-science-professional-certificate/blob/main/applied-data-science-capstone/data/spacex_launch_dash.csv</a:t>
            </a:r>
            <a:endParaRPr/>
          </a:p>
          <a:p xmlns:a="http://schemas.openxmlformats.org/drawingml/2006/main">
            <a:pPr marL="0" lvl="0" indent="0" algn="l">
              <a:spcBef>
                <a:spcPts val="0"/>
              </a:spcBef>
              <a:spcAft>
                <a:spcPts val="0"/>
              </a:spcAft>
              <a:buNone/>
            </a:pPr>
            <a:r>
              <a:t>The payload slider filters only the scatter plot. The pie chart responds to the site dropdown.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As executed in the published notebook, StandardScaler is fitted before the split. Future validation should fit preprocessing within a Pipeline inside CV. A chronological test and grouped splits by booster would reduce temporal and reuse leakage.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Clr>
                <a:schemeClr val="dk1"/>
              </a:buClr>
              <a:buSzPts val="1200"/>
              <a:buFont typeface="Arial"/>
              <a:buNone/>
            </a:pPr>
            <a:r>
              <a:t>Source: https://github.com/elvenj/elvenj-ibm-data-science-professional-certificate/blob/main/applied-data-science-capstone/notebooks/SpaceX_Machine%20Learning%20Prediction_Part_5.ipynb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https://github.com/elvenj/elvenj-ibm-data-science-professional-certificate/blob/main/applied-data-science-capstone/data/dataset_part_2.csv</a:t>
            </a:r>
            <a:endParaRPr/>
          </a:p>
          <a:p xmlns:a="http://schemas.openxmlformats.org/drawingml/2006/main">
            <a:pPr marL="0" lvl="0" indent="0" algn="l">
              <a:spcBef>
                <a:spcPts val="0"/>
              </a:spcBef>
              <a:spcAft>
                <a:spcPts val="0"/>
              </a:spcAft>
              <a:buNone/>
            </a:pPr>
            <a:r>
              <a:t>Chart image extracted unchanged from the published notebook output. Class 1 is the lab-defined success label.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https://github.com/elvenj/elvenj-ibm-data-science-professional-certificate/blob/main/applied-data-science-capstone/data/dataset_part_2.csv</a:t>
            </a:r>
            <a:endParaRPr/>
          </a:p>
          <a:p xmlns:a="http://schemas.openxmlformats.org/drawingml/2006/main">
            <a:pPr marL="0" lvl="0" indent="0" algn="l">
              <a:spcBef>
                <a:spcPts val="0"/>
              </a:spcBef>
              <a:spcAft>
                <a:spcPts val="0"/>
              </a:spcAft>
              <a:buNone/>
            </a:pPr>
            <a:r>
              <a:t>Chart image extracted unchanged from the published notebook output. Class 1 is the lab-defined success label.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Native chart recreated from Class means. Sample counts are explicit to distinguish singleton 100% rates from larger groups.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https://github.com/elvenj/elvenj-ibm-data-science-professional-certificate/blob/main/applied-data-science-capstone/data/dataset_part_2.csv</a:t>
            </a:r>
            <a:endParaRPr/>
          </a:p>
          <a:p xmlns:a="http://schemas.openxmlformats.org/drawingml/2006/main">
            <a:pPr marL="0" lvl="0" indent="0" algn="l">
              <a:spcBef>
                <a:spcPts val="0"/>
              </a:spcBef>
              <a:spcAft>
                <a:spcPts val="0"/>
              </a:spcAft>
              <a:buNone/>
            </a:pPr>
            <a:r>
              <a:t>Chart image extracted unchanged from the published notebook output. Class 1 is the lab-defined success label.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https://github.com/elvenj/elvenj-ibm-data-science-professional-certificate/blob/main/applied-data-science-capstone/data/dataset_part_2.csv</a:t>
            </a:r>
            <a:endParaRPr/>
          </a:p>
          <a:p xmlns:a="http://schemas.openxmlformats.org/drawingml/2006/main">
            <a:pPr marL="0" lvl="0" indent="0" algn="l">
              <a:spcBef>
                <a:spcPts val="0"/>
              </a:spcBef>
              <a:spcAft>
                <a:spcPts val="0"/>
              </a:spcAft>
              <a:buNone/>
            </a:pPr>
            <a:r>
              <a:t>Chart image extracted unchanged from the published notebook output. Class 1 is the lab-defined success label.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Annual means from 90 launches. No launch appears in 2011, so 2011 is absent rather than a zero-success year.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First five matching records, retaining the notebook row order.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45,596 kg reproduces the saved notebook result. 107,010 kg is an additional SUM with Customer LIKE %NASA% on the same 101-row IBM CSV. It is the total payload of NASA-tagged missions, including shared-customer missions, rather than payload exclusively attributable to NASA.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Exact equality reproduces the published result. The prefix average is an additional check of all 15 v1.1-family rows in the same 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Date follows the source CSV exactly, including its reporting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The saved notebook gives Success 98, Success with a trailing space 1, Success (payload status unclear) 1 and Failure (in flight) 1. This table normalizes whitespace and preserves the unclear-status category. Total 101.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The maximum comes from the 101-row SQL dataset. The 90-row modeling dataset has a different maximum (15,400 kg).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The SQL ranking reproduces the published result. Total 31 matching rows.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None/>
            </a:pPr>
            <a:r>
              <a:t>Source: https://cf-courses-data.s3.us.cloud-object-storage.appdomain.cloud/IBM-DS0321EN-SkillsNetwork/datasets/spacex_launch_geo.csv</a:t>
            </a:r>
            <a:endParaRPr/>
          </a:p>
          <a:p xmlns:a="http://schemas.openxmlformats.org/drawingml/2006/main">
            <a:pPr marL="0" lvl="0" indent="0" algn="l">
              <a:spcBef>
                <a:spcPts val="0"/>
              </a:spcBef>
              <a:spcAft>
                <a:spcPts val="0"/>
              </a:spcAft>
              <a:buNone/>
            </a:pPr>
            <a:r>
              <a:t>Source: https://www.openstreetmap.org/copyright</a:t>
            </a:r>
            <a:endParaRPr/>
          </a:p>
          <a:p xmlns:a="http://schemas.openxmlformats.org/drawingml/2006/main">
            <a:pPr marL="0" lvl="0" indent="0" algn="l">
              <a:spcBef>
                <a:spcPts val="0"/>
              </a:spcBef>
              <a:spcAft>
                <a:spcPts val="0"/>
              </a:spcAft>
              <a:buNone/>
            </a:pPr>
            <a:r>
              <a:t>Map reproduced for the report with Folium. Site locations use the source CSV as supplied.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None/>
            </a:pPr>
            <a:r>
              <a:t>Source: https://www.openstreetmap.org/copyright</a:t>
            </a:r>
            <a:endParaRPr/>
          </a:p>
          <a:p xmlns:a="http://schemas.openxmlformats.org/drawingml/2006/main">
            <a:pPr marL="0" lvl="0" indent="0" algn="l">
              <a:spcBef>
                <a:spcPts val="0"/>
              </a:spcBef>
              <a:spcAft>
                <a:spcPts val="0"/>
              </a:spcAft>
              <a:buNone/>
            </a:pPr>
            <a:r>
              <a:t>Map reproduced for the report. Markers are offset by at most about 0.0016 degrees for legibility and are not additional launch locations. Class values follow the 56-row geospatial 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None/>
            </a:pPr>
            <a:r>
              <a:t>Source: https://www.openstreetmap.org/copyright</a:t>
            </a:r>
            <a:endParaRPr/>
          </a:p>
          <a:p xmlns:a="http://schemas.openxmlformats.org/drawingml/2006/main">
            <a:pPr marL="0" lvl="0" indent="0" algn="l">
              <a:spcBef>
                <a:spcPts val="0"/>
              </a:spcBef>
              <a:spcAft>
                <a:spcPts val="0"/>
              </a:spcAft>
              <a:buNone/>
            </a:pPr>
            <a:r>
              <a:t>Source: https://api.openstreetmap.org/api/0.6/map?bbox=-80.583,28.55,-80.543,28.574</a:t>
            </a:r>
            <a:endParaRPr/>
          </a:p>
          <a:p xmlns:a="http://schemas.openxmlformats.org/drawingml/2006/main">
            <a:pPr marL="0" lvl="0" indent="0" algn="l">
              <a:spcBef>
                <a:spcPts val="0"/>
              </a:spcBef>
              <a:spcAft>
                <a:spcPts val="0"/>
              </a:spcAft>
              <a:buNone/>
            </a:pPr>
            <a:r>
              <a:t>Launch-site coordinates follow IBM geo CSV: 28.56230197, -80.57735648. Selected nearby OSM feature nodes and distances: [{"name":"Coastline","km":0.9508444974671244,"point":[28.5654777,-80.5683199],"way":"22322002"},{"name":"Railway","km":0.0459452821436568,"point":[28.5618912,-80.577406],"way":"96332348"},{"name":"Access road","km":0.05576623601074748,"point":[28.562197,-80.5767983],"way":"10766742"}]. Haversine radius 6373 km. Nearest nodes within the downloaded bounding box are used, not a surveyed minimum to the complete feature geometry.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Screenshot reproduced from the published update_pie callback with All Sites. Display fonts enlarged for legibility. Dataset 56 launches, 24 successes. Site success counts: KSC 10, CCAFS LC-40 7, VAFB 4, CCAFS SLC-40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Screenshot reproduced from the published update_pie callback with KSC LC-39A. Display fonts enlarged for legibility. Rates in the dashboard dataset: KSC 76.92%, CCAFS SLC-40 42.86%, VAFB 40%, CCAFS LC-40 26.92%.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Screenshots reproduce the exact published update_scatter callback with All Sites and payload selections [0,10000] and [2000,5000]. Inclusive between filtering yields 56 rows/24 successes and 29 rows/16 successes.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CV values come from stored notebook output. Decision Tree appears as 0.8768 in the summary cell and the chart retains that precision. Test accuracy is exactly 5/6 for all models.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Confusion matrix reconstructed from the saved predictions and the notebook random_state=2 test split: TN 3, FP 3, FN 0, TP 12. All four models have identical predictions. These test rates have low precision because n=18.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https://github.com/elvenj/elvenj-ibm-data-science-professional-certificate/blob/main/applied-data-science-capstone/notebooks/edadataviz.ipynb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https://github.com/elvenj/elvenj-ibm-data-science-professional-certificate/blob/main/applied-data-science-capstone/notebooks/jupyter-labs-eda-sql-coursera_sqllite.ipynb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https://github.com/elvenj/elvenj-ibm-data-science-professional-certificate/blob/main/applied-data-science-capstone/dashboard/spacex-dash-app.py</a:t>
            </a:r>
            <a:endParaRPr/>
          </a:p>
          <a:p xmlns:a="http://schemas.openxmlformats.org/drawingml/2006/main">
            <a:pPr marL="0" lvl="0" indent="0" algn="l">
              <a:spcBef>
                <a:spcPts val="0"/>
              </a:spcBef>
              <a:spcAft>
                <a:spcPts val="0"/>
              </a:spcAft>
              <a:buNone/>
            </a:pPr>
            <a:r>
              <a:t>The conclusion reports measured findings on the source datasets. KSC success rate uses 13 KSC launches, while its success share uses 24 successes across all sites. The NASA totals compare exact CRS labels with NASA-tagged missions including shared customers. Recommendations follow the observed limitations: small test sample, globally fitted scaler, temporal trend, booster reuse and mixed outcome definitions.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https://github.com/elvenj/elvenj-ibm-data-science-professional-certificate/blob/main/applied-data-science-capstone/notebooks/jupyter-labs-spacex-data-collection-api.ipynb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https://github.com/elvenj/elvenj-ibm-data-science-professional-certificate/blob/main/applied-data-science-capstone/notebooks/jupyter-labs-webscraping.ipynb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https://github.com/elvenj/elvenj-ibm-data-science-professional-certificate/blob/main/applied-data-science-capstone/notebooks/lab_jupyter_launch_site_location.ipynb</a:t>
            </a:r>
            <a:endParaRPr/>
          </a:p>
          <a:p xmlns:a="http://schemas.openxmlformats.org/drawingml/2006/main">
            <a:pPr marL="0" lvl="0" indent="0" algn="l">
              <a:spcBef>
                <a:spcPts val="0"/>
              </a:spcBef>
              <a:spcAft>
                <a:spcPts val="0"/>
              </a:spcAft>
              <a:buNone/>
            </a:pPr>
            <a:r>
              <a:t>Source: https://github.com/elvenj/elvenj-ibm-data-science-professional-certificate/blob/main/applied-data-science-capstone/notebooks/SpaceX_Machine%20Learning%20Prediction_Part_5.ipynb</a:t>
            </a:r>
            <a:endParaRPr/>
          </a:p>
          <a:p xmlns:a="http://schemas.openxmlformats.org/drawingml/2006/main">
            <a:pPr marL="0" lvl="0" indent="0" algn="l">
              <a:spcBef>
                <a:spcPts val="0"/>
              </a:spcBef>
              <a:spcAft>
                <a:spcPts val="0"/>
              </a:spcAft>
              <a:buNone/>
            </a:pPr>
            <a:r>
              <a:t>The report retains the published lab results. Additional checks use the same IBM CSV. Live collection errors and incomplete source notebook cells are disclosed. The sources remain unchanged.</a:t>
            </a:r>
            <a:endParaRPr/>
          </a:p>
          <a:p xmlns:a="http://schemas.openxmlformats.org/drawingml/2006/main">
            <a:pPr marL="0" lvl="0" indent="0" algn="l">
              <a:spcBef>
                <a:spcPts val="0"/>
              </a:spcBef>
              <a:spcAft>
                <a:spcPts val="0"/>
              </a:spcAft>
              <a:buNone/>
            </a:pPr>
            <a:r>
              <a:t>Current repository snapshot eb9dd939cff36e562264702ee6951b9d493327d5. Map outputs were reproduced for this report. The source map notebook has TODO cells.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https://github.com/elvenj/elvenj-ibm-data-science-professional-certificate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aaab8b90814b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53d242560a140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6fa9ab8f7143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a5971d2a0a40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bcb544bfe148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669cd50b4343f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724ba46d82f48e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26cad298f51409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ba81f36e8cf48e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86e5fff0a3c4a3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1879b8f57834bd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6ec89df71894463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36d410790402461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8444422dafcc4c2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50ca46d6b2f54e8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8cfa58c336b047e7"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4f96f83f9e6c45f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b4fae1bd3aaa478b"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3d83f22d32d411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93b61cead0ae45e5"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0a9e9af25c8b4793"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4e441ba179d742bc"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d7d3f9ed11554344"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cc3df304a2ca4cc6"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0890E180-42EF-4E9C-80E2-BF81BC91FBB1}"/>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9977B4BA-9984-4195-B7A3-A6BBEF81F278}"/>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E78B17AE-A036-4F79-AC04-2F6732E105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62FC2510-1400-4759-9C9A-8E76333EDC55}"/>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BC9C048C-BEF8-4878-9B08-A246D2908EB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1AB58F74-91C2-4E95-9E46-AA86EF3B896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E52DD020-B84E-42F5-9815-6DC4F4DC632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43C9891B-7771-498B-BEC0-F52D9BC4F22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2FAE2491-1092-4B34-8D22-B645890D024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E7A72E84-83FC-4E05-8268-9DBB4FB7D056}"/>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5F8BE008-8F67-4CC5-BE23-94C3D0D939B3}"/>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E384C646-5498-4CB4-87F8-E305927297E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0903A70B-CDEF-4180-BF32-991D70AC5B9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D18A7A42-8D62-469A-9BE4-17663C91DF4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659F18B9-4E8D-4136-9A29-57A389168055}"/>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928CB555-8585-4CDB-B618-B1FC21AC5D6E}"/>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17C7FC35-09C6-4DE2-B254-9FEC88E4D6C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579E4483-323F-43EC-AFD2-C1C70B591FA2}"/>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3D2C45B6-E6B3-4D31-974C-14C8D95F98E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3131F4E6-7566-4E69-9A59-B5F5C17683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182CABD8-E33C-4C36-92D8-216E0B8A95D7}"/>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47ECFC57-AEEA-4D0C-B1BE-87AD54B00A4B}"/>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20E4BD5B-3DF4-478B-BBD1-4E2259759353}"/>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91D9613-42B5-40EB-87DC-C30EBAFF6F6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67535ED2-650B-40AC-8735-4A6B32C56205}"/>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A7C27725-28DC-4579-A3AA-51507118268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04CECA92-3FB8-49A6-816B-CA580D3C019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7595D7C2-5B9F-4EA1-9E84-AE59BB02731E}"/>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C0F845E8-328E-4E72-95D3-43E75537AF8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71EBDAC7-CA02-4CF1-BA25-77DE16EBBC7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showMasterSp="0" matchingName="1_Blank">
  <p:cSld name="1_Blank">
    <p:spTree>
      <p:nvGrpSpPr>
        <p:cNvPr id="1" name=""/>
        <p:cNvGrpSpPr/>
        <p:nvPr/>
      </p:nvGrpSpPr>
      <p:grpSpPr>
        <a:xfrm xmlns:a="http://schemas.openxmlformats.org/drawingml/2006/main"/>
      </p:grpSpPr>
      <p:sp>
        <p:nvSpPr>
          <p:cNvPr id="53" name="Google Shape;53;p14">
            <a:extLst xmlns:a="http://schemas.openxmlformats.org/drawingml/2006/main">
              <a:ext uri="{FF2B5EF4-FFF2-40B4-BE49-F238E27FC236}">
                <a16:creationId xmlns:a16="http://schemas.microsoft.com/office/drawing/2014/main" id="{8B2DC1BE-1BCA-46BE-B51B-3771D05E41F2}"/>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R="0" algn="ctr">
              <a:lnSpc>
                <a:spcPct val="90000"/>
              </a:lnSpc>
              <a:spcBef>
                <a:spcPts val="0"/>
              </a:spcBef>
              <a:spcAft>
                <a:spcPts val="0"/>
              </a:spcAft>
              <a:buClr>
                <a:srgbClr val="005493"/>
              </a:buClr>
              <a:buSzPts val="3600"/>
              <a:buFont typeface="Arial"/>
              <a:buNone/>
              <a:defRPr sz="3600" b="0" i="0" u="none" strike="noStrike" cap="none">
                <a:solidFill>
                  <a:srgbClr val="005493"/>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4" name="Google Shape;54;p14">
            <a:extLst xmlns:a="http://schemas.openxmlformats.org/drawingml/2006/main">
              <a:ext uri="{FF2B5EF4-FFF2-40B4-BE49-F238E27FC236}">
                <a16:creationId xmlns:a16="http://schemas.microsoft.com/office/drawing/2014/main" id="{8F30B304-1608-42A7-9283-1E5B3058D127}"/>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b="0" i="0" u="none" strike="noStrike" cap="none">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13.xml><?xml version="1.0" encoding="utf-8"?>
<p:sldLayout xmlns:p="http://schemas.openxmlformats.org/presentationml/2006/main" matchingName="Title Slide">
  <p:cSld name="Title Slide">
    <p:spTree>
      <p:nvGrpSpPr>
        <p:cNvPr id="1" name=""/>
        <p:cNvGrpSpPr/>
        <p:nvPr/>
      </p:nvGrpSpPr>
      <p:grpSpPr>
        <a:xfrm xmlns:a="http://schemas.openxmlformats.org/drawingml/2006/main"/>
      </p:grpSpPr>
      <p:sp>
        <p:nvSpPr>
          <p:cNvPr id="56" name="Google Shape;56;p15">
            <a:extLst xmlns:a="http://schemas.openxmlformats.org/drawingml/2006/main">
              <a:ext uri="{FF2B5EF4-FFF2-40B4-BE49-F238E27FC236}">
                <a16:creationId xmlns:a16="http://schemas.microsoft.com/office/drawing/2014/main" id="{C40772E6-B8DC-49B0-AC58-C867022275B4}"/>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58" name="Google Shape;58;p16">
            <a:extLst xmlns:a="http://schemas.openxmlformats.org/drawingml/2006/main">
              <a:ext uri="{FF2B5EF4-FFF2-40B4-BE49-F238E27FC236}">
                <a16:creationId xmlns:a16="http://schemas.microsoft.com/office/drawing/2014/main" id="{FA2E2CFD-5E8A-48D6-9E43-19A0A5A91EAF}"/>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marR="0" algn="l">
              <a:lnSpc>
                <a:spcPct val="90000"/>
              </a:lnSpc>
              <a:spcBef>
                <a:spcPts val="0"/>
              </a:spcBef>
              <a:spcAft>
                <a:spcPts val="0"/>
              </a:spcAft>
              <a:buClr>
                <a:schemeClr val="dk1"/>
              </a:buClr>
              <a:buSzPts val="4500"/>
              <a:buFont typeface="Arial"/>
              <a:buNone/>
              <a:defRPr sz="45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59" name="Google Shape;59;p16">
            <a:extLst xmlns:a="http://schemas.openxmlformats.org/drawingml/2006/main">
              <a:ext uri="{FF2B5EF4-FFF2-40B4-BE49-F238E27FC236}">
                <a16:creationId xmlns:a16="http://schemas.microsoft.com/office/drawing/2014/main" id="{87D868A1-24E1-48D4-B1CE-C44D4070959E}"/>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Arial"/>
                <a:ea typeface="Arial"/>
                <a:cs typeface="Arial"/>
              </a:defRPr>
            </a:lvl1pPr>
            <a:lvl2pPr marL="914400" marR="0"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Arial"/>
                <a:ea typeface="Arial"/>
                <a:cs typeface="Arial"/>
              </a:defRPr>
            </a:lvl2pPr>
            <a:lvl3pPr marL="1371600" marR="0"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Arial"/>
                <a:ea typeface="Arial"/>
                <a:cs typeface="Arial"/>
              </a:defRPr>
            </a:lvl3pPr>
            <a:lvl4pPr marL="18288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4pPr>
            <a:lvl5pPr marL="22860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5pPr>
            <a:lvl6pPr marL="27432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6pPr>
            <a:lvl7pPr marL="32004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7pPr>
            <a:lvl8pPr marL="36576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8pPr>
            <a:lvl9pPr marL="4114800" marR="0"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Arial"/>
                <a:ea typeface="Arial"/>
                <a:cs typeface="Arial"/>
              </a:defRPr>
            </a:lvl9pPr>
          </a:lstStyle>
          <a:p xmlns:a="http://schemas.openxmlformats.org/drawingml/2006/main"/>
        </p:txBody>
      </p:sp>
      <p:sp>
        <p:nvSpPr>
          <p:cNvPr id="60" name="Google Shape;60;p16">
            <a:extLst xmlns:a="http://schemas.openxmlformats.org/drawingml/2006/main">
              <a:ext uri="{FF2B5EF4-FFF2-40B4-BE49-F238E27FC236}">
                <a16:creationId xmlns:a16="http://schemas.microsoft.com/office/drawing/2014/main" id="{02AAFCE5-4A20-484F-A133-7623386AAEC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61" name="Google Shape;61;p16">
            <a:extLst xmlns:a="http://schemas.openxmlformats.org/drawingml/2006/main">
              <a:ext uri="{FF2B5EF4-FFF2-40B4-BE49-F238E27FC236}">
                <a16:creationId xmlns:a16="http://schemas.microsoft.com/office/drawing/2014/main" id="{ED239585-C42D-42DF-B93C-3614BFC93BA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62" name="Google Shape;62;p16">
            <a:extLst xmlns:a="http://schemas.openxmlformats.org/drawingml/2006/main">
              <a:ext uri="{FF2B5EF4-FFF2-40B4-BE49-F238E27FC236}">
                <a16:creationId xmlns:a16="http://schemas.microsoft.com/office/drawing/2014/main" id="{BF1DB115-4AC6-446C-9EBA-D698E9AB642C}"/>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1_Vertical Title and Text">
  <p:cSld name="1_Vertical Title and Text">
    <p:spTree>
      <p:nvGrpSpPr>
        <p:cNvPr id="1" name=""/>
        <p:cNvGrpSpPr/>
        <p:nvPr/>
      </p:nvGrpSpPr>
      <p:grpSpPr>
        <a:xfrm xmlns:a="http://schemas.openxmlformats.org/drawingml/2006/main"/>
      </p:grpSpPr>
      <p:sp>
        <p:nvSpPr>
          <p:cNvPr id="64" name="Google Shape;64;p17">
            <a:extLst xmlns:a="http://schemas.openxmlformats.org/drawingml/2006/main">
              <a:ext uri="{FF2B5EF4-FFF2-40B4-BE49-F238E27FC236}">
                <a16:creationId xmlns:a16="http://schemas.microsoft.com/office/drawing/2014/main" id="{91FF766D-6997-44EF-AC65-4AD87855C692}"/>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65" name="Google Shape;65;p17">
            <a:extLst xmlns:a="http://schemas.openxmlformats.org/drawingml/2006/main">
              <a:ext uri="{FF2B5EF4-FFF2-40B4-BE49-F238E27FC236}">
                <a16:creationId xmlns:a16="http://schemas.microsoft.com/office/drawing/2014/main" id="{A20D8862-9B01-4230-B39B-C9146E618D2A}"/>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16.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67" name="Google Shape;67;p18">
            <a:extLst xmlns:a="http://schemas.openxmlformats.org/drawingml/2006/main">
              <a:ext uri="{FF2B5EF4-FFF2-40B4-BE49-F238E27FC236}">
                <a16:creationId xmlns:a16="http://schemas.microsoft.com/office/drawing/2014/main" id="{067DEABD-E1BE-4C31-84F6-F759E11FE3F0}"/>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68" name="Google Shape;68;p18">
            <a:extLst xmlns:a="http://schemas.openxmlformats.org/drawingml/2006/main">
              <a:ext uri="{FF2B5EF4-FFF2-40B4-BE49-F238E27FC236}">
                <a16:creationId xmlns:a16="http://schemas.microsoft.com/office/drawing/2014/main" id="{AFC181DD-D77F-4940-9F81-51D948AF2718}"/>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69" name="Google Shape;69;p18">
            <a:extLst xmlns:a="http://schemas.openxmlformats.org/drawingml/2006/main">
              <a:ext uri="{FF2B5EF4-FFF2-40B4-BE49-F238E27FC236}">
                <a16:creationId xmlns:a16="http://schemas.microsoft.com/office/drawing/2014/main" id="{B3749114-E022-4531-8CA4-4CFABA16DAEE}"/>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70" name="Google Shape;70;p18">
            <a:extLst xmlns:a="http://schemas.openxmlformats.org/drawingml/2006/main">
              <a:ext uri="{FF2B5EF4-FFF2-40B4-BE49-F238E27FC236}">
                <a16:creationId xmlns:a16="http://schemas.microsoft.com/office/drawing/2014/main" id="{CDABF610-60CC-4017-9000-056FCF96077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71" name="Google Shape;71;p18">
            <a:extLst xmlns:a="http://schemas.openxmlformats.org/drawingml/2006/main">
              <a:ext uri="{FF2B5EF4-FFF2-40B4-BE49-F238E27FC236}">
                <a16:creationId xmlns:a16="http://schemas.microsoft.com/office/drawing/2014/main" id="{8EDD4BB0-D4CC-406E-B025-D42404F92534}"/>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73" name="Google Shape;73;p19">
            <a:extLst xmlns:a="http://schemas.openxmlformats.org/drawingml/2006/main">
              <a:ext uri="{FF2B5EF4-FFF2-40B4-BE49-F238E27FC236}">
                <a16:creationId xmlns:a16="http://schemas.microsoft.com/office/drawing/2014/main" id="{301285C9-7427-4D58-A32B-D40EAA65725B}"/>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74" name="Google Shape;74;p19">
            <a:extLst xmlns:a="http://schemas.openxmlformats.org/drawingml/2006/main">
              <a:ext uri="{FF2B5EF4-FFF2-40B4-BE49-F238E27FC236}">
                <a16:creationId xmlns:a16="http://schemas.microsoft.com/office/drawing/2014/main" id="{B5063E61-C6E8-4BA9-A657-DCC2C6A1F354}"/>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75" name="Google Shape;75;p19">
            <a:extLst xmlns:a="http://schemas.openxmlformats.org/drawingml/2006/main">
              <a:ext uri="{FF2B5EF4-FFF2-40B4-BE49-F238E27FC236}">
                <a16:creationId xmlns:a16="http://schemas.microsoft.com/office/drawing/2014/main" id="{4E7FEE8E-8431-4CF0-83B2-7E1E5C807102}"/>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76" name="Google Shape;76;p19">
            <a:extLst xmlns:a="http://schemas.openxmlformats.org/drawingml/2006/main">
              <a:ext uri="{FF2B5EF4-FFF2-40B4-BE49-F238E27FC236}">
                <a16:creationId xmlns:a16="http://schemas.microsoft.com/office/drawing/2014/main" id="{C615910E-674B-4257-8614-D9026A891EB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77" name="Google Shape;77;p19">
            <a:extLst xmlns:a="http://schemas.openxmlformats.org/drawingml/2006/main">
              <a:ext uri="{FF2B5EF4-FFF2-40B4-BE49-F238E27FC236}">
                <a16:creationId xmlns:a16="http://schemas.microsoft.com/office/drawing/2014/main" id="{FA37DF39-6E2D-4128-BA46-466D84C9539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78" name="Google Shape;78;p19">
            <a:extLst xmlns:a="http://schemas.openxmlformats.org/drawingml/2006/main">
              <a:ext uri="{FF2B5EF4-FFF2-40B4-BE49-F238E27FC236}">
                <a16:creationId xmlns:a16="http://schemas.microsoft.com/office/drawing/2014/main" id="{94234540-E96A-4573-9E19-9600155027DB}"/>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8.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80" name="Google Shape;80;p20">
            <a:extLst xmlns:a="http://schemas.openxmlformats.org/drawingml/2006/main">
              <a:ext uri="{FF2B5EF4-FFF2-40B4-BE49-F238E27FC236}">
                <a16:creationId xmlns:a16="http://schemas.microsoft.com/office/drawing/2014/main" id="{2D0245E3-83F0-48D2-8CC9-C50BA813DE9C}"/>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81" name="Google Shape;81;p20">
            <a:extLst xmlns:a="http://schemas.openxmlformats.org/drawingml/2006/main">
              <a:ext uri="{FF2B5EF4-FFF2-40B4-BE49-F238E27FC236}">
                <a16:creationId xmlns:a16="http://schemas.microsoft.com/office/drawing/2014/main" id="{CF177B51-CD32-4B8A-AAC7-614BF5453173}"/>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marL="457200" marR="0" indent="-228600" algn="l">
              <a:lnSpc>
                <a:spcPct val="90000"/>
              </a:lnSpc>
              <a:spcBef>
                <a:spcPts val="800"/>
              </a:spcBef>
              <a:spcAft>
                <a:spcPts val="0"/>
              </a:spcAft>
              <a:buClr>
                <a:schemeClr val="dk1"/>
              </a:buClr>
              <a:buSzPts val="1800"/>
              <a:buFont typeface="Arial"/>
              <a:buNone/>
              <a:defRPr sz="1800" b="1">
                <a:solidFill>
                  <a:schemeClr val="dk1"/>
                </a:solidFill>
                <a:latin typeface="Arial"/>
                <a:ea typeface="Arial"/>
                <a:cs typeface="Arial"/>
              </a:defRPr>
            </a:lvl1pPr>
            <a:lvl2pPr marL="914400" marR="0" indent="-228600" algn="l">
              <a:lnSpc>
                <a:spcPct val="90000"/>
              </a:lnSpc>
              <a:spcBef>
                <a:spcPts val="400"/>
              </a:spcBef>
              <a:spcAft>
                <a:spcPts val="0"/>
              </a:spcAft>
              <a:buClr>
                <a:schemeClr val="dk1"/>
              </a:buClr>
              <a:buSzPts val="1500"/>
              <a:buFont typeface="Arial"/>
              <a:buNone/>
              <a:defRPr sz="1500" b="1" i="0" u="none" strike="noStrike" cap="none">
                <a:solidFill>
                  <a:schemeClr val="dk1"/>
                </a:solidFill>
                <a:latin typeface="Arial"/>
                <a:ea typeface="Arial"/>
                <a:cs typeface="Arial"/>
              </a:defRPr>
            </a:lvl2pPr>
            <a:lvl3pPr marL="1371600" marR="0" indent="-228600" algn="l">
              <a:lnSpc>
                <a:spcPct val="90000"/>
              </a:lnSpc>
              <a:spcBef>
                <a:spcPts val="400"/>
              </a:spcBef>
              <a:spcAft>
                <a:spcPts val="0"/>
              </a:spcAft>
              <a:buClr>
                <a:schemeClr val="dk1"/>
              </a:buClr>
              <a:buSzPts val="1400"/>
              <a:buFont typeface="Arial"/>
              <a:buNone/>
              <a:defRPr sz="1400" b="1" i="0" u="none" strike="noStrike" cap="none">
                <a:solidFill>
                  <a:schemeClr val="dk1"/>
                </a:solidFill>
                <a:latin typeface="Arial"/>
                <a:ea typeface="Arial"/>
                <a:cs typeface="Arial"/>
              </a:defRPr>
            </a:lvl3pPr>
            <a:lvl4pPr marL="18288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4pPr>
            <a:lvl5pPr marL="22860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5pPr>
            <a:lvl6pPr marL="27432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6pPr>
            <a:lvl7pPr marL="32004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7pPr>
            <a:lvl8pPr marL="36576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8pPr>
            <a:lvl9pPr marL="41148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9pPr>
          </a:lstStyle>
          <a:p xmlns:a="http://schemas.openxmlformats.org/drawingml/2006/main"/>
        </p:txBody>
      </p:sp>
      <p:sp>
        <p:nvSpPr>
          <p:cNvPr id="82" name="Google Shape;82;p20">
            <a:extLst xmlns:a="http://schemas.openxmlformats.org/drawingml/2006/main">
              <a:ext uri="{FF2B5EF4-FFF2-40B4-BE49-F238E27FC236}">
                <a16:creationId xmlns:a16="http://schemas.microsoft.com/office/drawing/2014/main" id="{436EF8CB-ED81-4041-9BA5-427A0314FB6A}"/>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83" name="Google Shape;83;p20">
            <a:extLst xmlns:a="http://schemas.openxmlformats.org/drawingml/2006/main">
              <a:ext uri="{FF2B5EF4-FFF2-40B4-BE49-F238E27FC236}">
                <a16:creationId xmlns:a16="http://schemas.microsoft.com/office/drawing/2014/main" id="{392B325D-B1D0-4660-A6DD-71FD6C0BC537}"/>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marL="457200" marR="0" indent="-228600" algn="l">
              <a:lnSpc>
                <a:spcPct val="90000"/>
              </a:lnSpc>
              <a:spcBef>
                <a:spcPts val="800"/>
              </a:spcBef>
              <a:spcAft>
                <a:spcPts val="0"/>
              </a:spcAft>
              <a:buClr>
                <a:schemeClr val="dk1"/>
              </a:buClr>
              <a:buSzPts val="1800"/>
              <a:buFont typeface="Arial"/>
              <a:buNone/>
              <a:defRPr sz="1800" b="1">
                <a:solidFill>
                  <a:schemeClr val="dk1"/>
                </a:solidFill>
                <a:latin typeface="Arial"/>
                <a:ea typeface="Arial"/>
                <a:cs typeface="Arial"/>
              </a:defRPr>
            </a:lvl1pPr>
            <a:lvl2pPr marL="914400" marR="0" indent="-228600" algn="l">
              <a:lnSpc>
                <a:spcPct val="90000"/>
              </a:lnSpc>
              <a:spcBef>
                <a:spcPts val="400"/>
              </a:spcBef>
              <a:spcAft>
                <a:spcPts val="0"/>
              </a:spcAft>
              <a:buClr>
                <a:schemeClr val="dk1"/>
              </a:buClr>
              <a:buSzPts val="1500"/>
              <a:buFont typeface="Arial"/>
              <a:buNone/>
              <a:defRPr sz="1500" b="1" i="0" u="none" strike="noStrike" cap="none">
                <a:solidFill>
                  <a:schemeClr val="dk1"/>
                </a:solidFill>
                <a:latin typeface="Arial"/>
                <a:ea typeface="Arial"/>
                <a:cs typeface="Arial"/>
              </a:defRPr>
            </a:lvl2pPr>
            <a:lvl3pPr marL="1371600" marR="0" indent="-228600" algn="l">
              <a:lnSpc>
                <a:spcPct val="90000"/>
              </a:lnSpc>
              <a:spcBef>
                <a:spcPts val="400"/>
              </a:spcBef>
              <a:spcAft>
                <a:spcPts val="0"/>
              </a:spcAft>
              <a:buClr>
                <a:schemeClr val="dk1"/>
              </a:buClr>
              <a:buSzPts val="1400"/>
              <a:buFont typeface="Arial"/>
              <a:buNone/>
              <a:defRPr sz="1400" b="1" i="0" u="none" strike="noStrike" cap="none">
                <a:solidFill>
                  <a:schemeClr val="dk1"/>
                </a:solidFill>
                <a:latin typeface="Arial"/>
                <a:ea typeface="Arial"/>
                <a:cs typeface="Arial"/>
              </a:defRPr>
            </a:lvl3pPr>
            <a:lvl4pPr marL="18288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4pPr>
            <a:lvl5pPr marL="22860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5pPr>
            <a:lvl6pPr marL="27432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6pPr>
            <a:lvl7pPr marL="32004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7pPr>
            <a:lvl8pPr marL="36576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8pPr>
            <a:lvl9pPr marL="4114800" marR="0" indent="-228600" algn="l">
              <a:lnSpc>
                <a:spcPct val="90000"/>
              </a:lnSpc>
              <a:spcBef>
                <a:spcPts val="400"/>
              </a:spcBef>
              <a:spcAft>
                <a:spcPts val="0"/>
              </a:spcAft>
              <a:buClr>
                <a:schemeClr val="dk1"/>
              </a:buClr>
              <a:buSzPts val="1200"/>
              <a:buFont typeface="Arial"/>
              <a:buNone/>
              <a:defRPr sz="1200" b="1" i="0" u="none" strike="noStrike" cap="none">
                <a:solidFill>
                  <a:schemeClr val="dk1"/>
                </a:solidFill>
                <a:latin typeface="Arial"/>
                <a:ea typeface="Arial"/>
                <a:cs typeface="Arial"/>
              </a:defRPr>
            </a:lvl9pPr>
          </a:lstStyle>
          <a:p xmlns:a="http://schemas.openxmlformats.org/drawingml/2006/main"/>
        </p:txBody>
      </p:sp>
      <p:sp>
        <p:nvSpPr>
          <p:cNvPr id="84" name="Google Shape;84;p20">
            <a:extLst xmlns:a="http://schemas.openxmlformats.org/drawingml/2006/main">
              <a:ext uri="{FF2B5EF4-FFF2-40B4-BE49-F238E27FC236}">
                <a16:creationId xmlns:a16="http://schemas.microsoft.com/office/drawing/2014/main" id="{5EB5EEE4-981B-400F-A190-081579796088}"/>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85" name="Google Shape;85;p20">
            <a:extLst xmlns:a="http://schemas.openxmlformats.org/drawingml/2006/main">
              <a:ext uri="{FF2B5EF4-FFF2-40B4-BE49-F238E27FC236}">
                <a16:creationId xmlns:a16="http://schemas.microsoft.com/office/drawing/2014/main" id="{20ABD048-655B-409B-910C-367AC26C8B7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86" name="Google Shape;86;p20">
            <a:extLst xmlns:a="http://schemas.openxmlformats.org/drawingml/2006/main">
              <a:ext uri="{FF2B5EF4-FFF2-40B4-BE49-F238E27FC236}">
                <a16:creationId xmlns:a16="http://schemas.microsoft.com/office/drawing/2014/main" id="{83340FC8-259D-4403-9936-ACB24203D8E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87" name="Google Shape;87;p20">
            <a:extLst xmlns:a="http://schemas.openxmlformats.org/drawingml/2006/main">
              <a:ext uri="{FF2B5EF4-FFF2-40B4-BE49-F238E27FC236}">
                <a16:creationId xmlns:a16="http://schemas.microsoft.com/office/drawing/2014/main" id="{E4E535D3-B390-411E-86E1-E4EC75FF5AF5}"/>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9.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89" name="Google Shape;89;p21">
            <a:extLst xmlns:a="http://schemas.openxmlformats.org/drawingml/2006/main">
              <a:ext uri="{FF2B5EF4-FFF2-40B4-BE49-F238E27FC236}">
                <a16:creationId xmlns:a16="http://schemas.microsoft.com/office/drawing/2014/main" id="{1E3FAE3C-0DCA-4E0A-8772-29F463644DCC}"/>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90" name="Google Shape;90;p21">
            <a:extLst xmlns:a="http://schemas.openxmlformats.org/drawingml/2006/main">
              <a:ext uri="{FF2B5EF4-FFF2-40B4-BE49-F238E27FC236}">
                <a16:creationId xmlns:a16="http://schemas.microsoft.com/office/drawing/2014/main" id="{31E244B9-F663-405C-B345-4EEE5B54094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91" name="Google Shape;91;p21">
            <a:extLst xmlns:a="http://schemas.openxmlformats.org/drawingml/2006/main">
              <a:ext uri="{FF2B5EF4-FFF2-40B4-BE49-F238E27FC236}">
                <a16:creationId xmlns:a16="http://schemas.microsoft.com/office/drawing/2014/main" id="{4A8D3C30-DB7D-4A1D-9387-6E00F8A954E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92" name="Google Shape;92;p21">
            <a:extLst xmlns:a="http://schemas.openxmlformats.org/drawingml/2006/main">
              <a:ext uri="{FF2B5EF4-FFF2-40B4-BE49-F238E27FC236}">
                <a16:creationId xmlns:a16="http://schemas.microsoft.com/office/drawing/2014/main" id="{18847DE0-5114-4F40-B008-61190EB6EAEA}"/>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0.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94" name="Google Shape;94;p22">
            <a:extLst xmlns:a="http://schemas.openxmlformats.org/drawingml/2006/main">
              <a:ext uri="{FF2B5EF4-FFF2-40B4-BE49-F238E27FC236}">
                <a16:creationId xmlns:a16="http://schemas.microsoft.com/office/drawing/2014/main" id="{5420814F-7F5C-47B0-9FDC-C80BE6EC2ED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95" name="Google Shape;95;p22">
            <a:extLst xmlns:a="http://schemas.openxmlformats.org/drawingml/2006/main">
              <a:ext uri="{FF2B5EF4-FFF2-40B4-BE49-F238E27FC236}">
                <a16:creationId xmlns:a16="http://schemas.microsoft.com/office/drawing/2014/main" id="{BF80105E-F379-4189-B709-9FEBE15C67B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96" name="Google Shape;96;p22">
            <a:extLst xmlns:a="http://schemas.openxmlformats.org/drawingml/2006/main">
              <a:ext uri="{FF2B5EF4-FFF2-40B4-BE49-F238E27FC236}">
                <a16:creationId xmlns:a16="http://schemas.microsoft.com/office/drawing/2014/main" id="{42ADACB8-2D5D-4FC8-848C-8EA95AA1ECD5}"/>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1.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98" name="Google Shape;98;p23">
            <a:extLst xmlns:a="http://schemas.openxmlformats.org/drawingml/2006/main">
              <a:ext uri="{FF2B5EF4-FFF2-40B4-BE49-F238E27FC236}">
                <a16:creationId xmlns:a16="http://schemas.microsoft.com/office/drawing/2014/main" id="{3FC9C820-1A7F-41FF-B368-A7C22D16D007}"/>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marR="0" algn="l">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99" name="Google Shape;99;p23">
            <a:extLst xmlns:a="http://schemas.openxmlformats.org/drawingml/2006/main">
              <a:ext uri="{FF2B5EF4-FFF2-40B4-BE49-F238E27FC236}">
                <a16:creationId xmlns:a16="http://schemas.microsoft.com/office/drawing/2014/main" id="{0BE81DC0-CCA5-4C4D-9C9B-D955EF36B836}"/>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81000" algn="l">
              <a:lnSpc>
                <a:spcPct val="90000"/>
              </a:lnSpc>
              <a:spcBef>
                <a:spcPts val="800"/>
              </a:spcBef>
              <a:spcAft>
                <a:spcPts val="0"/>
              </a:spcAft>
              <a:buClr>
                <a:schemeClr val="dk1"/>
              </a:buClr>
              <a:buSzPts val="2400"/>
              <a:buFont typeface="Arial"/>
              <a:buChar char="•"/>
              <a:defRPr sz="2400">
                <a:solidFill>
                  <a:schemeClr val="dk1"/>
                </a:solidFill>
                <a:latin typeface="Arial"/>
                <a:ea typeface="Arial"/>
                <a:cs typeface="Arial"/>
              </a:defRPr>
            </a:lvl1pPr>
            <a:lvl2pPr marL="914400" marR="0" indent="-361950" algn="l">
              <a:lnSpc>
                <a:spcPct val="90000"/>
              </a:lnSpc>
              <a:spcBef>
                <a:spcPts val="4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3pPr>
            <a:lvl4pPr marL="18288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4pPr>
            <a:lvl5pPr marL="22860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5pPr>
            <a:lvl6pPr marL="27432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6pPr>
            <a:lvl7pPr marL="32004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7pPr>
            <a:lvl8pPr marL="3657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8pPr>
            <a:lvl9pPr marL="41148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9pPr>
          </a:lstStyle>
          <a:p xmlns:a="http://schemas.openxmlformats.org/drawingml/2006/main"/>
        </p:txBody>
      </p:sp>
      <p:sp>
        <p:nvSpPr>
          <p:cNvPr id="100" name="Google Shape;100;p23">
            <a:extLst xmlns:a="http://schemas.openxmlformats.org/drawingml/2006/main">
              <a:ext uri="{FF2B5EF4-FFF2-40B4-BE49-F238E27FC236}">
                <a16:creationId xmlns:a16="http://schemas.microsoft.com/office/drawing/2014/main" id="{69418B62-8F05-4B44-B766-918DBE0AE046}"/>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lnSpc>
                <a:spcPct val="90000"/>
              </a:lnSpc>
              <a:spcBef>
                <a:spcPts val="800"/>
              </a:spcBef>
              <a:spcAft>
                <a:spcPts val="0"/>
              </a:spcAft>
              <a:buClr>
                <a:schemeClr val="dk1"/>
              </a:buClr>
              <a:buSzPts val="1200"/>
              <a:buFont typeface="Arial"/>
              <a:buNone/>
              <a:defRPr sz="1200">
                <a:solidFill>
                  <a:schemeClr val="dk1"/>
                </a:solidFill>
                <a:latin typeface="Arial"/>
                <a:ea typeface="Arial"/>
                <a:cs typeface="Arial"/>
              </a:defRPr>
            </a:lvl1pPr>
            <a:lvl2pPr marL="914400" marR="0" indent="-228600" algn="l">
              <a:lnSpc>
                <a:spcPct val="90000"/>
              </a:lnSpc>
              <a:spcBef>
                <a:spcPts val="400"/>
              </a:spcBef>
              <a:spcAft>
                <a:spcPts val="0"/>
              </a:spcAft>
              <a:buClr>
                <a:schemeClr val="dk1"/>
              </a:buClr>
              <a:buSzPts val="1100"/>
              <a:buFont typeface="Arial"/>
              <a:buNone/>
              <a:defRPr sz="1100" b="0" i="0" u="none" strike="noStrike" cap="none">
                <a:solidFill>
                  <a:schemeClr val="dk1"/>
                </a:solidFill>
                <a:latin typeface="Arial"/>
                <a:ea typeface="Arial"/>
                <a:cs typeface="Arial"/>
              </a:defRPr>
            </a:lvl2pPr>
            <a:lvl3pPr marL="1371600" marR="0" indent="-228600" algn="l">
              <a:lnSpc>
                <a:spcPct val="90000"/>
              </a:lnSpc>
              <a:spcBef>
                <a:spcPts val="400"/>
              </a:spcBef>
              <a:spcAft>
                <a:spcPts val="0"/>
              </a:spcAft>
              <a:buClr>
                <a:schemeClr val="dk1"/>
              </a:buClr>
              <a:buSzPts val="900"/>
              <a:buFont typeface="Arial"/>
              <a:buNone/>
              <a:defRPr sz="900" b="0" i="0" u="none" strike="noStrike" cap="none">
                <a:solidFill>
                  <a:schemeClr val="dk1"/>
                </a:solidFill>
                <a:latin typeface="Arial"/>
                <a:ea typeface="Arial"/>
                <a:cs typeface="Arial"/>
              </a:defRPr>
            </a:lvl3pPr>
            <a:lvl4pPr marL="18288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4pPr>
            <a:lvl5pPr marL="22860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5pPr>
            <a:lvl6pPr marL="27432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6pPr>
            <a:lvl7pPr marL="32004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7pPr>
            <a:lvl8pPr marL="36576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8pPr>
            <a:lvl9pPr marL="41148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9pPr>
          </a:lstStyle>
          <a:p xmlns:a="http://schemas.openxmlformats.org/drawingml/2006/main"/>
        </p:txBody>
      </p:sp>
      <p:sp>
        <p:nvSpPr>
          <p:cNvPr id="101" name="Google Shape;101;p23">
            <a:extLst xmlns:a="http://schemas.openxmlformats.org/drawingml/2006/main">
              <a:ext uri="{FF2B5EF4-FFF2-40B4-BE49-F238E27FC236}">
                <a16:creationId xmlns:a16="http://schemas.microsoft.com/office/drawing/2014/main" id="{B5C7A1A9-AA84-4D9E-885E-34218927B8A1}"/>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02" name="Google Shape;102;p23">
            <a:extLst xmlns:a="http://schemas.openxmlformats.org/drawingml/2006/main">
              <a:ext uri="{FF2B5EF4-FFF2-40B4-BE49-F238E27FC236}">
                <a16:creationId xmlns:a16="http://schemas.microsoft.com/office/drawing/2014/main" id="{7A1BADF2-AE3D-4BA4-B6EA-458B6FB4AF8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03" name="Google Shape;103;p23">
            <a:extLst xmlns:a="http://schemas.openxmlformats.org/drawingml/2006/main">
              <a:ext uri="{FF2B5EF4-FFF2-40B4-BE49-F238E27FC236}">
                <a16:creationId xmlns:a16="http://schemas.microsoft.com/office/drawing/2014/main" id="{FE32592A-8B03-45D6-AC27-7C2297B8A8A8}"/>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105" name="Google Shape;105;p24">
            <a:extLst xmlns:a="http://schemas.openxmlformats.org/drawingml/2006/main">
              <a:ext uri="{FF2B5EF4-FFF2-40B4-BE49-F238E27FC236}">
                <a16:creationId xmlns:a16="http://schemas.microsoft.com/office/drawing/2014/main" id="{44CB57F1-4DB8-4004-8034-B99CD2835EC0}"/>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Autofit/>
          </a:bodyPr>
          <a:lstStyle xmlns:a="http://schemas.openxmlformats.org/drawingml/2006/main">
            <a:lvl1pPr marR="0" algn="l">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106" name="Google Shape;106;p24">
            <a:extLst xmlns:a="http://schemas.openxmlformats.org/drawingml/2006/main">
              <a:ext uri="{FF2B5EF4-FFF2-40B4-BE49-F238E27FC236}">
                <a16:creationId xmlns:a16="http://schemas.microsoft.com/office/drawing/2014/main" id="{D097AE5F-2CB9-4602-A602-8747060F2EE1}"/>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107" name="Google Shape;107;p24">
            <a:extLst xmlns:a="http://schemas.openxmlformats.org/drawingml/2006/main">
              <a:ext uri="{FF2B5EF4-FFF2-40B4-BE49-F238E27FC236}">
                <a16:creationId xmlns:a16="http://schemas.microsoft.com/office/drawing/2014/main" id="{18445018-8FA7-4DDC-856A-BB219DD479B8}"/>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228600" algn="l">
              <a:lnSpc>
                <a:spcPct val="90000"/>
              </a:lnSpc>
              <a:spcBef>
                <a:spcPts val="800"/>
              </a:spcBef>
              <a:spcAft>
                <a:spcPts val="0"/>
              </a:spcAft>
              <a:buClr>
                <a:schemeClr val="dk1"/>
              </a:buClr>
              <a:buSzPts val="1200"/>
              <a:buFont typeface="Arial"/>
              <a:buNone/>
              <a:defRPr sz="1200">
                <a:solidFill>
                  <a:schemeClr val="dk1"/>
                </a:solidFill>
                <a:latin typeface="Arial"/>
                <a:ea typeface="Arial"/>
                <a:cs typeface="Arial"/>
              </a:defRPr>
            </a:lvl1pPr>
            <a:lvl2pPr marL="914400" marR="0" indent="-228600" algn="l">
              <a:lnSpc>
                <a:spcPct val="90000"/>
              </a:lnSpc>
              <a:spcBef>
                <a:spcPts val="400"/>
              </a:spcBef>
              <a:spcAft>
                <a:spcPts val="0"/>
              </a:spcAft>
              <a:buClr>
                <a:schemeClr val="dk1"/>
              </a:buClr>
              <a:buSzPts val="1100"/>
              <a:buFont typeface="Arial"/>
              <a:buNone/>
              <a:defRPr sz="1100" b="0" i="0" u="none" strike="noStrike" cap="none">
                <a:solidFill>
                  <a:schemeClr val="dk1"/>
                </a:solidFill>
                <a:latin typeface="Arial"/>
                <a:ea typeface="Arial"/>
                <a:cs typeface="Arial"/>
              </a:defRPr>
            </a:lvl2pPr>
            <a:lvl3pPr marL="1371600" marR="0" indent="-228600" algn="l">
              <a:lnSpc>
                <a:spcPct val="90000"/>
              </a:lnSpc>
              <a:spcBef>
                <a:spcPts val="400"/>
              </a:spcBef>
              <a:spcAft>
                <a:spcPts val="0"/>
              </a:spcAft>
              <a:buClr>
                <a:schemeClr val="dk1"/>
              </a:buClr>
              <a:buSzPts val="900"/>
              <a:buFont typeface="Arial"/>
              <a:buNone/>
              <a:defRPr sz="900" b="0" i="0" u="none" strike="noStrike" cap="none">
                <a:solidFill>
                  <a:schemeClr val="dk1"/>
                </a:solidFill>
                <a:latin typeface="Arial"/>
                <a:ea typeface="Arial"/>
                <a:cs typeface="Arial"/>
              </a:defRPr>
            </a:lvl3pPr>
            <a:lvl4pPr marL="18288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4pPr>
            <a:lvl5pPr marL="22860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5pPr>
            <a:lvl6pPr marL="27432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6pPr>
            <a:lvl7pPr marL="32004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7pPr>
            <a:lvl8pPr marL="36576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8pPr>
            <a:lvl9pPr marL="4114800" marR="0" indent="-228600" algn="l">
              <a:lnSpc>
                <a:spcPct val="90000"/>
              </a:lnSpc>
              <a:spcBef>
                <a:spcPts val="400"/>
              </a:spcBef>
              <a:spcAft>
                <a:spcPts val="0"/>
              </a:spcAft>
              <a:buClr>
                <a:schemeClr val="dk1"/>
              </a:buClr>
              <a:buSzPts val="800"/>
              <a:buFont typeface="Arial"/>
              <a:buNone/>
              <a:defRPr sz="800" b="0" i="0" u="none" strike="noStrike" cap="none">
                <a:solidFill>
                  <a:schemeClr val="dk1"/>
                </a:solidFill>
                <a:latin typeface="Arial"/>
                <a:ea typeface="Arial"/>
                <a:cs typeface="Arial"/>
              </a:defRPr>
            </a:lvl9pPr>
          </a:lstStyle>
          <a:p xmlns:a="http://schemas.openxmlformats.org/drawingml/2006/main"/>
        </p:txBody>
      </p:sp>
      <p:sp>
        <p:nvSpPr>
          <p:cNvPr id="108" name="Google Shape;108;p24">
            <a:extLst xmlns:a="http://schemas.openxmlformats.org/drawingml/2006/main">
              <a:ext uri="{FF2B5EF4-FFF2-40B4-BE49-F238E27FC236}">
                <a16:creationId xmlns:a16="http://schemas.microsoft.com/office/drawing/2014/main" id="{F6985516-A6A2-48FD-A39F-F8786BEF66A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09" name="Google Shape;109;p24">
            <a:extLst xmlns:a="http://schemas.openxmlformats.org/drawingml/2006/main">
              <a:ext uri="{FF2B5EF4-FFF2-40B4-BE49-F238E27FC236}">
                <a16:creationId xmlns:a16="http://schemas.microsoft.com/office/drawing/2014/main" id="{2CE65290-A2C1-4B75-864D-C782B1C9F509}"/>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10" name="Google Shape;110;p24">
            <a:extLst xmlns:a="http://schemas.openxmlformats.org/drawingml/2006/main">
              <a:ext uri="{FF2B5EF4-FFF2-40B4-BE49-F238E27FC236}">
                <a16:creationId xmlns:a16="http://schemas.microsoft.com/office/drawing/2014/main" id="{0267D87A-87F8-44E6-A707-4EA9E06E0299}"/>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3.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12" name="Google Shape;112;p25">
            <a:extLst xmlns:a="http://schemas.openxmlformats.org/drawingml/2006/main">
              <a:ext uri="{FF2B5EF4-FFF2-40B4-BE49-F238E27FC236}">
                <a16:creationId xmlns:a16="http://schemas.microsoft.com/office/drawing/2014/main" id="{FD53A7CB-D614-4F2B-A176-015966513965}"/>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113" name="Google Shape;113;p25">
            <a:extLst xmlns:a="http://schemas.openxmlformats.org/drawingml/2006/main">
              <a:ext uri="{FF2B5EF4-FFF2-40B4-BE49-F238E27FC236}">
                <a16:creationId xmlns:a16="http://schemas.microsoft.com/office/drawing/2014/main" id="{D175B775-F12A-49DE-A586-D65403CE065E}"/>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114" name="Google Shape;114;p25">
            <a:extLst xmlns:a="http://schemas.openxmlformats.org/drawingml/2006/main">
              <a:ext uri="{FF2B5EF4-FFF2-40B4-BE49-F238E27FC236}">
                <a16:creationId xmlns:a16="http://schemas.microsoft.com/office/drawing/2014/main" id="{77EFF79F-0EE6-44D3-BACF-163ED160E41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15" name="Google Shape;115;p25">
            <a:extLst xmlns:a="http://schemas.openxmlformats.org/drawingml/2006/main">
              <a:ext uri="{FF2B5EF4-FFF2-40B4-BE49-F238E27FC236}">
                <a16:creationId xmlns:a16="http://schemas.microsoft.com/office/drawing/2014/main" id="{34CF115F-2A32-4DDB-8095-52086FF5445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16" name="Google Shape;116;p25">
            <a:extLst xmlns:a="http://schemas.openxmlformats.org/drawingml/2006/main">
              <a:ext uri="{FF2B5EF4-FFF2-40B4-BE49-F238E27FC236}">
                <a16:creationId xmlns:a16="http://schemas.microsoft.com/office/drawing/2014/main" id="{09F423A5-23EC-49C3-8B32-6F39D0DABBF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4.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118" name="Google Shape;118;p26">
            <a:extLst xmlns:a="http://schemas.openxmlformats.org/drawingml/2006/main">
              <a:ext uri="{FF2B5EF4-FFF2-40B4-BE49-F238E27FC236}">
                <a16:creationId xmlns:a16="http://schemas.microsoft.com/office/drawing/2014/main" id="{680A632C-8BEB-4B49-937C-E4EC4E1B0117}"/>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119" name="Google Shape;119;p26">
            <a:extLst xmlns:a="http://schemas.openxmlformats.org/drawingml/2006/main">
              <a:ext uri="{FF2B5EF4-FFF2-40B4-BE49-F238E27FC236}">
                <a16:creationId xmlns:a16="http://schemas.microsoft.com/office/drawing/2014/main" id="{D6A29EE5-5D4B-4599-8F8F-208FAEBB362C}"/>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120" name="Google Shape;120;p26">
            <a:extLst xmlns:a="http://schemas.openxmlformats.org/drawingml/2006/main">
              <a:ext uri="{FF2B5EF4-FFF2-40B4-BE49-F238E27FC236}">
                <a16:creationId xmlns:a16="http://schemas.microsoft.com/office/drawing/2014/main" id="{02A34C50-E6E9-461D-B867-968FCC2F712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21" name="Google Shape;121;p26">
            <a:extLst xmlns:a="http://schemas.openxmlformats.org/drawingml/2006/main">
              <a:ext uri="{FF2B5EF4-FFF2-40B4-BE49-F238E27FC236}">
                <a16:creationId xmlns:a16="http://schemas.microsoft.com/office/drawing/2014/main" id="{B50C7E3D-916C-4005-BDD8-980C0FEDFE91}"/>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Autofit/>
          </a:bodyPr>
          <a:lstStyle xmlns:a="http://schemas.openxmlformats.org/drawingml/2006/main">
            <a:lvl1pPr marR="0" algn="l">
              <a:spcBef>
                <a:spcPts val="0"/>
              </a:spcBef>
              <a:spcAft>
                <a:spcPts val="0"/>
              </a:spcAft>
              <a:buSzPts val="1100"/>
              <a:buNone/>
              <a:defRPr sz="1400">
                <a:solidFill>
                  <a:schemeClr val="dk1"/>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22" name="Google Shape;122;p26">
            <a:extLst xmlns:a="http://schemas.openxmlformats.org/drawingml/2006/main">
              <a:ext uri="{FF2B5EF4-FFF2-40B4-BE49-F238E27FC236}">
                <a16:creationId xmlns:a16="http://schemas.microsoft.com/office/drawing/2014/main" id="{0EEA5DD2-5F34-4202-9B46-3D6E1B9CE3C3}"/>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d4f306bcb442e3" /><Relationship Type="http://schemas.openxmlformats.org/officeDocument/2006/relationships/slideLayout" Target="/ppt/slideLayouts/slideLayout1.xml" Id="Rcdd43d42d10d4119" /><Relationship Type="http://schemas.openxmlformats.org/officeDocument/2006/relationships/slideLayout" Target="/ppt/slideLayouts/slideLayout2.xml" Id="R2b1b96237b0d475b" /><Relationship Type="http://schemas.openxmlformats.org/officeDocument/2006/relationships/slideLayout" Target="/ppt/slideLayouts/slideLayout3.xml" Id="Rab77e34bf4384bdc" /><Relationship Type="http://schemas.openxmlformats.org/officeDocument/2006/relationships/slideLayout" Target="/ppt/slideLayouts/slideLayout4.xml" Id="Rcac355b90434418f" /><Relationship Type="http://schemas.openxmlformats.org/officeDocument/2006/relationships/slideLayout" Target="/ppt/slideLayouts/slideLayout5.xml" Id="Rdea6e809e9e64598" /><Relationship Type="http://schemas.openxmlformats.org/officeDocument/2006/relationships/slideLayout" Target="/ppt/slideLayouts/slideLayout6.xml" Id="R831ef7ede5794c81" /><Relationship Type="http://schemas.openxmlformats.org/officeDocument/2006/relationships/slideLayout" Target="/ppt/slideLayouts/slideLayout7.xml" Id="R52f59d2bf80d42eb" /><Relationship Type="http://schemas.openxmlformats.org/officeDocument/2006/relationships/slideLayout" Target="/ppt/slideLayouts/slideLayout8.xml" Id="Re652ae883acc4b06" /><Relationship Type="http://schemas.openxmlformats.org/officeDocument/2006/relationships/slideLayout" Target="/ppt/slideLayouts/slideLayout9.xml" Id="Raf924333e76c4c7d" /><Relationship Type="http://schemas.openxmlformats.org/officeDocument/2006/relationships/slideLayout" Target="/ppt/slideLayouts/slideLayout10.xml" Id="R97233c9cfc7d4779" /><Relationship Type="http://schemas.openxmlformats.org/officeDocument/2006/relationships/slideLayout" Target="/ppt/slideLayouts/slideLayout11.xml" Id="R791714062c354058"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ce1d15c000248a9" /><Relationship Type="http://schemas.openxmlformats.org/officeDocument/2006/relationships/slideLayout" Target="/ppt/slideLayouts/slideLayout12.xml" Id="Rf0f1953ee4ad4bbc" /><Relationship Type="http://schemas.openxmlformats.org/officeDocument/2006/relationships/slideLayout" Target="/ppt/slideLayouts/slideLayout13.xml" Id="R75751a156f8748af" /><Relationship Type="http://schemas.openxmlformats.org/officeDocument/2006/relationships/slideLayout" Target="/ppt/slideLayouts/slideLayout14.xml" Id="Rc6ceca2ca0334c8f" /><Relationship Type="http://schemas.openxmlformats.org/officeDocument/2006/relationships/slideLayout" Target="/ppt/slideLayouts/slideLayout15.xml" Id="R0392a8e42fea4beb" /><Relationship Type="http://schemas.openxmlformats.org/officeDocument/2006/relationships/slideLayout" Target="/ppt/slideLayouts/slideLayout16.xml" Id="R08772becfe7a4f34" /><Relationship Type="http://schemas.openxmlformats.org/officeDocument/2006/relationships/slideLayout" Target="/ppt/slideLayouts/slideLayout17.xml" Id="R319440633c9046c9" /><Relationship Type="http://schemas.openxmlformats.org/officeDocument/2006/relationships/slideLayout" Target="/ppt/slideLayouts/slideLayout18.xml" Id="R60b95c5514d44b91" /><Relationship Type="http://schemas.openxmlformats.org/officeDocument/2006/relationships/slideLayout" Target="/ppt/slideLayouts/slideLayout19.xml" Id="R9602e62e2bbb48a3" /><Relationship Type="http://schemas.openxmlformats.org/officeDocument/2006/relationships/slideLayout" Target="/ppt/slideLayouts/slideLayout20.xml" Id="R5d391313be054088" /><Relationship Type="http://schemas.openxmlformats.org/officeDocument/2006/relationships/slideLayout" Target="/ppt/slideLayouts/slideLayout21.xml" Id="R36ce7ba3db8f485e" /><Relationship Type="http://schemas.openxmlformats.org/officeDocument/2006/relationships/slideLayout" Target="/ppt/slideLayouts/slideLayout22.xml" Id="Rc1a6c2efc9c14c41" /><Relationship Type="http://schemas.openxmlformats.org/officeDocument/2006/relationships/slideLayout" Target="/ppt/slideLayouts/slideLayout23.xml" Id="R168241b3f717497b" /><Relationship Type="http://schemas.openxmlformats.org/officeDocument/2006/relationships/slideLayout" Target="/ppt/slideLayouts/slideLayout24.xml" Id="R41a9d4a3c130447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34041DF-8017-451C-B921-D00AD241B67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2F1954F-178E-451D-AF98-4B07146D39B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95B956E-C79B-4D69-AF73-9FAEAFFCB66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dd43d42d10d4119"/>
    <p:sldLayoutId xmlns:r="http://schemas.openxmlformats.org/officeDocument/2006/relationships" id="2147483650" r:id="R2b1b96237b0d475b"/>
    <p:sldLayoutId xmlns:r="http://schemas.openxmlformats.org/officeDocument/2006/relationships" id="2147483651" r:id="Rab77e34bf4384bdc"/>
    <p:sldLayoutId xmlns:r="http://schemas.openxmlformats.org/officeDocument/2006/relationships" id="2147483652" r:id="Rcac355b90434418f"/>
    <p:sldLayoutId xmlns:r="http://schemas.openxmlformats.org/officeDocument/2006/relationships" id="2147483653" r:id="Rdea6e809e9e64598"/>
    <p:sldLayoutId xmlns:r="http://schemas.openxmlformats.org/officeDocument/2006/relationships" id="2147483654" r:id="R831ef7ede5794c81"/>
    <p:sldLayoutId xmlns:r="http://schemas.openxmlformats.org/officeDocument/2006/relationships" id="2147483655" r:id="R52f59d2bf80d42eb"/>
    <p:sldLayoutId xmlns:r="http://schemas.openxmlformats.org/officeDocument/2006/relationships" id="2147483656" r:id="Re652ae883acc4b06"/>
    <p:sldLayoutId xmlns:r="http://schemas.openxmlformats.org/officeDocument/2006/relationships" id="2147483657" r:id="Raf924333e76c4c7d"/>
    <p:sldLayoutId xmlns:r="http://schemas.openxmlformats.org/officeDocument/2006/relationships" id="2147483658" r:id="R97233c9cfc7d4779"/>
    <p:sldLayoutId xmlns:r="http://schemas.openxmlformats.org/officeDocument/2006/relationships" id="2147483659" r:id="R791714062c35405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040AB574-6E2C-42AA-9AB9-78483AB4C644}"/>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1200" b="0" i="0" u="none" strike="noStrike" cap="none">
                <a:solidFill>
                  <a:srgbClr val="1C7DDB"/>
                </a:solidFill>
                <a:latin typeface="Arial"/>
                <a:ea typeface="Arial"/>
                <a:cs typeface="Arial"/>
              </a:defRPr>
            </a:lvl1pPr>
            <a:lvl2pPr marL="0" marR="0" indent="0" algn="r">
              <a:spcBef>
                <a:spcPts val="0"/>
              </a:spcBef>
              <a:buNone/>
              <a:defRPr sz="1200" b="0" i="0" u="none" strike="noStrike" cap="none">
                <a:solidFill>
                  <a:srgbClr val="1C7DDB"/>
                </a:solidFill>
                <a:latin typeface="Arial"/>
                <a:ea typeface="Arial"/>
                <a:cs typeface="Arial"/>
              </a:defRPr>
            </a:lvl2pPr>
            <a:lvl3pPr marL="0" marR="0" indent="0" algn="r">
              <a:spcBef>
                <a:spcPts val="0"/>
              </a:spcBef>
              <a:buNone/>
              <a:defRPr sz="1200" b="0" i="0" u="none" strike="noStrike" cap="none">
                <a:solidFill>
                  <a:srgbClr val="1C7DDB"/>
                </a:solidFill>
                <a:latin typeface="Arial"/>
                <a:ea typeface="Arial"/>
                <a:cs typeface="Arial"/>
              </a:defRPr>
            </a:lvl3pPr>
            <a:lvl4pPr marL="0" marR="0" indent="0" algn="r">
              <a:spcBef>
                <a:spcPts val="0"/>
              </a:spcBef>
              <a:buNone/>
              <a:defRPr sz="1200" b="0" i="0" u="none" strike="noStrike" cap="none">
                <a:solidFill>
                  <a:srgbClr val="1C7DDB"/>
                </a:solidFill>
                <a:latin typeface="Arial"/>
                <a:ea typeface="Arial"/>
                <a:cs typeface="Arial"/>
              </a:defRPr>
            </a:lvl4pPr>
            <a:lvl5pPr marL="0" marR="0" indent="0" algn="r">
              <a:spcBef>
                <a:spcPts val="0"/>
              </a:spcBef>
              <a:buNone/>
              <a:defRPr sz="1200" b="0" i="0" u="none" strike="noStrike" cap="none">
                <a:solidFill>
                  <a:srgbClr val="1C7DDB"/>
                </a:solidFill>
                <a:latin typeface="Arial"/>
                <a:ea typeface="Arial"/>
                <a:cs typeface="Arial"/>
              </a:defRPr>
            </a:lvl5pPr>
            <a:lvl6pPr marL="0" marR="0" indent="0" algn="r">
              <a:spcBef>
                <a:spcPts val="0"/>
              </a:spcBef>
              <a:buNone/>
              <a:defRPr sz="1200" b="0" i="0" u="none" strike="noStrike" cap="none">
                <a:solidFill>
                  <a:srgbClr val="1C7DDB"/>
                </a:solidFill>
                <a:latin typeface="Arial"/>
                <a:ea typeface="Arial"/>
                <a:cs typeface="Arial"/>
              </a:defRPr>
            </a:lvl6pPr>
            <a:lvl7pPr marL="0" marR="0" indent="0" algn="r">
              <a:spcBef>
                <a:spcPts val="0"/>
              </a:spcBef>
              <a:buNone/>
              <a:defRPr sz="1200" b="0" i="0" u="none" strike="noStrike" cap="none">
                <a:solidFill>
                  <a:srgbClr val="1C7DDB"/>
                </a:solidFill>
                <a:latin typeface="Arial"/>
                <a:ea typeface="Arial"/>
                <a:cs typeface="Arial"/>
              </a:defRPr>
            </a:lvl7pPr>
            <a:lvl8pPr marL="0" marR="0" indent="0" algn="r">
              <a:spcBef>
                <a:spcPts val="0"/>
              </a:spcBef>
              <a:buNone/>
              <a:defRPr sz="1200" b="0" i="0" u="none" strike="noStrike" cap="none">
                <a:solidFill>
                  <a:srgbClr val="1C7DDB"/>
                </a:solidFill>
                <a:latin typeface="Arial"/>
                <a:ea typeface="Arial"/>
                <a:cs typeface="Arial"/>
              </a:defRPr>
            </a:lvl8pPr>
            <a:lvl9pPr marL="0" marR="0" indent="0" algn="r">
              <a:spcBef>
                <a:spcPts val="0"/>
              </a:spcBef>
              <a:buNone/>
              <a:defRPr sz="1200" b="0" i="0" u="none" strike="noStrike" cap="none">
                <a:solidFill>
                  <a:srgbClr val="1C7DDB"/>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f0f1953ee4ad4bbc"/>
    <p:sldLayoutId xmlns:r="http://schemas.openxmlformats.org/officeDocument/2006/relationships" id="2147483662" r:id="R75751a156f8748af"/>
    <p:sldLayoutId xmlns:r="http://schemas.openxmlformats.org/officeDocument/2006/relationships" id="2147483663" r:id="Rc6ceca2ca0334c8f"/>
    <p:sldLayoutId xmlns:r="http://schemas.openxmlformats.org/officeDocument/2006/relationships" id="2147483664" r:id="R0392a8e42fea4beb"/>
    <p:sldLayoutId xmlns:r="http://schemas.openxmlformats.org/officeDocument/2006/relationships" id="2147483665" r:id="R08772becfe7a4f34"/>
    <p:sldLayoutId xmlns:r="http://schemas.openxmlformats.org/officeDocument/2006/relationships" id="2147483666" r:id="R319440633c9046c9"/>
    <p:sldLayoutId xmlns:r="http://schemas.openxmlformats.org/officeDocument/2006/relationships" id="2147483667" r:id="R60b95c5514d44b91"/>
    <p:sldLayoutId xmlns:r="http://schemas.openxmlformats.org/officeDocument/2006/relationships" id="2147483668" r:id="R9602e62e2bbb48a3"/>
    <p:sldLayoutId xmlns:r="http://schemas.openxmlformats.org/officeDocument/2006/relationships" id="2147483669" r:id="R5d391313be054088"/>
    <p:sldLayoutId xmlns:r="http://schemas.openxmlformats.org/officeDocument/2006/relationships" id="2147483670" r:id="R36ce7ba3db8f485e"/>
    <p:sldLayoutId xmlns:r="http://schemas.openxmlformats.org/officeDocument/2006/relationships" id="2147483671" r:id="Rc1a6c2efc9c14c41"/>
    <p:sldLayoutId xmlns:r="http://schemas.openxmlformats.org/officeDocument/2006/relationships" id="2147483672" r:id="R168241b3f717497b"/>
    <p:sldLayoutId xmlns:r="http://schemas.openxmlformats.org/officeDocument/2006/relationships" id="2147483673" r:id="R41a9d4a3c130447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4f52e4f7f74b4832" /><Relationship Type="http://schemas.openxmlformats.org/officeDocument/2006/relationships/image" Target="/ppt/media/image.jpeg" Id="R7b96f6bd672346b9" /><Relationship Type="http://schemas.openxmlformats.org/officeDocument/2006/relationships/image" Target="/ppt/media/image.png" Id="Rc1720c2fff0d4417" /><Relationship Type="http://schemas.openxmlformats.org/officeDocument/2006/relationships/notesSlide" Target="/ppt/notesSlides/notesSlide1.xml" Id="R46237d93c39f42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565d844bd7ec4fc4" /><Relationship Type="http://schemas.openxmlformats.org/officeDocument/2006/relationships/image" Target="/ppt/media/image2.png" Id="R004553f7572e407e" /><Relationship Type="http://schemas.openxmlformats.org/officeDocument/2006/relationships/notesSlide" Target="/ppt/notesSlides/notesSlide2.xml" Id="Rcee89d803e2f4b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15f52197442e46d2" /><Relationship Type="http://schemas.openxmlformats.org/officeDocument/2006/relationships/image" Target="/ppt/media/image2.png" Id="Re83bca3995d24030" /><Relationship Type="http://schemas.openxmlformats.org/officeDocument/2006/relationships/notesSlide" Target="/ppt/notesSlides/notesSlide3.xml" Id="Re7f54977a8fc48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06a0e1ea496d40b7" /><Relationship Type="http://schemas.openxmlformats.org/officeDocument/2006/relationships/image" Target="/ppt/media/image2.png" Id="R8d2f71a6174c4fd1" /><Relationship Type="http://schemas.openxmlformats.org/officeDocument/2006/relationships/hyperlink" Target="https://github.com/elvenj/elvenj-ibm-data-science-professional-certificate" TargetMode="External" Id="R3884aa3d2929482a" /><Relationship Type="http://schemas.openxmlformats.org/officeDocument/2006/relationships/notesSlide" Target="/ppt/notesSlides/notesSlide4.xml" Id="R8bfd7c7a5e2849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4.xml" Id="Rada6034cd6704d61" /><Relationship Type="http://schemas.openxmlformats.org/officeDocument/2006/relationships/image" Target="/ppt/media/image2.jpeg" Id="R3091a6094cf94e5d" /><Relationship Type="http://schemas.openxmlformats.org/officeDocument/2006/relationships/notesSlide" Target="/ppt/notesSlides/notesSlide5.xml" Id="R7292aac30a9540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0830603e5fbe4ddf" /><Relationship Type="http://schemas.openxmlformats.org/officeDocument/2006/relationships/image" Target="/ppt/media/image2.png" Id="R52a4bc81fe9244da" /><Relationship Type="http://schemas.openxmlformats.org/officeDocument/2006/relationships/notesSlide" Target="/ppt/notesSlides/notesSlide6.xml" Id="R881307250ad946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3.xml" Id="Ra6e0c8b2acad4a41" /><Relationship Type="http://schemas.openxmlformats.org/officeDocument/2006/relationships/image" Target="/ppt/media/image2.png" Id="R73b0ac94a1d14ed6" /><Relationship Type="http://schemas.openxmlformats.org/officeDocument/2006/relationships/notesSlide" Target="/ppt/notesSlides/notesSlide7.xml" Id="R796338272a244d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3.xml" Id="R17a5ad9d307044c5" /><Relationship Type="http://schemas.openxmlformats.org/officeDocument/2006/relationships/image" Target="/ppt/media/image2.png" Id="R26bcb80380494d9c" /><Relationship Type="http://schemas.openxmlformats.org/officeDocument/2006/relationships/hyperlink" Target="https://github.com/elvenj/elvenj-ibm-data-science-professional-certificate/blob/main/applied-data-science-capstone/notebooks/jupyter-labs-spacex-data-collection-api.ipynb" TargetMode="External" Id="Rfae6e54ad4e64df6" /><Relationship Type="http://schemas.openxmlformats.org/officeDocument/2006/relationships/notesSlide" Target="/ppt/notesSlides/notesSlide8.xml" Id="R249de40aed6748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3.xml" Id="R23931fc8d6e7404c" /><Relationship Type="http://schemas.openxmlformats.org/officeDocument/2006/relationships/image" Target="/ppt/media/image2.png" Id="R2635fc9e290240fb" /><Relationship Type="http://schemas.openxmlformats.org/officeDocument/2006/relationships/hyperlink" Target="https://github.com/elvenj/elvenj-ibm-data-science-professional-certificate/blob/main/applied-data-science-capstone/notebooks/jupyter-labs-webscraping.ipynb" TargetMode="External" Id="Rc9c4e90037e44930" /><Relationship Type="http://schemas.openxmlformats.org/officeDocument/2006/relationships/notesSlide" Target="/ppt/notesSlides/notesSlide9.xml" Id="R4cba73f870d943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1734ada8aa6f42f2" /><Relationship Type="http://schemas.openxmlformats.org/officeDocument/2006/relationships/image" Target="/ppt/media/image2.png" Id="R5861bfd083694a78" /><Relationship Type="http://schemas.openxmlformats.org/officeDocument/2006/relationships/hyperlink" Target="https://github.com/elvenj/elvenj-ibm-data-science-professional-certificate/blob/main/applied-data-science-capstone/notebooks/labs-jupyter-spacex-Data%20wrangling.ipynb" TargetMode="External" Id="R32220d0873634781" /><Relationship Type="http://schemas.openxmlformats.org/officeDocument/2006/relationships/notesSlide" Target="/ppt/notesSlides/notesSlide10.xml" Id="R4f9cb6c04fce42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3.xml" Id="R11eff4a5201c4def" /><Relationship Type="http://schemas.openxmlformats.org/officeDocument/2006/relationships/image" Target="/ppt/media/image2.png" Id="Rf3ab0ad8b83140ac" /><Relationship Type="http://schemas.openxmlformats.org/officeDocument/2006/relationships/hyperlink" Target="https://github.com/elvenj/elvenj-ibm-data-science-professional-certificate/blob/main/applied-data-science-capstone/notebooks/edadataviz.ipynb" TargetMode="External" Id="R64dba018b6db47b8" /><Relationship Type="http://schemas.openxmlformats.org/officeDocument/2006/relationships/notesSlide" Target="/ppt/notesSlides/notesSlide11.xml" Id="R75ee432e2b484c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3.xml" Id="R611ea48d0795444f" /><Relationship Type="http://schemas.openxmlformats.org/officeDocument/2006/relationships/image" Target="/ppt/media/image2.png" Id="R3e0c859c50064c7a" /><Relationship Type="http://schemas.openxmlformats.org/officeDocument/2006/relationships/hyperlink" Target="https://github.com/elvenj/elvenj-ibm-data-science-professional-certificate/blob/main/applied-data-science-capstone/notebooks/jupyter-labs-eda-sql-coursera_sqllite.ipynb" TargetMode="External" Id="R68150d73954b4348" /><Relationship Type="http://schemas.openxmlformats.org/officeDocument/2006/relationships/notesSlide" Target="/ppt/notesSlides/notesSlide12.xml" Id="R7b73a36085d242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3.xml" Id="R480f0fa941e6496b" /><Relationship Type="http://schemas.openxmlformats.org/officeDocument/2006/relationships/image" Target="/ppt/media/image2.png" Id="Reba86f5b7eac42b0" /><Relationship Type="http://schemas.openxmlformats.org/officeDocument/2006/relationships/hyperlink" Target="https://github.com/elvenj/elvenj-ibm-data-science-professional-certificate/blob/main/applied-data-science-capstone/notebooks/lab_jupyter_launch_site_location.ipynb" TargetMode="External" Id="Re101811dec5345ae" /><Relationship Type="http://schemas.openxmlformats.org/officeDocument/2006/relationships/notesSlide" Target="/ppt/notesSlides/notesSlide13.xml" Id="R20f5af4b0ac646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3.xml" Id="Rb5b7cabe8ce74ecd" /><Relationship Type="http://schemas.openxmlformats.org/officeDocument/2006/relationships/image" Target="/ppt/media/image2.png" Id="R94cda0fa609e4dfc" /><Relationship Type="http://schemas.openxmlformats.org/officeDocument/2006/relationships/hyperlink" Target="https://github.com/elvenj/elvenj-ibm-data-science-professional-certificate/blob/main/applied-data-science-capstone/dashboard/spacex-dash-app.py" TargetMode="External" Id="R48f14e0cc7af4050" /><Relationship Type="http://schemas.openxmlformats.org/officeDocument/2006/relationships/notesSlide" Target="/ppt/notesSlides/notesSlide14.xml" Id="R6463f8cc9be946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3.xml" Id="Ra5fabf0807e548f7" /><Relationship Type="http://schemas.openxmlformats.org/officeDocument/2006/relationships/image" Target="/ppt/media/image2.png" Id="Rd6b2f7b1b3a24dc0" /><Relationship Type="http://schemas.openxmlformats.org/officeDocument/2006/relationships/hyperlink" Target="https://github.com/elvenj/elvenj-ibm-data-science-professional-certificate/blob/main/applied-data-science-capstone/notebooks/SpaceX_Machine%20Learning%20Prediction_Part_5.ipynb" TargetMode="External" Id="R6e80fd3d75f14e80" /><Relationship Type="http://schemas.openxmlformats.org/officeDocument/2006/relationships/notesSlide" Target="/ppt/notesSlides/notesSlide15.xml" Id="Rcf6fc829ae4940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3.xml" Id="Rabbfbf501aaf480b" /><Relationship Type="http://schemas.openxmlformats.org/officeDocument/2006/relationships/image" Target="/ppt/media/image2.png" Id="Rad8f4f4c17e24be2" /><Relationship Type="http://schemas.openxmlformats.org/officeDocument/2006/relationships/notesSlide" Target="/ppt/notesSlides/notesSlide16.xml" Id="Rc4f660e69b6a4b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3.xml" Id="R8d1dc51259854cd9" /><Relationship Type="http://schemas.openxmlformats.org/officeDocument/2006/relationships/image" Target="/ppt/media/image3.png" Id="R1fbea18114fc4197" /><Relationship Type="http://schemas.openxmlformats.org/officeDocument/2006/relationships/notesSlide" Target="/ppt/notesSlides/notesSlide17.xml" Id="R67794965787445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3.xml" Id="R8b68027224514ccf" /><Relationship Type="http://schemas.openxmlformats.org/officeDocument/2006/relationships/image" Target="/ppt/media/image2.png" Id="Ra05ac5f13e9d4264" /><Relationship Type="http://schemas.openxmlformats.org/officeDocument/2006/relationships/image" Target="/ppt/media/image4.png" Id="R486076f8ed4d4d5c" /><Relationship Type="http://schemas.openxmlformats.org/officeDocument/2006/relationships/notesSlide" Target="/ppt/notesSlides/notesSlide18.xml" Id="R1efc13d08c0e48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3.xml" Id="R196f964d8ff04799" /><Relationship Type="http://schemas.openxmlformats.org/officeDocument/2006/relationships/image" Target="/ppt/media/image2.png" Id="R51147f8ebdf04f15" /><Relationship Type="http://schemas.openxmlformats.org/officeDocument/2006/relationships/image" Target="/ppt/media/image5.png" Id="R56986f8f2c2d43b8" /><Relationship Type="http://schemas.openxmlformats.org/officeDocument/2006/relationships/notesSlide" Target="/ppt/notesSlides/notesSlide19.xml" Id="R2d1d3847316743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3.xml" Id="Re0d91ecdafe84051" /><Relationship Type="http://schemas.openxmlformats.org/officeDocument/2006/relationships/image" Target="/ppt/media/image2.png" Id="R559f37abcfe14aee" /><Relationship Type="http://schemas.openxmlformats.org/officeDocument/2006/relationships/chart" Target="/ppt/slides/charts/chart1.xml" Id="Rc72f9e8b7802472f" /><Relationship Type="http://schemas.openxmlformats.org/officeDocument/2006/relationships/notesSlide" Target="/ppt/notesSlides/notesSlide20.xml" Id="Rfb2d21d7791943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3.xml" Id="Rfcec5aab19684eea" /><Relationship Type="http://schemas.openxmlformats.org/officeDocument/2006/relationships/image" Target="/ppt/media/image2.png" Id="R6c67a6dbefb84717" /><Relationship Type="http://schemas.openxmlformats.org/officeDocument/2006/relationships/image" Target="/ppt/media/image6.png" Id="Re5535b977c2941a6" /><Relationship Type="http://schemas.openxmlformats.org/officeDocument/2006/relationships/notesSlide" Target="/ppt/notesSlides/notesSlide21.xml" Id="Ree9f4d30a0a444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3.xml" Id="R26d113ed7eea4215" /><Relationship Type="http://schemas.openxmlformats.org/officeDocument/2006/relationships/image" Target="/ppt/media/image2.png" Id="R37beb4fe92c847e4" /><Relationship Type="http://schemas.openxmlformats.org/officeDocument/2006/relationships/image" Target="/ppt/media/image7.png" Id="R5bc0a6e27b9d4464" /><Relationship Type="http://schemas.openxmlformats.org/officeDocument/2006/relationships/notesSlide" Target="/ppt/notesSlides/notesSlide22.xml" Id="R32af96487731487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3.xml" Id="Rdf99ed68fcb44c0e" /><Relationship Type="http://schemas.openxmlformats.org/officeDocument/2006/relationships/image" Target="/ppt/media/image2.png" Id="R46ce0e852d644ff9" /><Relationship Type="http://schemas.openxmlformats.org/officeDocument/2006/relationships/chart" Target="/ppt/slides/charts/chart2.xml" Id="R6c45fc3c1aa34897" /><Relationship Type="http://schemas.openxmlformats.org/officeDocument/2006/relationships/notesSlide" Target="/ppt/notesSlides/notesSlide23.xml" Id="R7724b7783f9d4ba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3.xml" Id="R4600e9c4a26a4288" /><Relationship Type="http://schemas.openxmlformats.org/officeDocument/2006/relationships/image" Target="/ppt/media/image2.png" Id="Rf6df82b4b5f34c6a" /><Relationship Type="http://schemas.openxmlformats.org/officeDocument/2006/relationships/notesSlide" Target="/ppt/notesSlides/notesSlide24.xml" Id="R33e3b1e310a04a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3.xml" Id="R4abd02fe8ac843e9" /><Relationship Type="http://schemas.openxmlformats.org/officeDocument/2006/relationships/image" Target="/ppt/media/image2.png" Id="Re9b0aa9313924b57" /><Relationship Type="http://schemas.openxmlformats.org/officeDocument/2006/relationships/notesSlide" Target="/ppt/notesSlides/notesSlide25.xml" Id="R1fa855e42ca7494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3.xml" Id="R28186ee52ad04022" /><Relationship Type="http://schemas.openxmlformats.org/officeDocument/2006/relationships/image" Target="/ppt/media/image2.png" Id="R48210c44a9e44c8e" /><Relationship Type="http://schemas.openxmlformats.org/officeDocument/2006/relationships/notesSlide" Target="/ppt/notesSlides/notesSlide26.xml" Id="Rbb7e5b3b5f5a4a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3.xml" Id="R54308f4e860441ec" /><Relationship Type="http://schemas.openxmlformats.org/officeDocument/2006/relationships/image" Target="/ppt/media/image2.png" Id="R1d5684e9e530477a" /><Relationship Type="http://schemas.openxmlformats.org/officeDocument/2006/relationships/notesSlide" Target="/ppt/notesSlides/notesSlide27.xml" Id="R5aaab627b9c144c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3.xml" Id="R10e29b8d3bc447d2" /><Relationship Type="http://schemas.openxmlformats.org/officeDocument/2006/relationships/image" Target="/ppt/media/image2.png" Id="R05e2226148294dc7" /><Relationship Type="http://schemas.openxmlformats.org/officeDocument/2006/relationships/notesSlide" Target="/ppt/notesSlides/notesSlide28.xml" Id="Re876c74288a2490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3.xml" Id="Rb0e063239c494571" /><Relationship Type="http://schemas.openxmlformats.org/officeDocument/2006/relationships/image" Target="/ppt/media/image2.png" Id="R2a6b11dbc91a454f" /><Relationship Type="http://schemas.openxmlformats.org/officeDocument/2006/relationships/notesSlide" Target="/ppt/notesSlides/notesSlide29.xml" Id="R05c922d868f44bd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3.xml" Id="R2aed72deb26c455d" /><Relationship Type="http://schemas.openxmlformats.org/officeDocument/2006/relationships/image" Target="/ppt/media/image2.png" Id="Rcb5b4f3e14924f92" /><Relationship Type="http://schemas.openxmlformats.org/officeDocument/2006/relationships/notesSlide" Target="/ppt/notesSlides/notesSlide30.xml" Id="R706e5564f54a4d6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3.xml" Id="R3d87bbe70d6b4ef1" /><Relationship Type="http://schemas.openxmlformats.org/officeDocument/2006/relationships/image" Target="/ppt/media/image2.png" Id="R22e7688a4c9f4ae2" /><Relationship Type="http://schemas.openxmlformats.org/officeDocument/2006/relationships/notesSlide" Target="/ppt/notesSlides/notesSlide31.xml" Id="R806d2a01a6334ba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3.xml" Id="Reaa62e937c9b4253" /><Relationship Type="http://schemas.openxmlformats.org/officeDocument/2006/relationships/image" Target="/ppt/media/image2.png" Id="Rc30160f024eb41c1" /><Relationship Type="http://schemas.openxmlformats.org/officeDocument/2006/relationships/notesSlide" Target="/ppt/notesSlides/notesSlide32.xml" Id="R87e01b47ca2c45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3.xml" Id="Rfff7883fdcfb4393" /><Relationship Type="http://schemas.openxmlformats.org/officeDocument/2006/relationships/image" Target="/ppt/media/image2.png" Id="Rd2dce5d6d5134832" /><Relationship Type="http://schemas.openxmlformats.org/officeDocument/2006/relationships/notesSlide" Target="/ppt/notesSlides/notesSlide33.xml" Id="Red9015d304d44e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3.xml" Id="Rcad9cbd445fc475a" /><Relationship Type="http://schemas.openxmlformats.org/officeDocument/2006/relationships/image" Target="/ppt/media/image8.png" Id="R13bf9728f9604b62" /><Relationship Type="http://schemas.openxmlformats.org/officeDocument/2006/relationships/notesSlide" Target="/ppt/notesSlides/notesSlide34.xml" Id="R8b69391b8b634e1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3.xml" Id="R2f1d5930d3f94f71" /><Relationship Type="http://schemas.openxmlformats.org/officeDocument/2006/relationships/image" Target="/ppt/media/image2.png" Id="Ree43d2fade164ef1" /><Relationship Type="http://schemas.openxmlformats.org/officeDocument/2006/relationships/image" Target="/ppt/media/image9.png" Id="R34582557b0094cc7" /><Relationship Type="http://schemas.openxmlformats.org/officeDocument/2006/relationships/notesSlide" Target="/ppt/notesSlides/notesSlide35.xml" Id="Rc3b8593a40a34df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3.xml" Id="R2420f5c39f5a4599" /><Relationship Type="http://schemas.openxmlformats.org/officeDocument/2006/relationships/image" Target="/ppt/media/image2.png" Id="Rb3b5205b255e42c8" /><Relationship Type="http://schemas.openxmlformats.org/officeDocument/2006/relationships/image" Target="/ppt/media/image10.png" Id="R35c06b9b456d4c74" /><Relationship Type="http://schemas.openxmlformats.org/officeDocument/2006/relationships/notesSlide" Target="/ppt/notesSlides/notesSlide36.xml" Id="R4de32c812349487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3.xml" Id="R96acfa2dfea94916" /><Relationship Type="http://schemas.openxmlformats.org/officeDocument/2006/relationships/image" Target="/ppt/media/image2.png" Id="R0c7fb4dcd41c45bf" /><Relationship Type="http://schemas.openxmlformats.org/officeDocument/2006/relationships/image" Target="/ppt/media/image11.png" Id="R7c867cab573147c8" /><Relationship Type="http://schemas.openxmlformats.org/officeDocument/2006/relationships/notesSlide" Target="/ppt/notesSlides/notesSlide37.xml" Id="Redfc6bb901a34a9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3.xml" Id="R48cbfb384ede4a36" /><Relationship Type="http://schemas.openxmlformats.org/officeDocument/2006/relationships/image" Target="/ppt/media/image3.jpeg" Id="R3fa433438ed74eab" /><Relationship Type="http://schemas.openxmlformats.org/officeDocument/2006/relationships/notesSlide" Target="/ppt/notesSlides/notesSlide38.xml" Id="R657e43257b37430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3.xml" Id="Rf658e86f10f840ca" /><Relationship Type="http://schemas.openxmlformats.org/officeDocument/2006/relationships/image" Target="/ppt/media/image2.png" Id="R9fb92ecb1f1147ec" /><Relationship Type="http://schemas.openxmlformats.org/officeDocument/2006/relationships/image" Target="/ppt/media/image12.png" Id="R532465b9f9a146f6" /><Relationship Type="http://schemas.openxmlformats.org/officeDocument/2006/relationships/notesSlide" Target="/ppt/notesSlides/notesSlide39.xml" Id="R05871428b00c43c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3.xml" Id="R2c9ee64232854934" /><Relationship Type="http://schemas.openxmlformats.org/officeDocument/2006/relationships/image" Target="/ppt/media/image2.png" Id="R52fc9c46c7d04a48" /><Relationship Type="http://schemas.openxmlformats.org/officeDocument/2006/relationships/image" Target="/ppt/media/image13.png" Id="R808cd3ead6bc4a36" /><Relationship Type="http://schemas.openxmlformats.org/officeDocument/2006/relationships/notesSlide" Target="/ppt/notesSlides/notesSlide40.xml" Id="R5ec88fa3c2ee4ab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3.xml" Id="R8b0aa3f658074b3e" /><Relationship Type="http://schemas.openxmlformats.org/officeDocument/2006/relationships/image" Target="/ppt/media/image2.png" Id="Rce4053039fe349a6" /><Relationship Type="http://schemas.openxmlformats.org/officeDocument/2006/relationships/image" Target="/ppt/media/image14.png" Id="R111c04710bf74061" /><Relationship Type="http://schemas.openxmlformats.org/officeDocument/2006/relationships/image" Target="/ppt/media/image15.png" Id="R826266ab66bb4ec0" /><Relationship Type="http://schemas.openxmlformats.org/officeDocument/2006/relationships/notesSlide" Target="/ppt/notesSlides/notesSlide41.xml" Id="R3a1c907d983f44d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3.xml" Id="R92493680eb334035" /><Relationship Type="http://schemas.openxmlformats.org/officeDocument/2006/relationships/image" Target="/ppt/media/image4.jpeg" Id="R4923622c2f314211" /><Relationship Type="http://schemas.openxmlformats.org/officeDocument/2006/relationships/notesSlide" Target="/ppt/notesSlides/notesSlide42.xml" Id="Rcad0a6292483483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3.xml" Id="Rb361b75d11fa4540" /><Relationship Type="http://schemas.openxmlformats.org/officeDocument/2006/relationships/image" Target="/ppt/media/image2.png" Id="R62b54067efb54cc4" /><Relationship Type="http://schemas.openxmlformats.org/officeDocument/2006/relationships/chart" Target="/ppt/slides/charts/chart3.xml" Id="Rce9e430354104acd" /><Relationship Type="http://schemas.openxmlformats.org/officeDocument/2006/relationships/notesSlide" Target="/ppt/notesSlides/notesSlide43.xml" Id="R2de9a93753364f2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3.xml" Id="R9d47b5cfa7ae4805" /><Relationship Type="http://schemas.openxmlformats.org/officeDocument/2006/relationships/image" Target="/ppt/media/image2.png" Id="R9ae85479ae474e6d" /><Relationship Type="http://schemas.openxmlformats.org/officeDocument/2006/relationships/notesSlide" Target="/ppt/notesSlides/notesSlide44.xml" Id="Re62355ff420e41f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3.xml" Id="R75b50eb9ee274509" /><Relationship Type="http://schemas.openxmlformats.org/officeDocument/2006/relationships/image" Target="/ppt/media/image2.png" Id="R46145ded8fc740cf" /><Relationship Type="http://schemas.openxmlformats.org/officeDocument/2006/relationships/notesSlide" Target="/ppt/notesSlides/notesSlide45.xml" Id="R96ee02d93dd2440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3.xml" Id="R829cbceb88414f36" /><Relationship Type="http://schemas.openxmlformats.org/officeDocument/2006/relationships/image" Target="/ppt/media/image2.png" Id="Rc34aa7cb155d44c9" /><Relationship Type="http://schemas.openxmlformats.org/officeDocument/2006/relationships/hyperlink" Target="https://github.com/elvenj/elvenj-ibm-data-science-professional-certificate" TargetMode="External" Id="R17b672fe5ca74755" /><Relationship Type="http://schemas.openxmlformats.org/officeDocument/2006/relationships/notesSlide" Target="/ppt/notesSlides/notesSlide46.xml" Id="Raf04780b596347f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5.xml" Id="Rf3b9851cf3cd4b56" /><Relationship Type="http://schemas.openxmlformats.org/officeDocument/2006/relationships/image" Target="/ppt/media/image5.jpeg" Id="R555615bf43cf48f2" /><Relationship Type="http://schemas.openxmlformats.org/officeDocument/2006/relationships/hyperlink" Target="https://github.com/elvenj/elvenj-ibm-data-science-professional-certificate" TargetMode="External" Id="R3789eb58afcc4a5b" /><Relationship Type="http://schemas.openxmlformats.org/officeDocument/2006/relationships/notesSlide" Target="/ppt/notesSlides/notesSlide47.xml" Id="R8a05477a0c89434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Observed success rate</c:v>
          </c:tx>
          <c:spPr>
            <a:solidFill xmlns:a="http://schemas.openxmlformats.org/drawingml/2006/main">
              <a:srgbClr val="0B49CB"/>
            </a:solidFill>
          </c:spPr>
          <c:cat>
            <c:strRef>
              <c:f>'Chart Data'!$A$2:$A$12</c:f>
              <c:strCache>
                <c:ptCount val="11"/>
                <c:pt idx="0">
                  <c:v>ES-L1 (n=1)</c:v>
                </c:pt>
                <c:pt idx="1">
                  <c:v>GEO (n=1)</c:v>
                </c:pt>
                <c:pt idx="2">
                  <c:v>GTO (n=27)</c:v>
                </c:pt>
                <c:pt idx="3">
                  <c:v>HEO (n=1)</c:v>
                </c:pt>
                <c:pt idx="4">
                  <c:v>ISS (n=21)</c:v>
                </c:pt>
                <c:pt idx="5">
                  <c:v>LEO (n=7)</c:v>
                </c:pt>
                <c:pt idx="6">
                  <c:v>MEO (n=3)</c:v>
                </c:pt>
                <c:pt idx="7">
                  <c:v>PO (n=9)</c:v>
                </c:pt>
                <c:pt idx="8">
                  <c:v>SO (n=1)</c:v>
                </c:pt>
                <c:pt idx="9">
                  <c:v>SSO (n=5)</c:v>
                </c:pt>
                <c:pt idx="10">
                  <c:v>VLEO (n=14)</c:v>
                </c:pt>
              </c:strCache>
            </c:strRef>
          </c:cat>
          <c:val>
            <c:numRef>
              <c:f>'Chart Data'!$B$2:$B$12</c:f>
              <c:numCache>
                <c:formatCode>0%</c:formatCode>
                <c:ptCount val="11"/>
                <c:pt idx="0">
                  <c:v>1</c:v>
                </c:pt>
                <c:pt idx="1">
                  <c:v>1</c:v>
                </c:pt>
                <c:pt idx="2">
                  <c:v>0.518518518518518</c:v>
                </c:pt>
                <c:pt idx="3">
                  <c:v>1</c:v>
                </c:pt>
                <c:pt idx="4">
                  <c:v>0.619047619047619</c:v>
                </c:pt>
                <c:pt idx="5">
                  <c:v>0.714285714285714</c:v>
                </c:pt>
                <c:pt idx="6">
                  <c:v>0.666666666666667</c:v>
                </c:pt>
                <c:pt idx="7">
                  <c:v>0.666666666666667</c:v>
                </c:pt>
                <c:pt idx="8">
                  <c:v>0</c:v>
                </c:pt>
                <c:pt idx="9">
                  <c:v>1</c:v>
                </c:pt>
                <c:pt idx="10">
                  <c:v>0.857142857142857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majorGridlines>
          <c:spPr>
            <a:ln xmlns:a="http://schemas.openxmlformats.org/drawingml/2006/main" w="5715">
              <a:solidFill>
                <a:srgbClr val="CFD8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crossAx val="48672768"/>
      </c:catAx>
      <c:valAx>
        <c:axId val="48672768"/>
        <c:scaling>
          <c:orientation val="minMax"/>
          <c:max val="1.2"/>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crossAx val="48650112"/>
        <c:crossBetween val="between"/>
        <c:majorUnit val="0.2"/>
      </c:valAx>
      <c:spPr>
        <a:solidFill xmlns:a="http://schemas.openxmlformats.org/drawingml/2006/main">
          <a:srgbClr val="F2F4F8"/>
        </a:solidFill>
      </c:spPr>
    </c:plotArea>
    <c:plotVisOnly val="1"/>
  </c:chart>
  <c:spPr>
    <a:solidFill xmlns:a="http://schemas.openxmlformats.org/drawingml/2006/main">
      <a:srgbClr val="F2F4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Annual success rate</c:v>
          </c:tx>
          <c:spPr>
            <a:ln xmlns:a="http://schemas.openxmlformats.org/drawingml/2006/main" w="23813">
              <a:solidFill>
                <a:srgbClr val="0B49CB"/>
              </a:solidFill>
            </a:ln>
          </c:spPr>
          <c:marker>
            <c:symbol val="circle"/>
            <c:size val="6"/>
            <c:spPr>
              <a:solidFill xmlns:a="http://schemas.openxmlformats.org/drawingml/2006/main">
                <a:srgbClr val="0B49CB"/>
              </a:solidFill>
            </c:spPr>
          </c:marker>
          <c:cat>
            <c:numRef>
              <c:f>'Chart Data'!$A$2:$A$11</c:f>
              <c:numCache>
                <c:formatCode>General</c:formatCode>
                <c:ptCount val="10"/>
                <c:pt idx="0">
                  <c:v>2010</c:v>
                </c:pt>
                <c:pt idx="1">
                  <c:v>2012</c:v>
                </c:pt>
                <c:pt idx="2">
                  <c:v>2013</c:v>
                </c:pt>
                <c:pt idx="3">
                  <c:v>2014</c:v>
                </c:pt>
                <c:pt idx="4">
                  <c:v>2015</c:v>
                </c:pt>
                <c:pt idx="5">
                  <c:v>2016</c:v>
                </c:pt>
                <c:pt idx="6">
                  <c:v>2017</c:v>
                </c:pt>
                <c:pt idx="7">
                  <c:v>2018</c:v>
                </c:pt>
                <c:pt idx="8">
                  <c:v>2019</c:v>
                </c:pt>
                <c:pt idx="9">
                  <c:v>2020</c:v>
                </c:pt>
              </c:numCache>
            </c:numRef>
          </c:cat>
          <c:val>
            <c:numRef>
              <c:f>'Chart Data'!$B$2:$B$11</c:f>
              <c:numCache>
                <c:formatCode>0%</c:formatCode>
                <c:ptCount val="10"/>
                <c:pt idx="0">
                  <c:v>0</c:v>
                </c:pt>
                <c:pt idx="1">
                  <c:v>0</c:v>
                </c:pt>
                <c:pt idx="2">
                  <c:v>0</c:v>
                </c:pt>
                <c:pt idx="3">
                  <c:v>0.333333333333333</c:v>
                </c:pt>
                <c:pt idx="4">
                  <c:v>0.333333333333333</c:v>
                </c:pt>
                <c:pt idx="5">
                  <c:v>0.625</c:v>
                </c:pt>
                <c:pt idx="6">
                  <c:v>0.833333333333333</c:v>
                </c:pt>
                <c:pt idx="7">
                  <c:v>0.611111111111111</c:v>
                </c:pt>
                <c:pt idx="8">
                  <c:v>0.9</c:v>
                </c:pt>
                <c:pt idx="9">
                  <c:v>0.842105263157895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CFD8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crossAx val="48650112"/>
        <c:crossBetween val="between"/>
        <c:majorUnit val="0.2"/>
      </c:valAx>
      <c:spPr>
        <a:solidFill xmlns:a="http://schemas.openxmlformats.org/drawingml/2006/main">
          <a:srgbClr val="F2F4F8"/>
        </a:solidFill>
      </c:spPr>
    </c:plotArea>
    <c:plotVisOnly val="1"/>
  </c:chart>
  <c:spPr>
    <a:solidFill xmlns:a="http://schemas.openxmlformats.org/drawingml/2006/main">
      <a:srgbClr val="F2F4F8"/>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10-fold CV</c:v>
          </c:tx>
          <c:spPr>
            <a:solidFill xmlns:a="http://schemas.openxmlformats.org/drawingml/2006/main">
              <a:srgbClr val="0B49CB"/>
            </a:solidFill>
          </c:spPr>
          <c:dLbls>
            <c:numFmt formatCode="0.0%" sourceLinked="0"/>
            <c:txPr>
              <a:bodyPr xmlns:a="http://schemas.openxmlformats.org/drawingml/2006/main" anchorCtr="1"/>
              <a:lstStyle xmlns:a="http://schemas.openxmlformats.org/drawingml/2006/main"/>
              <a:p xmlns:a="http://schemas.openxmlformats.org/drawingml/2006/main">
                <a:pPr>
                  <a:defRPr sz="1125">
                    <a:solidFill>
                      <a:srgbClr val="292929"/>
                    </a:solidFill>
                  </a:defRPr>
                </a:pPr>
              </a:p>
            </c:txPr>
            <c:dLblPos val="outEnd"/>
            <c:showLegendKey val="0"/>
            <c:showVal val="1"/>
            <c:showCatName val="0"/>
            <c:showSerName val="0"/>
            <c:showPercent val="0"/>
            <c:showBubbleSize val="0"/>
            <c:showLeaderLines val="0"/>
          </c:dLbls>
          <c:cat>
            <c:strRef>
              <c:f>'Chart Data'!$A$2:$A$5</c:f>
              <c:strCache>
                <c:ptCount val="4"/>
                <c:pt idx="0">
                  <c:v>Logistic
reg.</c:v>
                </c:pt>
                <c:pt idx="1">
                  <c:v>SVM</c:v>
                </c:pt>
                <c:pt idx="2">
                  <c:v>Decision
Tree</c:v>
                </c:pt>
                <c:pt idx="3">
                  <c:v>KNN</c:v>
                </c:pt>
              </c:strCache>
            </c:strRef>
          </c:cat>
          <c:val>
            <c:numRef>
              <c:f>'Chart Data'!$B$2:$B$5</c:f>
              <c:numCache>
                <c:formatCode>0%</c:formatCode>
                <c:ptCount val="4"/>
                <c:pt idx="0">
                  <c:v>0.846428571428571</c:v>
                </c:pt>
                <c:pt idx="1">
                  <c:v>0.848214285714286</c:v>
                </c:pt>
                <c:pt idx="2">
                  <c:v>0.8768</c:v>
                </c:pt>
                <c:pt idx="3">
                  <c:v>0.848214285714286</c:v>
                </c:pt>
              </c:numCache>
            </c:numRef>
          </c:val>
        </c:ser>
        <c:ser>
          <c:idx val="1"/>
          <c:order val="1"/>
          <c:tx>
            <c:v>Test</c:v>
          </c:tx>
          <c:spPr>
            <a:solidFill xmlns:a="http://schemas.openxmlformats.org/drawingml/2006/main">
              <a:srgbClr val="79A5E3"/>
            </a:solidFill>
          </c:spPr>
          <c:dLbls>
            <c:showLegendKey val="0"/>
            <c:showVal val="0"/>
            <c:showCatName val="0"/>
            <c:showSerName val="0"/>
            <c:showPercent val="0"/>
            <c:showBubbleSize val="0"/>
            <c:showLeaderLines val="0"/>
          </c:dLbls>
          <c:cat>
            <c:strRef>
              <c:f>'Chart Data'!$C$2:$C$5</c:f>
              <c:strCache>
                <c:ptCount val="4"/>
                <c:pt idx="0">
                  <c:v>Logistic
reg.</c:v>
                </c:pt>
                <c:pt idx="1">
                  <c:v>SVM</c:v>
                </c:pt>
                <c:pt idx="2">
                  <c:v>Decision
Tree</c:v>
                </c:pt>
                <c:pt idx="3">
                  <c:v>KNN</c:v>
                </c:pt>
              </c:strCache>
            </c:strRef>
          </c:cat>
          <c:val>
            <c:numRef>
              <c:f>'Chart Data'!$D$2:$D$5</c:f>
              <c:numCache>
                <c:formatCode>0%</c:formatCode>
                <c:ptCount val="4"/>
                <c:pt idx="0">
                  <c:v>0.833333333333333</c:v>
                </c:pt>
                <c:pt idx="1">
                  <c:v>0.833333333333333</c:v>
                </c:pt>
                <c:pt idx="2">
                  <c:v>0.833333333333333</c:v>
                </c:pt>
                <c:pt idx="3">
                  <c:v>0.833333333333333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292929"/>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5715">
              <a:solidFill>
                <a:srgbClr val="CFD8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92929"/>
                </a:solidFill>
                <a:latin typeface="Arial"/>
                <a:ea typeface="Arial"/>
                <a:cs typeface="Arial"/>
              </a:defRPr>
            </a:pPr>
          </a:p>
        </c:txPr>
        <c:crossAx val="48650112"/>
        <c:crossBetween val="between"/>
        <c:majorUnit val="0.2"/>
      </c:valAx>
      <c:spPr>
        <a:solidFill xmlns:a="http://schemas.openxmlformats.org/drawingml/2006/main">
          <a:srgbClr val="F2F4F8"/>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92929"/>
              </a:solidFill>
              <a:latin typeface="Arial"/>
              <a:ea typeface="Arial"/>
              <a:cs typeface="Arial"/>
            </a:defRPr>
          </a:pPr>
        </a:p>
      </c:txPr>
    </c:legend>
    <c:plotVisOnly val="1"/>
  </c:chart>
  <c:spPr>
    <a:solidFill xmlns:a="http://schemas.openxmlformats.org/drawingml/2006/main">
      <a:srgbClr val="F2F4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7b96f6bd672346b9">
            <a:alphaModFix/>
          </a:blip>
          <a:stretch>
            <a:fillRect l="0" t="0" r="0" b="0"/>
          </a:stretch>
        </a:blipFill>
      </p:bgPr>
    </p:bg>
    <p:spTree>
      <p:nvGrpSpPr>
        <p:cNvPr id="1" name=""/>
        <p:cNvGrpSpPr/>
        <p:nvPr/>
      </p:nvGrpSpPr>
      <p:grpSpPr>
        <a:xfrm xmlns:a="http://schemas.openxmlformats.org/drawingml/2006/main"/>
      </p:grpSpPr>
      <p:sp>
        <p:nvSpPr>
          <p:cNvPr id="127" name="Google Shape;127;p27">
            <a:extLst xmlns:a="http://schemas.openxmlformats.org/drawingml/2006/main">
              <a:ext uri="{FF2B5EF4-FFF2-40B4-BE49-F238E27FC236}">
                <a16:creationId xmlns:a16="http://schemas.microsoft.com/office/drawing/2014/main" id="{EB8CDCF1-7F10-4854-99FD-82CDC9BB793A}"/>
              </a:ext>
            </a:extLst>
          </p:cNvPr>
          <p:cNvSpPr>
            <a:spLocks xmlns:a="http://schemas.openxmlformats.org/drawingml/2006/main" noGrp="1"/>
          </p:cNvSpPr>
          <p:nvPr/>
        </p:nvSpPr>
        <p:spPr>
          <a:xfrm xmlns:a="http://schemas.openxmlformats.org/drawingml/2006/main">
            <a:off x="666400" y="3426550"/>
            <a:ext cx="4572300" cy="68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lvl="0" indent="0" algn="l">
              <a:lnSpc>
                <a:spcPct val="115000"/>
              </a:lnSpc>
              <a:spcBef>
                <a:spcPts val="1200"/>
              </a:spcBef>
              <a:spcAft>
                <a:spcPts val="0"/>
              </a:spcAft>
              <a:buClr>
                <a:schemeClr val="dk1"/>
              </a:buClr>
              <a:buSzPts val="1100"/>
              <a:buFont typeface="Arial"/>
              <a:buNone/>
            </a:pPr>
            <a:r>
              <a:rPr>
                <a:solidFill>
                  <a:schemeClr val="lt2"/>
                </a:solidFill>
              </a:rPr>
              <a:t>Elven Jr. | IBM Data</a:t>
            </a:r>
            <a:r>
              <a:rPr>
                <a:solidFill>
                  <a:schemeClr val="lt2"/>
                </a:solidFill>
              </a:rPr>
              <a:t> </a:t>
            </a:r>
            <a:r>
              <a:rPr>
                <a:solidFill>
                  <a:schemeClr val="lt2"/>
                </a:solidFill>
              </a:rPr>
              <a:t>Science Capstone | October 2026</a:t>
            </a:r>
            <a:endParaRPr>
              <a:solidFill>
                <a:schemeClr val="lt2"/>
              </a:solidFill>
            </a:endParaRPr>
          </a:p>
          <a:p xmlns:a="http://schemas.openxmlformats.org/drawingml/2006/main">
            <a:pPr marL="0" marR="0" lvl="0" indent="0" algn="l">
              <a:spcBef>
                <a:spcPts val="1200"/>
              </a:spcBef>
              <a:spcAft>
                <a:spcPts val="0"/>
              </a:spcAft>
              <a:buNone/>
            </a:pPr>
            <a:r>
              <a:t/>
            </a:r>
            <a:endParaRPr>
              <a:solidFill>
                <a:schemeClr val="lt2"/>
              </a:solidFill>
            </a:endParaRPr>
          </a:p>
        </p:txBody>
      </p:sp>
      <p:pic>
        <p:nvPicPr>
          <p:cNvPr id="128" name="Google Shape;128;p27">
            <a:extLst xmlns:a="http://schemas.openxmlformats.org/drawingml/2006/main">
              <a:ext uri="{FF2B5EF4-FFF2-40B4-BE49-F238E27FC236}">
                <a16:creationId xmlns:a16="http://schemas.microsoft.com/office/drawing/2014/main" id="{0EFB299B-60F0-49A1-8387-497AC6BE2D3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720c2fff0d4417">
            <a:alphaModFix/>
          </a:blip>
          <a:srcRect xmlns:a="http://schemas.openxmlformats.org/drawingml/2006/main" l="0" t="0" r="0" b="0"/>
          <a:stretch xmlns:a="http://schemas.openxmlformats.org/drawingml/2006/main"/>
        </p:blipFill>
        <p:spPr>
          <a:xfrm xmlns:a="http://schemas.openxmlformats.org/drawingml/2006/main">
            <a:off x="667365" y="507621"/>
            <a:ext cx="1578077" cy="471887"/>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942613324"/>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004553f7572e407e">
            <a:alphaModFix/>
          </a:blip>
          <a:stretch>
            <a:fillRect l="0" t="0" r="0" b="0"/>
          </a:stretch>
        </a:blipFill>
      </p:bgPr>
    </p:bg>
    <p:spTree>
      <p:nvGrpSpPr>
        <p:cNvPr id="1" name=""/>
        <p:cNvGrpSpPr/>
        <p:nvPr/>
      </p:nvGrpSpPr>
      <p:grpSpPr>
        <a:xfrm xmlns:a="http://schemas.openxmlformats.org/drawingml/2006/main"/>
      </p:grpSpPr>
      <p:sp>
        <p:nvSpPr>
          <p:cNvPr id="134" name="Google Shape;134;p28">
            <a:extLst xmlns:a="http://schemas.openxmlformats.org/drawingml/2006/main">
              <a:ext uri="{FF2B5EF4-FFF2-40B4-BE49-F238E27FC236}">
                <a16:creationId xmlns:a16="http://schemas.microsoft.com/office/drawing/2014/main" id="{90B231EC-C467-4855-BB8B-96DB6F0EB1C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fontScale="100000"/>
          </a:bodyPr>
          <a:lstStyle xmlns:a="http://schemas.openxmlformats.org/drawingml/2006/main"/>
          <a:p xmlns:a="http://schemas.openxmlformats.org/drawingml/2006/main">
            <a:pPr marL="0" lvl="0" indent="0" algn="r">
              <a:spcBef>
                <a:spcPts val="0"/>
              </a:spcBef>
              <a:spcAft>
                <a:spcPts val="0"/>
              </a:spcAft>
              <a:buNone/>
            </a:pPr>
            <a:fld id="{E2598689-54C9-18A7-3A19-ED76AA08988F}" type="slidenum">
              <a:t>2</a:t>
            </a:fld>
            <a:endParaRPr/>
          </a:p>
        </p:txBody>
      </p:sp>
      <p:sp>
        <p:nvSpPr>
          <p:cNvPr id="135" name="Google Shape;135;p28">
            <a:extLst xmlns:a="http://schemas.openxmlformats.org/drawingml/2006/main">
              <a:ext uri="{FF2B5EF4-FFF2-40B4-BE49-F238E27FC236}">
                <a16:creationId xmlns:a16="http://schemas.microsoft.com/office/drawing/2014/main" id="{7232FF5B-2A69-4627-9B64-4E6664BDBF35}"/>
              </a:ext>
            </a:extLst>
          </p:cNvPr>
          <p:cNvSpPr>
            <a:spLocks xmlns:a="http://schemas.openxmlformats.org/drawingml/2006/main" noGrp="1"/>
          </p:cNvSpPr>
          <p:nvPr/>
        </p:nvSpPr>
        <p:spPr>
          <a:xfrm xmlns:a="http://schemas.openxmlformats.org/drawingml/2006/main">
            <a:off x="719023" y="1584930"/>
            <a:ext cx="3875315" cy="24906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p xmlns:a="http://schemas.openxmlformats.org/drawingml/2006/main">
            <a:pPr marL="177800" marR="0" lvl="0" indent="-184150" algn="l">
              <a:lnSpc>
                <a:spcPct val="100000"/>
              </a:lnSpc>
              <a:spcBef>
                <a:spcPts val="0"/>
              </a:spcBef>
              <a:spcAft>
                <a:spcPts val="0"/>
              </a:spcAft>
              <a:buClr>
                <a:srgbClr val="292929"/>
              </a:buClr>
              <a:buSzPts val="1700"/>
              <a:buFont typeface="Arial"/>
              <a:buChar char="•"/>
            </a:pPr>
            <a:r>
              <a:rPr sz="1700">
                <a:solidFill>
                  <a:srgbClr val="292929"/>
                </a:solidFill>
                <a:latin typeface="Arial"/>
                <a:ea typeface="Arial"/>
                <a:cs typeface="Arial"/>
              </a:rPr>
              <a:t>Executive Summary</a:t>
            </a:r>
            <a:endParaRPr sz="1100"/>
          </a:p>
          <a:p xmlns:a="http://schemas.openxmlformats.org/drawingml/2006/main">
            <a:pPr marL="177800" marR="0" lvl="0" indent="-184150" algn="l">
              <a:lnSpc>
                <a:spcPct val="100000"/>
              </a:lnSpc>
              <a:spcBef>
                <a:spcPts val="1100"/>
              </a:spcBef>
              <a:spcAft>
                <a:spcPts val="0"/>
              </a:spcAft>
              <a:buClr>
                <a:srgbClr val="292929"/>
              </a:buClr>
              <a:buSzPts val="1700"/>
              <a:buFont typeface="Arial"/>
              <a:buChar char="•"/>
            </a:pPr>
            <a:r>
              <a:rPr sz="1700">
                <a:solidFill>
                  <a:srgbClr val="292929"/>
                </a:solidFill>
                <a:latin typeface="Arial"/>
                <a:ea typeface="Arial"/>
                <a:cs typeface="Arial"/>
              </a:rPr>
              <a:t>Introduction</a:t>
            </a:r>
            <a:endParaRPr sz="1100"/>
          </a:p>
          <a:p xmlns:a="http://schemas.openxmlformats.org/drawingml/2006/main">
            <a:pPr marL="177800" marR="0" lvl="0" indent="-184150" algn="l">
              <a:lnSpc>
                <a:spcPct val="100000"/>
              </a:lnSpc>
              <a:spcBef>
                <a:spcPts val="1100"/>
              </a:spcBef>
              <a:spcAft>
                <a:spcPts val="0"/>
              </a:spcAft>
              <a:buClr>
                <a:srgbClr val="292929"/>
              </a:buClr>
              <a:buSzPts val="1700"/>
              <a:buFont typeface="Arial"/>
              <a:buChar char="•"/>
            </a:pPr>
            <a:r>
              <a:rPr sz="1700">
                <a:solidFill>
                  <a:srgbClr val="292929"/>
                </a:solidFill>
                <a:latin typeface="Arial"/>
                <a:ea typeface="Arial"/>
                <a:cs typeface="Arial"/>
              </a:rPr>
              <a:t>Methodology</a:t>
            </a:r>
            <a:endParaRPr sz="1100"/>
          </a:p>
          <a:p xmlns:a="http://schemas.openxmlformats.org/drawingml/2006/main">
            <a:pPr marL="177800" marR="0" lvl="0" indent="-184150" algn="l">
              <a:lnSpc>
                <a:spcPct val="100000"/>
              </a:lnSpc>
              <a:spcBef>
                <a:spcPts val="1100"/>
              </a:spcBef>
              <a:spcAft>
                <a:spcPts val="0"/>
              </a:spcAft>
              <a:buClr>
                <a:srgbClr val="292929"/>
              </a:buClr>
              <a:buSzPts val="1700"/>
              <a:buFont typeface="Arial"/>
              <a:buChar char="•"/>
            </a:pPr>
            <a:r>
              <a:rPr sz="1700">
                <a:solidFill>
                  <a:srgbClr val="292929"/>
                </a:solidFill>
                <a:latin typeface="Arial"/>
                <a:ea typeface="Arial"/>
                <a:cs typeface="Arial"/>
              </a:rPr>
              <a:t>Results</a:t>
            </a:r>
            <a:endParaRPr sz="1100"/>
          </a:p>
          <a:p xmlns:a="http://schemas.openxmlformats.org/drawingml/2006/main">
            <a:pPr marL="177800" marR="0" lvl="0" indent="-184150" algn="l">
              <a:lnSpc>
                <a:spcPct val="100000"/>
              </a:lnSpc>
              <a:spcBef>
                <a:spcPts val="1100"/>
              </a:spcBef>
              <a:spcAft>
                <a:spcPts val="0"/>
              </a:spcAft>
              <a:buClr>
                <a:srgbClr val="292929"/>
              </a:buClr>
              <a:buSzPts val="1700"/>
              <a:buFont typeface="Arial"/>
              <a:buChar char="•"/>
            </a:pPr>
            <a:r>
              <a:rPr sz="1700">
                <a:solidFill>
                  <a:srgbClr val="292929"/>
                </a:solidFill>
                <a:latin typeface="Arial"/>
                <a:ea typeface="Arial"/>
                <a:cs typeface="Arial"/>
              </a:rPr>
              <a:t>Conclusion</a:t>
            </a:r>
            <a:endParaRPr sz="1100"/>
          </a:p>
          <a:p xmlns:a="http://schemas.openxmlformats.org/drawingml/2006/main">
            <a:pPr marL="177800" marR="0" lvl="0" indent="-184150" algn="l">
              <a:lnSpc>
                <a:spcPct val="100000"/>
              </a:lnSpc>
              <a:spcBef>
                <a:spcPts val="1100"/>
              </a:spcBef>
              <a:spcAft>
                <a:spcPts val="0"/>
              </a:spcAft>
              <a:buClr>
                <a:srgbClr val="292929"/>
              </a:buClr>
              <a:buSzPts val="1700"/>
              <a:buFont typeface="Arial"/>
              <a:buChar char="•"/>
            </a:pPr>
            <a:r>
              <a:rPr sz="1700">
                <a:solidFill>
                  <a:srgbClr val="292929"/>
                </a:solidFill>
                <a:latin typeface="Arial"/>
                <a:ea typeface="Arial"/>
                <a:cs typeface="Arial"/>
              </a:rPr>
              <a:t>Appendix</a:t>
            </a:r>
            <a:endParaRPr sz="1100"/>
          </a:p>
        </p:txBody>
      </p:sp>
      <p:sp>
        <p:nvSpPr>
          <p:cNvPr id="136" name="Google Shape;136;p28">
            <a:extLst xmlns:a="http://schemas.openxmlformats.org/drawingml/2006/main">
              <a:ext uri="{FF2B5EF4-FFF2-40B4-BE49-F238E27FC236}">
                <a16:creationId xmlns:a16="http://schemas.microsoft.com/office/drawing/2014/main" id="{1D308391-2969-47DD-A82E-E2648EC4B2B6}"/>
              </a:ext>
            </a:extLst>
          </p:cNvPr>
          <p:cNvSpPr>
            <a:spLocks xmlns:a="http://schemas.openxmlformats.org/drawingml/2006/main" noGrp="1"/>
          </p:cNvSpPr>
          <p:nvPr/>
        </p:nvSpPr>
        <p:spPr>
          <a:xfrm xmlns:a="http://schemas.openxmlformats.org/drawingml/2006/main">
            <a:off x="577508" y="403988"/>
            <a:ext cx="7886700" cy="4117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fontScale="92500" lnSpcReduction="20000"/>
          </a:bodyPr>
          <a:lstStyle xmlns:a="http://schemas.openxmlformats.org/drawingml/2006/main"/>
          <a:p xmlns:a="http://schemas.openxmlformats.org/drawingml/2006/main">
            <a:pPr marL="0" marR="0" lvl="0" indent="0" algn="l">
              <a:lnSpc>
                <a:spcPct val="90000"/>
              </a:lnSpc>
              <a:spcBef>
                <a:spcPts val="0"/>
              </a:spcBef>
              <a:spcAft>
                <a:spcPts val="0"/>
              </a:spcAft>
              <a:buClr>
                <a:srgbClr val="0B49CB"/>
              </a:buClr>
              <a:buSzPct val="100000"/>
              <a:buFont typeface="Arial"/>
              <a:buNone/>
            </a:pPr>
            <a:r>
              <a:rPr sz="3000">
                <a:solidFill>
                  <a:srgbClr val="0B49CB"/>
                </a:solidFill>
                <a:latin typeface="Arial"/>
                <a:ea typeface="Arial"/>
                <a:cs typeface="Arial"/>
              </a:rPr>
              <a:t>Outline</a:t>
            </a:r>
            <a:endParaRPr sz="1100"/>
          </a:p>
        </p:txBody>
      </p:sp>
    </p:spTree>
    <p:extLst>
      <p:ext uri="{BB962C8B-B14F-4D97-AF65-F5344CB8AC3E}">
        <p14:creationId xmlns:p14="http://schemas.microsoft.com/office/powerpoint/2010/main" val="1258658709"/>
      </p:ext>
    </p:extLst>
  </p:cSld>
</p:sld>
</file>

<file path=ppt/slides/slide3.xml><?xml version="1.0" encoding="utf-8"?>
<p:sld xmlns:p="http://schemas.openxmlformats.org/presentationml/2006/main">
  <p:cSld>
    <p:bg>
      <p:bgPr>
        <a:blipFill xmlns:a="http://schemas.openxmlformats.org/drawingml/2006/main">
          <a:blip xmlns:r="http://schemas.openxmlformats.org/officeDocument/2006/relationships" r:embed="Re83bca3995d24030">
            <a:alphaModFix/>
          </a:blip>
          <a:stretch>
            <a:fillRect l="0" t="0" r="0" b="0"/>
          </a:stretch>
        </a:blipFill>
      </p:bgPr>
    </p:bg>
    <p:spTree>
      <p:nvGrpSpPr>
        <p:cNvPr id="1" name=""/>
        <p:cNvGrpSpPr/>
        <p:nvPr/>
      </p:nvGrpSpPr>
      <p:grpSpPr>
        <a:xfrm xmlns:a="http://schemas.openxmlformats.org/drawingml/2006/main"/>
      </p:grpSpPr>
      <p:sp>
        <p:nvSpPr>
          <p:cNvPr id="141" name="Google Shape;141;p29">
            <a:extLst xmlns:a="http://schemas.openxmlformats.org/drawingml/2006/main">
              <a:ext uri="{FF2B5EF4-FFF2-40B4-BE49-F238E27FC236}">
                <a16:creationId xmlns:a16="http://schemas.microsoft.com/office/drawing/2014/main" id="{F548D242-C991-4B30-BDCF-C9F6B32FB2DD}"/>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fontScale="100000"/>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202359C0-8A7A-196E-DD58-8E6569619F09}" type="slidenum">
              <a:rPr sz="1200">
                <a:solidFill>
                  <a:srgbClr val="1C7DDB"/>
                </a:solidFill>
                <a:latin typeface="Arial"/>
                <a:ea typeface="Arial"/>
                <a:cs typeface="Arial"/>
              </a:rPr>
              <a:t>3</a:t>
            </a:fld>
            <a:endParaRPr/>
          </a:p>
        </p:txBody>
      </p:sp>
      <p:sp>
        <p:nvSpPr>
          <p:cNvPr id="143" name="Google Shape;143;p29">
            <a:extLst xmlns:a="http://schemas.openxmlformats.org/drawingml/2006/main">
              <a:ext uri="{FF2B5EF4-FFF2-40B4-BE49-F238E27FC236}">
                <a16:creationId xmlns:a16="http://schemas.microsoft.com/office/drawing/2014/main" id="{B6547734-4F6B-4CA4-BECE-E05205EEB6CF}"/>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Executive Summary</a:t>
            </a:r>
            <a:endParaRPr sz="3000">
              <a:solidFill>
                <a:srgbClr val="0B49CB"/>
              </a:solidFill>
              <a:latin typeface="Arial"/>
              <a:ea typeface="Arial"/>
              <a:cs typeface="Arial"/>
            </a:endParaRPr>
          </a:p>
        </p:txBody>
      </p:sp>
      <p:sp>
        <p:nvSpPr>
          <p:cNvPr id="144" name="">
            <a:extLst xmlns:a="http://schemas.openxmlformats.org/drawingml/2006/main">
              <a:ext uri="{FF2B5EF4-FFF2-40B4-BE49-F238E27FC236}">
                <a16:creationId xmlns:a16="http://schemas.microsoft.com/office/drawing/2014/main" id="{4495CABE-2DCC-4108-95DA-1B5E6D61259A}"/>
              </a:ext>
            </a:extLst>
          </p:cNvPr>
          <p:cNvSpPr>
            <a:spLocks xmlns:a="http://schemas.openxmlformats.org/drawingml/2006/main" noGrp="1"/>
          </p:cNvSpPr>
          <p:nvPr/>
        </p:nvSpPr>
        <p:spPr>
          <a:xfrm xmlns:a="http://schemas.openxmlformats.org/drawingml/2006/main">
            <a:off x="628650" y="1333500"/>
            <a:ext cx="7667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Objective: </a:t>
            </a:r>
            <a:r>
              <a:t>Predict Falcon 9 first-stage landing outcomes from historical launch records.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Analysis: </a:t>
            </a:r>
            <a:r>
              <a:t>90 launches for EDA and modeling, 101 for SQL, and 56 for the dashboard.</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Methods: </a:t>
            </a:r>
            <a:r>
              <a:t>SQL and visual exploration, Folium maps, Plotly Dash, and four classifiers.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Results: </a:t>
            </a:r>
            <a:r>
              <a:t>All models reached 83.33% test accuracy. Decision Tree led cross-validation at 87.68%.</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Interpretation: </a:t>
            </a:r>
            <a:r>
              <a:t>All four models made identical predictions on only 18 test launches.</a:t>
            </a:r>
          </a:p>
        </p:txBody>
      </p:sp>
    </p:spTree>
    <p:extLst>
      <p:ext uri="{BB962C8B-B14F-4D97-AF65-F5344CB8AC3E}">
        <p14:creationId xmlns:p14="http://schemas.microsoft.com/office/powerpoint/2010/main" val="1128981088"/>
      </p:ext>
    </p:extLst>
  </p:cSld>
</p:sld>
</file>

<file path=ppt/slides/slide4.xml><?xml version="1.0" encoding="utf-8"?>
<p:sld xmlns:p="http://schemas.openxmlformats.org/presentationml/2006/main">
  <p:cSld>
    <p:bg>
      <p:bgPr>
        <a:blipFill xmlns:a="http://schemas.openxmlformats.org/drawingml/2006/main">
          <a:blip xmlns:r="http://schemas.openxmlformats.org/officeDocument/2006/relationships" r:embed="R8d2f71a6174c4fd1">
            <a:alphaModFix/>
          </a:blip>
          <a:stretch>
            <a:fillRect l="0" t="0" r="0" b="0"/>
          </a:stretch>
        </a:blipFill>
      </p:bgPr>
    </p:bg>
    <p:spTree>
      <p:nvGrpSpPr>
        <p:cNvPr id="1" name=""/>
        <p:cNvGrpSpPr/>
        <p:nvPr/>
      </p:nvGrpSpPr>
      <p:grpSpPr>
        <a:xfrm xmlns:a="http://schemas.openxmlformats.org/drawingml/2006/main"/>
      </p:grpSpPr>
      <p:sp>
        <p:nvSpPr>
          <p:cNvPr id="148" name="Google Shape;148;p30">
            <a:extLst xmlns:a="http://schemas.openxmlformats.org/drawingml/2006/main">
              <a:ext uri="{FF2B5EF4-FFF2-40B4-BE49-F238E27FC236}">
                <a16:creationId xmlns:a16="http://schemas.microsoft.com/office/drawing/2014/main" id="{C8273315-FBE2-4A1B-9313-445D641CD53A}"/>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fontScale="100000"/>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EFD6AB9A-5F9E-5F59-51AB-3C8734130965}" type="slidenum">
              <a:rPr sz="1200">
                <a:solidFill>
                  <a:srgbClr val="1C7DDB"/>
                </a:solidFill>
                <a:latin typeface="Arial"/>
                <a:ea typeface="Arial"/>
                <a:cs typeface="Arial"/>
              </a:rPr>
              <a:t>4</a:t>
            </a:fld>
            <a:endParaRPr/>
          </a:p>
        </p:txBody>
      </p:sp>
      <p:sp>
        <p:nvSpPr>
          <p:cNvPr id="149" name="Google Shape;149;p30">
            <a:extLst xmlns:a="http://schemas.openxmlformats.org/drawingml/2006/main">
              <a:ext uri="{FF2B5EF4-FFF2-40B4-BE49-F238E27FC236}">
                <a16:creationId xmlns:a16="http://schemas.microsoft.com/office/drawing/2014/main" id="{68E4A030-6839-4E09-B4D3-7DAA7B3CE51F}"/>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Introduction</a:t>
            </a:r>
            <a:endParaRPr sz="3000">
              <a:solidFill>
                <a:srgbClr val="0B49CB"/>
              </a:solidFill>
              <a:latin typeface="Arial"/>
              <a:ea typeface="Arial"/>
              <a:cs typeface="Arial"/>
            </a:endParaRPr>
          </a:p>
        </p:txBody>
      </p:sp>
      <p:sp>
        <p:nvSpPr>
          <p:cNvPr id="150" name="">
            <a:extLst xmlns:a="http://schemas.openxmlformats.org/drawingml/2006/main">
              <a:ext uri="{FF2B5EF4-FFF2-40B4-BE49-F238E27FC236}">
                <a16:creationId xmlns:a16="http://schemas.microsoft.com/office/drawing/2014/main" id="{49696A7D-08CB-42FF-837E-28B5C77A9261}"/>
              </a:ext>
            </a:extLst>
          </p:cNvPr>
          <p:cNvSpPr>
            <a:spLocks xmlns:a="http://schemas.openxmlformats.org/drawingml/2006/main" noGrp="1"/>
          </p:cNvSpPr>
          <p:nvPr/>
        </p:nvSpPr>
        <p:spPr>
          <a:xfrm xmlns:a="http://schemas.openxmlformats.org/drawingml/2006/main">
            <a:off x="628650" y="1333500"/>
            <a:ext cx="7667625"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Context: </a:t>
            </a:r>
            <a:r>
              <a:t>First-stage recovery supports the reuse of Falcon 9 boosters.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Problem: </a:t>
            </a:r>
            <a:r>
              <a:t>Estimate whether a launch will have a successful landing outcome.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Research question: </a:t>
            </a:r>
            <a:r>
              <a:t>How do payload, orbit, launch site and flight history relate to success?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Scope: </a:t>
            </a:r>
            <a:r>
              <a:t>Explore historical IBM course datasets covering launches through 2020.</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Use: </a:t>
            </a:r>
            <a:r>
              <a:t>Compare launch conditions and evaluate predictive models for decision support.</a:t>
            </a:r>
          </a:p>
        </p:txBody>
      </p:sp>
      <p:sp>
        <p:nvSpPr>
          <p:cNvPr id="151" name="">
            <a:extLst xmlns:a="http://schemas.openxmlformats.org/drawingml/2006/main">
              <a:ext uri="{FF2B5EF4-FFF2-40B4-BE49-F238E27FC236}">
                <a16:creationId xmlns:a16="http://schemas.microsoft.com/office/drawing/2014/main" id="{53789B2C-1448-4D10-B706-34C7E2B5C0C4}"/>
              </a:ext>
            </a:extLst>
          </p:cNvPr>
          <p:cNvSpPr>
            <a:spLocks xmlns:a="http://schemas.openxmlformats.org/drawingml/2006/main" noGrp="1"/>
          </p:cNvSpPr>
          <p:nvPr/>
        </p:nvSpPr>
        <p:spPr>
          <a:xfrm xmlns:a="http://schemas.openxmlformats.org/drawingml/2006/main">
            <a:off x="628650" y="438150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3884aa3d2929482a"/>
              </a:rPr>
              <a:t>https://github.com/elvenj/elvenj-ibm-data-science-professional-certificate</a:t>
            </a:r>
          </a:p>
        </p:txBody>
      </p:sp>
    </p:spTree>
    <p:extLst>
      <p:ext uri="{BB962C8B-B14F-4D97-AF65-F5344CB8AC3E}">
        <p14:creationId xmlns:p14="http://schemas.microsoft.com/office/powerpoint/2010/main" val="1779161795"/>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3091a6094cf94e5d">
            <a:alphaModFix/>
          </a:blip>
          <a:stretch>
            <a:fillRect l="0" t="0" r="0" b="0"/>
          </a:stretch>
        </a:blipFill>
      </p:bgPr>
    </p:bg>
    <p:spTree>
      <p:nvGrpSpPr>
        <p:cNvPr id="1" name=""/>
        <p:cNvGrpSpPr/>
        <p:nvPr/>
      </p:nvGrpSpPr>
      <p:grpSpPr>
        <a:xfrm xmlns:a="http://schemas.openxmlformats.org/drawingml/2006/main"/>
      </p:grpSpPr>
      <p:sp>
        <p:nvSpPr>
          <p:cNvPr id="155" name="Google Shape;155;p31">
            <a:extLst xmlns:a="http://schemas.openxmlformats.org/drawingml/2006/main">
              <a:ext uri="{FF2B5EF4-FFF2-40B4-BE49-F238E27FC236}">
                <a16:creationId xmlns:a16="http://schemas.microsoft.com/office/drawing/2014/main" id="{92D780D4-429E-4DE8-B201-5EC9E04630DD}"/>
              </a:ext>
            </a:extLst>
          </p:cNvPr>
          <p:cNvSpPr>
            <a:spLocks xmlns:a="http://schemas.openxmlformats.org/drawingml/2006/main" noGrp="1"/>
          </p:cNvSpPr>
          <p:nvPr>
            <p:ph type="sldNum" idx="12"/>
          </p:nvPr>
        </p:nvSpPr>
        <p:spPr>
          <a:xfrm xmlns:a="http://schemas.openxmlformats.org/drawingml/2006/main">
            <a:off x="708660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p xmlns:a="http://schemas.openxmlformats.org/drawingml/2006/main">
            <a:pPr marL="0" lvl="0" indent="0" algn="r">
              <a:spcBef>
                <a:spcPts val="0"/>
              </a:spcBef>
              <a:spcAft>
                <a:spcPts val="0"/>
              </a:spcAft>
              <a:buNone/>
            </a:pPr>
            <a:fld id="{EE5B3003-2C54-13C6-9832-7637201064DE}" type="slidenum">
              <a:t>5</a:t>
            </a:fld>
            <a:endParaRPr/>
          </a:p>
        </p:txBody>
      </p:sp>
      <p:sp>
        <p:nvSpPr>
          <p:cNvPr id="156" name="Google Shape;156;p31">
            <a:extLst xmlns:a="http://schemas.openxmlformats.org/drawingml/2006/main">
              <a:ext uri="{FF2B5EF4-FFF2-40B4-BE49-F238E27FC236}">
                <a16:creationId xmlns:a16="http://schemas.microsoft.com/office/drawing/2014/main" id="{29CB56F6-1D4B-42E0-9CF1-D561487F6057}"/>
              </a:ext>
            </a:extLst>
          </p:cNvPr>
          <p:cNvSpPr>
            <a:spLocks xmlns:a="http://schemas.openxmlformats.org/drawingml/2006/main" noGrp="1"/>
          </p:cNvSpPr>
          <p:nvPr/>
        </p:nvSpPr>
        <p:spPr>
          <a:xfrm xmlns:a="http://schemas.openxmlformats.org/drawingml/2006/main">
            <a:off x="573985" y="2109581"/>
            <a:ext cx="793727" cy="276999"/>
          </a:xfrm>
          <a:prstGeom xmlns:a="http://schemas.openxmlformats.org/drawingml/2006/main" prst="rect">
            <a:avLst/>
          </a:prstGeom>
          <a:solidFill xmlns:a="http://schemas.openxmlformats.org/drawingml/2006/main">
            <a:srgbClr val="0948CB"/>
          </a:solidFill>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marR="0" lvl="0" indent="0" algn="l">
              <a:spcBef>
                <a:spcPts val="0"/>
              </a:spcBef>
              <a:spcAft>
                <a:spcPts val="0"/>
              </a:spcAft>
              <a:buNone/>
            </a:pPr>
            <a:r>
              <a:rPr sz="1400">
                <a:solidFill>
                  <a:schemeClr val="lt1"/>
                </a:solidFill>
                <a:latin typeface="Arial"/>
                <a:ea typeface="Arial"/>
                <a:cs typeface="Arial"/>
              </a:rPr>
              <a:t>Section 1</a:t>
            </a:r>
            <a:endParaRPr sz="1100"/>
          </a:p>
        </p:txBody>
      </p:sp>
    </p:spTree>
    <p:extLst>
      <p:ext uri="{BB962C8B-B14F-4D97-AF65-F5344CB8AC3E}">
        <p14:creationId xmlns:p14="http://schemas.microsoft.com/office/powerpoint/2010/main" val="1563514088"/>
      </p:ext>
    </p:extLst>
  </p:cSld>
</p:sld>
</file>

<file path=ppt/slides/slide6.xml><?xml version="1.0" encoding="utf-8"?>
<p:sld xmlns:p="http://schemas.openxmlformats.org/presentationml/2006/main">
  <p:cSld>
    <p:bg>
      <p:bgPr>
        <a:blipFill xmlns:a="http://schemas.openxmlformats.org/drawingml/2006/main">
          <a:blip xmlns:r="http://schemas.openxmlformats.org/officeDocument/2006/relationships" r:embed="R52a4bc81fe9244da">
            <a:alphaModFix/>
          </a:blip>
          <a:stretch>
            <a:fillRect l="0" t="0" r="0" b="0"/>
          </a:stretch>
        </a:blipFill>
      </p:bgPr>
    </p:bg>
    <p:spTree>
      <p:nvGrpSpPr>
        <p:cNvPr id="1" name=""/>
        <p:cNvGrpSpPr/>
        <p:nvPr/>
      </p:nvGrpSpPr>
      <p:grpSpPr>
        <a:xfrm xmlns:a="http://schemas.openxmlformats.org/drawingml/2006/main"/>
      </p:grpSpPr>
      <p:sp>
        <p:nvSpPr>
          <p:cNvPr id="162" name="Google Shape;162;p32">
            <a:extLst xmlns:a="http://schemas.openxmlformats.org/drawingml/2006/main">
              <a:ext uri="{FF2B5EF4-FFF2-40B4-BE49-F238E27FC236}">
                <a16:creationId xmlns:a16="http://schemas.microsoft.com/office/drawing/2014/main" id="{E17A19FD-DDDA-4A48-B06A-070CD805932A}"/>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8C630A04-5A25-9E0C-9436-126091DB86B3}" type="slidenum">
              <a:rPr sz="1200">
                <a:solidFill>
                  <a:srgbClr val="1C7DDB"/>
                </a:solidFill>
                <a:latin typeface="Arial"/>
                <a:ea typeface="Arial"/>
                <a:cs typeface="Arial"/>
              </a:rPr>
              <a:t>6</a:t>
            </a:fld>
            <a:endParaRPr/>
          </a:p>
        </p:txBody>
      </p:sp>
      <p:sp>
        <p:nvSpPr>
          <p:cNvPr id="164" name="Google Shape;164;p32">
            <a:extLst xmlns:a="http://schemas.openxmlformats.org/drawingml/2006/main">
              <a:ext uri="{FF2B5EF4-FFF2-40B4-BE49-F238E27FC236}">
                <a16:creationId xmlns:a16="http://schemas.microsoft.com/office/drawing/2014/main" id="{A1F36003-12F2-4094-BBC1-44E79949D592}"/>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Methodology Overview</a:t>
            </a:r>
            <a:endParaRPr sz="3000">
              <a:solidFill>
                <a:srgbClr val="0B49CB"/>
              </a:solidFill>
              <a:latin typeface="Arial"/>
              <a:ea typeface="Arial"/>
              <a:cs typeface="Arial"/>
            </a:endParaRPr>
          </a:p>
        </p:txBody>
      </p:sp>
      <p:sp>
        <p:nvSpPr>
          <p:cNvPr id="165" name="">
            <a:extLst xmlns:a="http://schemas.openxmlformats.org/drawingml/2006/main">
              <a:ext uri="{FF2B5EF4-FFF2-40B4-BE49-F238E27FC236}">
                <a16:creationId xmlns:a16="http://schemas.microsoft.com/office/drawing/2014/main" id="{52963FE1-D6E7-4A7D-AB03-CCEE8E4C4B8D}"/>
              </a:ext>
            </a:extLst>
          </p:cNvPr>
          <p:cNvSpPr>
            <a:spLocks xmlns:a="http://schemas.openxmlformats.org/drawingml/2006/main" noGrp="1"/>
          </p:cNvSpPr>
          <p:nvPr/>
        </p:nvSpPr>
        <p:spPr>
          <a:xfrm xmlns:a="http://schemas.openxmlformats.org/drawingml/2006/main">
            <a:off x="628650" y="1257300"/>
            <a:ext cx="7667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Data collection: </a:t>
            </a:r>
            <a:r>
              <a:t>SpaceX JSON and Wikipedia HTML exercises, with prepared IBM datasets for analysis.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Data wrangling: </a:t>
            </a:r>
            <a:r>
              <a:t>Inspect missing values, define the target and encode categorical features.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Exploratory analysis: </a:t>
            </a:r>
            <a:r>
              <a:t>Compare launch conditions using Pandas, charts and SQLite queries.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Interactive analytics: </a:t>
            </a:r>
            <a:r>
              <a:t>Map launch sites with Folium and filter outcomes in Plotly Dash.</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Predictive modeling: </a:t>
            </a:r>
            <a:r>
              <a:t>Tune Logistic Regression, SVM, Decision Tree and KNN with 10-fold GridSearchCV.</a:t>
            </a:r>
          </a:p>
        </p:txBody>
      </p:sp>
    </p:spTree>
    <p:extLst>
      <p:ext uri="{BB962C8B-B14F-4D97-AF65-F5344CB8AC3E}">
        <p14:creationId xmlns:p14="http://schemas.microsoft.com/office/powerpoint/2010/main" val="515418450"/>
      </p:ext>
    </p:extLst>
  </p:cSld>
</p:sld>
</file>

<file path=ppt/slides/slide7.xml><?xml version="1.0" encoding="utf-8"?>
<p:sld xmlns:p="http://schemas.openxmlformats.org/presentationml/2006/main">
  <p:cSld>
    <p:bg>
      <p:bgPr>
        <a:blipFill xmlns:a="http://schemas.openxmlformats.org/drawingml/2006/main">
          <a:blip xmlns:r="http://schemas.openxmlformats.org/officeDocument/2006/relationships" r:embed="R73b0ac94a1d14ed6">
            <a:alphaModFix/>
          </a:blip>
          <a:stretch>
            <a:fillRect l="0" t="0" r="0" b="0"/>
          </a:stretch>
        </a:blipFill>
      </p:bgPr>
    </p:bg>
    <p:spTree>
      <p:nvGrpSpPr>
        <p:cNvPr id="1" name=""/>
        <p:cNvGrpSpPr/>
        <p:nvPr/>
      </p:nvGrpSpPr>
      <p:grpSpPr>
        <a:xfrm xmlns:a="http://schemas.openxmlformats.org/drawingml/2006/main"/>
      </p:grpSpPr>
      <p:cxnSp>
        <p:nvCxnSpPr>
          <p:cNvPr id="179" name="">
            <a:extLst xmlns:a="http://schemas.openxmlformats.org/drawingml/2006/main">
              <a:ext uri="{FF2B5EF4-FFF2-40B4-BE49-F238E27FC236}">
                <a16:creationId xmlns:a16="http://schemas.microsoft.com/office/drawing/2014/main" id="{AA31B5F7-BDFB-4D21-B027-9D8E6F8FC80A}"/>
              </a:ext>
            </a:extLst>
          </p:cNvPr>
          <p:cNvCxnSpPr>
            <a:stCxn xmlns:a="http://schemas.openxmlformats.org/drawingml/2006/main" id="175" idx="3"/>
            <a:endCxn xmlns:a="http://schemas.openxmlformats.org/drawingml/2006/main" id="176" idx="1"/>
          </p:cNvCxnSpPr>
          <p:nvPr/>
        </p:nvCxnSpPr>
        <p:spPr>
          <a:xfrm xmlns:a="http://schemas.openxmlformats.org/drawingml/2006/main">
            <a:off x="5524500" y="3848100"/>
            <a:ext cx="809625" cy="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78" name="">
            <a:extLst xmlns:a="http://schemas.openxmlformats.org/drawingml/2006/main">
              <a:ext uri="{FF2B5EF4-FFF2-40B4-BE49-F238E27FC236}">
                <a16:creationId xmlns:a16="http://schemas.microsoft.com/office/drawing/2014/main" id="{9FA2F045-E914-472B-A748-F7DD2F6BA37F}"/>
              </a:ext>
            </a:extLst>
          </p:cNvPr>
          <p:cNvCxnSpPr>
            <a:stCxn xmlns:a="http://schemas.openxmlformats.org/drawingml/2006/main" id="174" idx="3"/>
            <a:endCxn xmlns:a="http://schemas.openxmlformats.org/drawingml/2006/main" id="175" idx="1"/>
          </p:cNvCxnSpPr>
          <p:nvPr/>
        </p:nvCxnSpPr>
        <p:spPr>
          <a:xfrm xmlns:a="http://schemas.openxmlformats.org/drawingml/2006/main" flipV="1">
            <a:off x="2552700" y="3848100"/>
            <a:ext cx="828675" cy="4572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77" name="">
            <a:extLst xmlns:a="http://schemas.openxmlformats.org/drawingml/2006/main">
              <a:ext uri="{FF2B5EF4-FFF2-40B4-BE49-F238E27FC236}">
                <a16:creationId xmlns:a16="http://schemas.microsoft.com/office/drawing/2014/main" id="{0F40CD99-1FD8-430D-96EA-042F09706F3A}"/>
              </a:ext>
            </a:extLst>
          </p:cNvPr>
          <p:cNvCxnSpPr>
            <a:stCxn xmlns:a="http://schemas.openxmlformats.org/drawingml/2006/main" id="173" idx="3"/>
            <a:endCxn xmlns:a="http://schemas.openxmlformats.org/drawingml/2006/main" id="175" idx="1"/>
          </p:cNvCxnSpPr>
          <p:nvPr/>
        </p:nvCxnSpPr>
        <p:spPr>
          <a:xfrm xmlns:a="http://schemas.openxmlformats.org/drawingml/2006/main">
            <a:off x="2552700" y="3505200"/>
            <a:ext cx="828675" cy="342900"/>
          </a:xfrm>
          <a:prstGeom xmlns:a="http://schemas.openxmlformats.org/drawingml/2006/main" prst="straightConnector1">
            <a:avLst/>
          </a:prstGeom>
          <a:ln xmlns:a="http://schemas.openxmlformats.org/drawingml/2006/main" w="14288">
            <a:solidFill>
              <a:srgbClr val="0B49CB"/>
            </a:solidFill>
            <a:tailEnd type="triangle" w="sm" len="sm"/>
          </a:ln>
        </p:spPr>
      </p:cxnSp>
      <p:sp>
        <p:nvSpPr>
          <p:cNvPr id="169" name="Google Shape;169;p33">
            <a:extLst xmlns:a="http://schemas.openxmlformats.org/drawingml/2006/main">
              <a:ext uri="{FF2B5EF4-FFF2-40B4-BE49-F238E27FC236}">
                <a16:creationId xmlns:a16="http://schemas.microsoft.com/office/drawing/2014/main" id="{2322384D-4A7A-4E44-AEEF-B8B9DA9A8EB8}"/>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D3D7D1C8-AE23-AA48-DF65-C742588DBE47}" type="slidenum">
              <a:rPr sz="1200">
                <a:solidFill>
                  <a:srgbClr val="1C7DDB"/>
                </a:solidFill>
                <a:latin typeface="Arial"/>
                <a:ea typeface="Arial"/>
                <a:cs typeface="Arial"/>
              </a:rPr>
              <a:t>7</a:t>
            </a:fld>
            <a:endParaRPr/>
          </a:p>
        </p:txBody>
      </p:sp>
      <p:sp>
        <p:nvSpPr>
          <p:cNvPr id="171" name="Google Shape;171;p33">
            <a:extLst xmlns:a="http://schemas.openxmlformats.org/drawingml/2006/main">
              <a:ext uri="{FF2B5EF4-FFF2-40B4-BE49-F238E27FC236}">
                <a16:creationId xmlns:a16="http://schemas.microsoft.com/office/drawing/2014/main" id="{DF94C20F-2D8D-4350-9C96-C5690414129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Data Collection</a:t>
            </a:r>
            <a:endParaRPr sz="3000">
              <a:solidFill>
                <a:srgbClr val="0B49CB"/>
              </a:solidFill>
              <a:latin typeface="Arial"/>
              <a:ea typeface="Arial"/>
              <a:cs typeface="Arial"/>
            </a:endParaRPr>
          </a:p>
        </p:txBody>
      </p:sp>
      <p:sp>
        <p:nvSpPr>
          <p:cNvPr id="172" name="">
            <a:extLst xmlns:a="http://schemas.openxmlformats.org/drawingml/2006/main">
              <a:ext uri="{FF2B5EF4-FFF2-40B4-BE49-F238E27FC236}">
                <a16:creationId xmlns:a16="http://schemas.microsoft.com/office/drawing/2014/main" id="{2136E7E8-5454-411D-B632-623720D482A8}"/>
              </a:ext>
            </a:extLst>
          </p:cNvPr>
          <p:cNvSpPr>
            <a:spLocks xmlns:a="http://schemas.openxmlformats.org/drawingml/2006/main" noGrp="1"/>
          </p:cNvSpPr>
          <p:nvPr/>
        </p:nvSpPr>
        <p:spPr>
          <a:xfrm xmlns:a="http://schemas.openxmlformats.org/drawingml/2006/main">
            <a:off x="628650" y="1200150"/>
            <a:ext cx="77724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b="1"/>
              <a:t>API exercise: </a:t>
            </a:r>
            <a:r>
              <a:t>Retrieve the IBM-hosted SpaceX JSON snapshot and normalize launch records.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b="1"/>
              <a:t>Scraping exercise: </a:t>
            </a:r>
            <a:r>
              <a:t>Parse Wikipedia launch tables with BeautifulSoup. Row extraction encountered an error.</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b="1"/>
              <a:t>Analysis input: </a:t>
            </a:r>
            <a:r>
              <a:t>Use the prepared IBM CSV files to continue wrangling and analysis.</a:t>
            </a:r>
          </a:p>
        </p:txBody>
      </p:sp>
      <p:sp>
        <p:nvSpPr>
          <p:cNvPr id="173" name="SpaceX JSON">
            <a:extLst xmlns:a="http://schemas.openxmlformats.org/drawingml/2006/main">
              <a:ext uri="{FF2B5EF4-FFF2-40B4-BE49-F238E27FC236}">
                <a16:creationId xmlns:a16="http://schemas.microsoft.com/office/drawing/2014/main" id="{A59C96F2-AF51-4520-A0CD-64E70CC0768D}"/>
              </a:ext>
            </a:extLst>
          </p:cNvPr>
          <p:cNvSpPr>
            <a:spLocks xmlns:a="http://schemas.openxmlformats.org/drawingml/2006/main" noGrp="1"/>
          </p:cNvSpPr>
          <p:nvPr/>
        </p:nvSpPr>
        <p:spPr>
          <a:xfrm xmlns:a="http://schemas.openxmlformats.org/drawingml/2006/main">
            <a:off x="647700" y="3209925"/>
            <a:ext cx="1905000" cy="590550"/>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SpaceX JSON</a:t>
            </a:r>
          </a:p>
        </p:txBody>
      </p:sp>
      <p:sp>
        <p:nvSpPr>
          <p:cNvPr id="174" name="Wikipedia HTML">
            <a:extLst xmlns:a="http://schemas.openxmlformats.org/drawingml/2006/main">
              <a:ext uri="{FF2B5EF4-FFF2-40B4-BE49-F238E27FC236}">
                <a16:creationId xmlns:a16="http://schemas.microsoft.com/office/drawing/2014/main" id="{A6C3F421-ABA1-47F8-9700-8FB164789752}"/>
              </a:ext>
            </a:extLst>
          </p:cNvPr>
          <p:cNvSpPr>
            <a:spLocks xmlns:a="http://schemas.openxmlformats.org/drawingml/2006/main" noGrp="1"/>
          </p:cNvSpPr>
          <p:nvPr/>
        </p:nvSpPr>
        <p:spPr>
          <a:xfrm xmlns:a="http://schemas.openxmlformats.org/drawingml/2006/main">
            <a:off x="647700" y="4010025"/>
            <a:ext cx="1905000" cy="590550"/>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Wikipedia HTML</a:t>
            </a:r>
          </a:p>
        </p:txBody>
      </p:sp>
      <p:sp>
        <p:nvSpPr>
          <p:cNvPr id="175" name="Python extraction&#10;and Pandas">
            <a:extLst xmlns:a="http://schemas.openxmlformats.org/drawingml/2006/main">
              <a:ext uri="{FF2B5EF4-FFF2-40B4-BE49-F238E27FC236}">
                <a16:creationId xmlns:a16="http://schemas.microsoft.com/office/drawing/2014/main" id="{224F90CF-04CD-4D0E-8AE7-C8D8E6E564F1}"/>
              </a:ext>
            </a:extLst>
          </p:cNvPr>
          <p:cNvSpPr>
            <a:spLocks xmlns:a="http://schemas.openxmlformats.org/drawingml/2006/main" noGrp="1"/>
          </p:cNvSpPr>
          <p:nvPr/>
        </p:nvSpPr>
        <p:spPr>
          <a:xfrm xmlns:a="http://schemas.openxmlformats.org/drawingml/2006/main">
            <a:off x="3381375" y="3467100"/>
            <a:ext cx="2143125" cy="762000"/>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Python extraction</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and Pandas</a:t>
            </a:r>
          </a:p>
        </p:txBody>
      </p:sp>
      <p:sp>
        <p:nvSpPr>
          <p:cNvPr id="176" name="CSV datasets&#10;for analysis">
            <a:extLst xmlns:a="http://schemas.openxmlformats.org/drawingml/2006/main">
              <a:ext uri="{FF2B5EF4-FFF2-40B4-BE49-F238E27FC236}">
                <a16:creationId xmlns:a16="http://schemas.microsoft.com/office/drawing/2014/main" id="{6632E156-F329-4B1E-BBDB-C21F8AEEDDEB}"/>
              </a:ext>
            </a:extLst>
          </p:cNvPr>
          <p:cNvSpPr>
            <a:spLocks xmlns:a="http://schemas.openxmlformats.org/drawingml/2006/main" noGrp="1"/>
          </p:cNvSpPr>
          <p:nvPr/>
        </p:nvSpPr>
        <p:spPr>
          <a:xfrm xmlns:a="http://schemas.openxmlformats.org/drawingml/2006/main">
            <a:off x="6334125" y="3467100"/>
            <a:ext cx="2143125" cy="762000"/>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CSV datasets</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for analysis</a:t>
            </a:r>
          </a:p>
        </p:txBody>
      </p:sp>
    </p:spTree>
    <p:extLst>
      <p:ext uri="{BB962C8B-B14F-4D97-AF65-F5344CB8AC3E}">
        <p14:creationId xmlns:p14="http://schemas.microsoft.com/office/powerpoint/2010/main" val="2140369783"/>
      </p:ext>
    </p:extLst>
  </p:cSld>
</p:sld>
</file>

<file path=ppt/slides/slide8.xml><?xml version="1.0" encoding="utf-8"?>
<p:sld xmlns:p="http://schemas.openxmlformats.org/presentationml/2006/main">
  <p:cSld>
    <p:bg>
      <p:bgPr>
        <a:blipFill xmlns:a="http://schemas.openxmlformats.org/drawingml/2006/main">
          <a:blip xmlns:r="http://schemas.openxmlformats.org/officeDocument/2006/relationships" r:embed="R26bcb80380494d9c">
            <a:alphaModFix/>
          </a:blip>
          <a:stretch>
            <a:fillRect l="0" t="0" r="0" b="0"/>
          </a:stretch>
        </a:blipFill>
      </p:bgPr>
    </p:bg>
    <p:spTree>
      <p:nvGrpSpPr>
        <p:cNvPr id="1" name=""/>
        <p:cNvGrpSpPr/>
        <p:nvPr/>
      </p:nvGrpSpPr>
      <p:grpSpPr>
        <a:xfrm xmlns:a="http://schemas.openxmlformats.org/drawingml/2006/main"/>
      </p:grpSpPr>
      <p:cxnSp>
        <p:nvCxnSpPr>
          <p:cNvPr id="187" name="">
            <a:extLst xmlns:a="http://schemas.openxmlformats.org/drawingml/2006/main">
              <a:ext uri="{FF2B5EF4-FFF2-40B4-BE49-F238E27FC236}">
                <a16:creationId xmlns:a16="http://schemas.microsoft.com/office/drawing/2014/main" id="{108CDA11-9B2D-4B5C-A3C8-276EB3090BD7}"/>
              </a:ext>
            </a:extLst>
          </p:cNvPr>
          <p:cNvCxnSpPr>
            <a:stCxn xmlns:a="http://schemas.openxmlformats.org/drawingml/2006/main" id="183" idx="2"/>
            <a:endCxn xmlns:a="http://schemas.openxmlformats.org/drawingml/2006/main" id="184" idx="0"/>
          </p:cNvCxnSpPr>
          <p:nvPr/>
        </p:nvCxnSpPr>
        <p:spPr>
          <a:xfrm xmlns:a="http://schemas.openxmlformats.org/drawingml/2006/main">
            <a:off x="6477000" y="345757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86" name="">
            <a:extLst xmlns:a="http://schemas.openxmlformats.org/drawingml/2006/main">
              <a:ext uri="{FF2B5EF4-FFF2-40B4-BE49-F238E27FC236}">
                <a16:creationId xmlns:a16="http://schemas.microsoft.com/office/drawing/2014/main" id="{24258FF7-6AA4-4F67-A711-74A07E7B13EA}"/>
              </a:ext>
            </a:extLst>
          </p:cNvPr>
          <p:cNvCxnSpPr>
            <a:stCxn xmlns:a="http://schemas.openxmlformats.org/drawingml/2006/main" id="182" idx="2"/>
            <a:endCxn xmlns:a="http://schemas.openxmlformats.org/drawingml/2006/main" id="183" idx="0"/>
          </p:cNvCxnSpPr>
          <p:nvPr/>
        </p:nvCxnSpPr>
        <p:spPr>
          <a:xfrm xmlns:a="http://schemas.openxmlformats.org/drawingml/2006/main">
            <a:off x="6477000" y="2647950"/>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85" name="">
            <a:extLst xmlns:a="http://schemas.openxmlformats.org/drawingml/2006/main">
              <a:ext uri="{FF2B5EF4-FFF2-40B4-BE49-F238E27FC236}">
                <a16:creationId xmlns:a16="http://schemas.microsoft.com/office/drawing/2014/main" id="{205C04F6-9006-4207-A956-1C10706FBB94}"/>
              </a:ext>
            </a:extLst>
          </p:cNvPr>
          <p:cNvCxnSpPr>
            <a:stCxn xmlns:a="http://schemas.openxmlformats.org/drawingml/2006/main" id="181" idx="2"/>
            <a:endCxn xmlns:a="http://schemas.openxmlformats.org/drawingml/2006/main" id="182" idx="0"/>
          </p:cNvCxnSpPr>
          <p:nvPr/>
        </p:nvCxnSpPr>
        <p:spPr>
          <a:xfrm xmlns:a="http://schemas.openxmlformats.org/drawingml/2006/main">
            <a:off x="6477000" y="183832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sp>
        <p:nvSpPr>
          <p:cNvPr id="176" name="Google Shape;176;p34">
            <a:extLst xmlns:a="http://schemas.openxmlformats.org/drawingml/2006/main">
              <a:ext uri="{FF2B5EF4-FFF2-40B4-BE49-F238E27FC236}">
                <a16:creationId xmlns:a16="http://schemas.microsoft.com/office/drawing/2014/main" id="{BDB9D394-8540-4C15-8C62-21EB1D015317}"/>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BA58DA2A-B818-18A9-29C1-B697728D5BCE}" type="slidenum">
              <a:rPr sz="1200">
                <a:solidFill>
                  <a:srgbClr val="1C7DDB"/>
                </a:solidFill>
                <a:latin typeface="Arial"/>
                <a:ea typeface="Arial"/>
                <a:cs typeface="Arial"/>
              </a:rPr>
              <a:t>8</a:t>
            </a:fld>
            <a:endParaRPr/>
          </a:p>
        </p:txBody>
      </p:sp>
      <p:sp>
        <p:nvSpPr>
          <p:cNvPr id="179" name="Google Shape;179;p34">
            <a:extLst xmlns:a="http://schemas.openxmlformats.org/drawingml/2006/main">
              <a:ext uri="{FF2B5EF4-FFF2-40B4-BE49-F238E27FC236}">
                <a16:creationId xmlns:a16="http://schemas.microsoft.com/office/drawing/2014/main" id="{13C6854D-A545-47C6-9264-260522EA7DB7}"/>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Data Collection: SpaceX API</a:t>
            </a:r>
            <a:endParaRPr sz="1100"/>
          </a:p>
        </p:txBody>
      </p:sp>
      <p:sp>
        <p:nvSpPr>
          <p:cNvPr id="180" name="">
            <a:extLst xmlns:a="http://schemas.openxmlformats.org/drawingml/2006/main">
              <a:ext uri="{FF2B5EF4-FFF2-40B4-BE49-F238E27FC236}">
                <a16:creationId xmlns:a16="http://schemas.microsoft.com/office/drawing/2014/main" id="{6111770E-16CB-4E1B-BAC7-E6F97E8EC10C}"/>
              </a:ext>
            </a:extLst>
          </p:cNvPr>
          <p:cNvSpPr>
            <a:spLocks xmlns:a="http://schemas.openxmlformats.org/drawingml/2006/main" noGrp="1"/>
          </p:cNvSpPr>
          <p:nvPr/>
        </p:nvSpPr>
        <p:spPr>
          <a:xfrm xmlns:a="http://schemas.openxmlformats.org/drawingml/2006/main">
            <a:off x="628650" y="1314450"/>
            <a:ext cx="34766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IBM JSON snapshot returned HTTP 200.</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Requests and Pandas normalized the launch records.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Live metadata endpoints returned HTTP 525 and blocked enrichment.</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analysis continued with 90 prepared Falcon 9 records.</a:t>
            </a:r>
          </a:p>
        </p:txBody>
      </p:sp>
      <p:sp>
        <p:nvSpPr>
          <p:cNvPr id="181" name="IBM JSON snapshot">
            <a:extLst xmlns:a="http://schemas.openxmlformats.org/drawingml/2006/main">
              <a:ext uri="{FF2B5EF4-FFF2-40B4-BE49-F238E27FC236}">
                <a16:creationId xmlns:a16="http://schemas.microsoft.com/office/drawing/2014/main" id="{7C9E4B9E-8B9B-49E3-86CC-B996B3FED2E2}"/>
              </a:ext>
            </a:extLst>
          </p:cNvPr>
          <p:cNvSpPr>
            <a:spLocks xmlns:a="http://schemas.openxmlformats.org/drawingml/2006/main" noGrp="1"/>
          </p:cNvSpPr>
          <p:nvPr/>
        </p:nvSpPr>
        <p:spPr>
          <a:xfrm xmlns:a="http://schemas.openxmlformats.org/drawingml/2006/main">
            <a:off x="4667250" y="125730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IBM JSON snapshot</a:t>
            </a:r>
          </a:p>
        </p:txBody>
      </p:sp>
      <p:sp>
        <p:nvSpPr>
          <p:cNvPr id="182" name="Pandas normalization">
            <a:extLst xmlns:a="http://schemas.openxmlformats.org/drawingml/2006/main">
              <a:ext uri="{FF2B5EF4-FFF2-40B4-BE49-F238E27FC236}">
                <a16:creationId xmlns:a16="http://schemas.microsoft.com/office/drawing/2014/main" id="{D4EE79A1-27FF-4012-840D-70F2EF675953}"/>
              </a:ext>
            </a:extLst>
          </p:cNvPr>
          <p:cNvSpPr>
            <a:spLocks xmlns:a="http://schemas.openxmlformats.org/drawingml/2006/main" noGrp="1"/>
          </p:cNvSpPr>
          <p:nvPr/>
        </p:nvSpPr>
        <p:spPr>
          <a:xfrm xmlns:a="http://schemas.openxmlformats.org/drawingml/2006/main">
            <a:off x="4667250" y="206692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Pandas normalization</a:t>
            </a:r>
          </a:p>
        </p:txBody>
      </p:sp>
      <p:sp>
        <p:nvSpPr>
          <p:cNvPr id="183" name="Live metadata API&#10;HTTP 525">
            <a:extLst xmlns:a="http://schemas.openxmlformats.org/drawingml/2006/main">
              <a:ext uri="{FF2B5EF4-FFF2-40B4-BE49-F238E27FC236}">
                <a16:creationId xmlns:a16="http://schemas.microsoft.com/office/drawing/2014/main" id="{4770BD58-E55B-4537-85D5-28B8B1728506}"/>
              </a:ext>
            </a:extLst>
          </p:cNvPr>
          <p:cNvSpPr>
            <a:spLocks xmlns:a="http://schemas.openxmlformats.org/drawingml/2006/main" noGrp="1"/>
          </p:cNvSpPr>
          <p:nvPr/>
        </p:nvSpPr>
        <p:spPr>
          <a:xfrm xmlns:a="http://schemas.openxmlformats.org/drawingml/2006/main">
            <a:off x="4667250" y="2876550"/>
            <a:ext cx="3619500" cy="581025"/>
          </a:xfrm>
          <a:prstGeom xmlns:a="http://schemas.openxmlformats.org/drawingml/2006/main" prst="rect">
            <a:avLst/>
          </a:prstGeom>
          <a:solidFill xmlns:a="http://schemas.openxmlformats.org/drawingml/2006/main">
            <a:srgbClr val="FFF4E8"/>
          </a:solidFill>
          <a:ln xmlns:a="http://schemas.openxmlformats.org/drawingml/2006/main" w="13335">
            <a:solidFill>
              <a:srgbClr val="C77D16"/>
            </a:solidFill>
          </a:ln>
        </p:spPr>
        <p:txBody>
          <a:bodyPr xmlns:a="http://schemas.openxmlformats.org/drawingml/2006/main" lIns="76200" tIns="76200" rIns="76200" bIns="76200" anchor="ctr">
            <a:noAutofit/>
          </a:bodyPr>
          <a:lstStyle xmlns:a="http://schemas.openxmlformats.org/drawingml/2006/main">
            <a:defPPr algn="ctr">
              <a:defRPr sz="1700" b="0">
                <a:solidFill>
                  <a:srgbClr val="8A5400"/>
                </a:solidFill>
                <a:latin typeface="Arial"/>
                <a:ea typeface="Arial"/>
                <a:cs typeface="Arial"/>
              </a:defRPr>
            </a:defPPr>
          </a:lstStyle>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Live metadata API</a:t>
            </a:r>
          </a:p>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HTTP 525</a:t>
            </a:r>
          </a:p>
        </p:txBody>
      </p:sp>
      <p:sp>
        <p:nvSpPr>
          <p:cNvPr id="184" name="Prepared IBM CSV&#10;90 Falcon 9 launches">
            <a:extLst xmlns:a="http://schemas.openxmlformats.org/drawingml/2006/main">
              <a:ext uri="{FF2B5EF4-FFF2-40B4-BE49-F238E27FC236}">
                <a16:creationId xmlns:a16="http://schemas.microsoft.com/office/drawing/2014/main" id="{AD417B65-A7F1-422A-8D60-F29548A80554}"/>
              </a:ext>
            </a:extLst>
          </p:cNvPr>
          <p:cNvSpPr>
            <a:spLocks xmlns:a="http://schemas.openxmlformats.org/drawingml/2006/main" noGrp="1"/>
          </p:cNvSpPr>
          <p:nvPr/>
        </p:nvSpPr>
        <p:spPr>
          <a:xfrm xmlns:a="http://schemas.openxmlformats.org/drawingml/2006/main">
            <a:off x="4667250" y="368617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Prepared IBM CSV</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90 Falcon 9 launches</a:t>
            </a:r>
          </a:p>
        </p:txBody>
      </p:sp>
      <p:sp>
        <p:nvSpPr>
          <p:cNvPr id="188" name="">
            <a:extLst xmlns:a="http://schemas.openxmlformats.org/drawingml/2006/main">
              <a:ext uri="{FF2B5EF4-FFF2-40B4-BE49-F238E27FC236}">
                <a16:creationId xmlns:a16="http://schemas.microsoft.com/office/drawing/2014/main" id="{5AE87925-DBFA-47AE-AD05-9C82B674860A}"/>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fae6e54ad4e64df6"/>
              </a:rPr>
              <a:t>Notebook: SpaceX API collection</a:t>
            </a:r>
          </a:p>
        </p:txBody>
      </p:sp>
    </p:spTree>
    <p:extLst>
      <p:ext uri="{BB962C8B-B14F-4D97-AF65-F5344CB8AC3E}">
        <p14:creationId xmlns:p14="http://schemas.microsoft.com/office/powerpoint/2010/main" val="1490083699"/>
      </p:ext>
    </p:extLst>
  </p:cSld>
</p:sld>
</file>

<file path=ppt/slides/slide9.xml><?xml version="1.0" encoding="utf-8"?>
<p:sld xmlns:p="http://schemas.openxmlformats.org/presentationml/2006/main">
  <p:cSld>
    <p:bg>
      <p:bgPr>
        <a:blipFill xmlns:a="http://schemas.openxmlformats.org/drawingml/2006/main">
          <a:blip xmlns:r="http://schemas.openxmlformats.org/officeDocument/2006/relationships" r:embed="R2635fc9e290240fb">
            <a:alphaModFix/>
          </a:blip>
          <a:stretch>
            <a:fillRect l="0" t="0" r="0" b="0"/>
          </a:stretch>
        </a:blipFill>
      </p:bgPr>
    </p:bg>
    <p:spTree>
      <p:nvGrpSpPr>
        <p:cNvPr id="1" name=""/>
        <p:cNvGrpSpPr/>
        <p:nvPr/>
      </p:nvGrpSpPr>
      <p:grpSpPr>
        <a:xfrm xmlns:a="http://schemas.openxmlformats.org/drawingml/2006/main"/>
      </p:grpSpPr>
      <p:cxnSp>
        <p:nvCxnSpPr>
          <p:cNvPr id="195" name="">
            <a:extLst xmlns:a="http://schemas.openxmlformats.org/drawingml/2006/main">
              <a:ext uri="{FF2B5EF4-FFF2-40B4-BE49-F238E27FC236}">
                <a16:creationId xmlns:a16="http://schemas.microsoft.com/office/drawing/2014/main" id="{2EDECCCF-72B7-4DE2-8A04-B2BE58FFFFD0}"/>
              </a:ext>
            </a:extLst>
          </p:cNvPr>
          <p:cNvCxnSpPr>
            <a:stCxn xmlns:a="http://schemas.openxmlformats.org/drawingml/2006/main" id="191" idx="2"/>
            <a:endCxn xmlns:a="http://schemas.openxmlformats.org/drawingml/2006/main" id="192" idx="0"/>
          </p:cNvCxnSpPr>
          <p:nvPr/>
        </p:nvCxnSpPr>
        <p:spPr>
          <a:xfrm xmlns:a="http://schemas.openxmlformats.org/drawingml/2006/main">
            <a:off x="6477000" y="345757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94" name="">
            <a:extLst xmlns:a="http://schemas.openxmlformats.org/drawingml/2006/main">
              <a:ext uri="{FF2B5EF4-FFF2-40B4-BE49-F238E27FC236}">
                <a16:creationId xmlns:a16="http://schemas.microsoft.com/office/drawing/2014/main" id="{028828CB-A919-4C1E-A3DA-1CDC252B976F}"/>
              </a:ext>
            </a:extLst>
          </p:cNvPr>
          <p:cNvCxnSpPr>
            <a:stCxn xmlns:a="http://schemas.openxmlformats.org/drawingml/2006/main" id="190" idx="2"/>
            <a:endCxn xmlns:a="http://schemas.openxmlformats.org/drawingml/2006/main" id="191" idx="0"/>
          </p:cNvCxnSpPr>
          <p:nvPr/>
        </p:nvCxnSpPr>
        <p:spPr>
          <a:xfrm xmlns:a="http://schemas.openxmlformats.org/drawingml/2006/main">
            <a:off x="6477000" y="2647950"/>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193" name="">
            <a:extLst xmlns:a="http://schemas.openxmlformats.org/drawingml/2006/main">
              <a:ext uri="{FF2B5EF4-FFF2-40B4-BE49-F238E27FC236}">
                <a16:creationId xmlns:a16="http://schemas.microsoft.com/office/drawing/2014/main" id="{A6BFB53E-63F4-49F5-A4D7-CE9C464827F7}"/>
              </a:ext>
            </a:extLst>
          </p:cNvPr>
          <p:cNvCxnSpPr>
            <a:stCxn xmlns:a="http://schemas.openxmlformats.org/drawingml/2006/main" id="189" idx="2"/>
            <a:endCxn xmlns:a="http://schemas.openxmlformats.org/drawingml/2006/main" id="190" idx="0"/>
          </p:cNvCxnSpPr>
          <p:nvPr/>
        </p:nvCxnSpPr>
        <p:spPr>
          <a:xfrm xmlns:a="http://schemas.openxmlformats.org/drawingml/2006/main">
            <a:off x="6477000" y="183832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sp>
        <p:nvSpPr>
          <p:cNvPr id="184" name="Google Shape;184;p35">
            <a:extLst xmlns:a="http://schemas.openxmlformats.org/drawingml/2006/main">
              <a:ext uri="{FF2B5EF4-FFF2-40B4-BE49-F238E27FC236}">
                <a16:creationId xmlns:a16="http://schemas.microsoft.com/office/drawing/2014/main" id="{9446054D-6E80-46B5-80E9-9D528A02BAB6}"/>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388657AE-30A1-5A7A-6A7F-315D84436430}" type="slidenum">
              <a:rPr sz="1200">
                <a:solidFill>
                  <a:srgbClr val="1C7DDB"/>
                </a:solidFill>
                <a:latin typeface="Arial"/>
                <a:ea typeface="Arial"/>
                <a:cs typeface="Arial"/>
              </a:rPr>
              <a:t>9</a:t>
            </a:fld>
            <a:endParaRPr/>
          </a:p>
        </p:txBody>
      </p:sp>
      <p:sp>
        <p:nvSpPr>
          <p:cNvPr id="187" name="Google Shape;187;p35">
            <a:extLst xmlns:a="http://schemas.openxmlformats.org/drawingml/2006/main">
              <a:ext uri="{FF2B5EF4-FFF2-40B4-BE49-F238E27FC236}">
                <a16:creationId xmlns:a16="http://schemas.microsoft.com/office/drawing/2014/main" id="{A6D4B375-1B97-4477-9E38-51804AF1F98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Data Collection: Web Scraping</a:t>
            </a:r>
            <a:endParaRPr sz="3000">
              <a:solidFill>
                <a:srgbClr val="0B49CB"/>
              </a:solidFill>
              <a:latin typeface="Arial"/>
              <a:ea typeface="Arial"/>
              <a:cs typeface="Arial"/>
            </a:endParaRPr>
          </a:p>
        </p:txBody>
      </p:sp>
      <p:sp>
        <p:nvSpPr>
          <p:cNvPr id="188" name="">
            <a:extLst xmlns:a="http://schemas.openxmlformats.org/drawingml/2006/main">
              <a:ext uri="{FF2B5EF4-FFF2-40B4-BE49-F238E27FC236}">
                <a16:creationId xmlns:a16="http://schemas.microsoft.com/office/drawing/2014/main" id="{DEE13940-31A6-4ABF-B13A-9DC0302C1870}"/>
              </a:ext>
            </a:extLst>
          </p:cNvPr>
          <p:cNvSpPr>
            <a:spLocks xmlns:a="http://schemas.openxmlformats.org/drawingml/2006/main" noGrp="1"/>
          </p:cNvSpPr>
          <p:nvPr/>
        </p:nvSpPr>
        <p:spPr>
          <a:xfrm xmlns:a="http://schemas.openxmlformats.org/drawingml/2006/main">
            <a:off x="628650" y="1314450"/>
            <a:ext cx="34766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Retrieve the Wikipedia launch-list HTML.</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BeautifulSoup finds launch tables and their column headers.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row loop extracts payload, orbit, site and outcome fields.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A NoneType error interrupted extraction. The published CSV has zero rows.</a:t>
            </a:r>
          </a:p>
        </p:txBody>
      </p:sp>
      <p:sp>
        <p:nvSpPr>
          <p:cNvPr id="189" name="Wikipedia launch HTML">
            <a:extLst xmlns:a="http://schemas.openxmlformats.org/drawingml/2006/main">
              <a:ext uri="{FF2B5EF4-FFF2-40B4-BE49-F238E27FC236}">
                <a16:creationId xmlns:a16="http://schemas.microsoft.com/office/drawing/2014/main" id="{C11F7F92-6769-4564-898D-8E6FA8F2BB71}"/>
              </a:ext>
            </a:extLst>
          </p:cNvPr>
          <p:cNvSpPr>
            <a:spLocks xmlns:a="http://schemas.openxmlformats.org/drawingml/2006/main" noGrp="1"/>
          </p:cNvSpPr>
          <p:nvPr/>
        </p:nvSpPr>
        <p:spPr>
          <a:xfrm xmlns:a="http://schemas.openxmlformats.org/drawingml/2006/main">
            <a:off x="4667250" y="125730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Wikipedia launch HTML</a:t>
            </a:r>
          </a:p>
        </p:txBody>
      </p:sp>
      <p:sp>
        <p:nvSpPr>
          <p:cNvPr id="190" name="BeautifulSoup tables">
            <a:extLst xmlns:a="http://schemas.openxmlformats.org/drawingml/2006/main">
              <a:ext uri="{FF2B5EF4-FFF2-40B4-BE49-F238E27FC236}">
                <a16:creationId xmlns:a16="http://schemas.microsoft.com/office/drawing/2014/main" id="{EABB2F8C-BB87-46C8-AB07-8A5C01C255B0}"/>
              </a:ext>
            </a:extLst>
          </p:cNvPr>
          <p:cNvSpPr>
            <a:spLocks xmlns:a="http://schemas.openxmlformats.org/drawingml/2006/main" noGrp="1"/>
          </p:cNvSpPr>
          <p:nvPr/>
        </p:nvSpPr>
        <p:spPr>
          <a:xfrm xmlns:a="http://schemas.openxmlformats.org/drawingml/2006/main">
            <a:off x="4667250" y="206692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BeautifulSoup tables</a:t>
            </a:r>
          </a:p>
        </p:txBody>
      </p:sp>
      <p:sp>
        <p:nvSpPr>
          <p:cNvPr id="191" name="Row extraction&#10;AttributeError">
            <a:extLst xmlns:a="http://schemas.openxmlformats.org/drawingml/2006/main">
              <a:ext uri="{FF2B5EF4-FFF2-40B4-BE49-F238E27FC236}">
                <a16:creationId xmlns:a16="http://schemas.microsoft.com/office/drawing/2014/main" id="{274D6932-3A36-4491-B1E4-5A3FFCB54DC1}"/>
              </a:ext>
            </a:extLst>
          </p:cNvPr>
          <p:cNvSpPr>
            <a:spLocks xmlns:a="http://schemas.openxmlformats.org/drawingml/2006/main" noGrp="1"/>
          </p:cNvSpPr>
          <p:nvPr/>
        </p:nvSpPr>
        <p:spPr>
          <a:xfrm xmlns:a="http://schemas.openxmlformats.org/drawingml/2006/main">
            <a:off x="4667250" y="2876550"/>
            <a:ext cx="3619500" cy="581025"/>
          </a:xfrm>
          <a:prstGeom xmlns:a="http://schemas.openxmlformats.org/drawingml/2006/main" prst="rect">
            <a:avLst/>
          </a:prstGeom>
          <a:solidFill xmlns:a="http://schemas.openxmlformats.org/drawingml/2006/main">
            <a:srgbClr val="FFF4E8"/>
          </a:solidFill>
          <a:ln xmlns:a="http://schemas.openxmlformats.org/drawingml/2006/main" w="13335">
            <a:solidFill>
              <a:srgbClr val="C77D16"/>
            </a:solidFill>
          </a:ln>
        </p:spPr>
        <p:txBody>
          <a:bodyPr xmlns:a="http://schemas.openxmlformats.org/drawingml/2006/main" lIns="76200" tIns="76200" rIns="76200" bIns="76200" anchor="ctr">
            <a:noAutofit/>
          </a:bodyPr>
          <a:lstStyle xmlns:a="http://schemas.openxmlformats.org/drawingml/2006/main">
            <a:defPPr algn="ctr">
              <a:defRPr sz="1700" b="0">
                <a:solidFill>
                  <a:srgbClr val="8A5400"/>
                </a:solidFill>
                <a:latin typeface="Arial"/>
                <a:ea typeface="Arial"/>
                <a:cs typeface="Arial"/>
              </a:defRPr>
            </a:defPPr>
          </a:lstStyle>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Row extraction</a:t>
            </a:r>
          </a:p>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AttributeError</a:t>
            </a:r>
          </a:p>
        </p:txBody>
      </p:sp>
      <p:sp>
        <p:nvSpPr>
          <p:cNvPr id="192" name="Empty CSV output&#10;Excluded from analysis">
            <a:extLst xmlns:a="http://schemas.openxmlformats.org/drawingml/2006/main">
              <a:ext uri="{FF2B5EF4-FFF2-40B4-BE49-F238E27FC236}">
                <a16:creationId xmlns:a16="http://schemas.microsoft.com/office/drawing/2014/main" id="{F0933D09-ED83-4B04-9411-AF889A703C15}"/>
              </a:ext>
            </a:extLst>
          </p:cNvPr>
          <p:cNvSpPr>
            <a:spLocks xmlns:a="http://schemas.openxmlformats.org/drawingml/2006/main" noGrp="1"/>
          </p:cNvSpPr>
          <p:nvPr/>
        </p:nvSpPr>
        <p:spPr>
          <a:xfrm xmlns:a="http://schemas.openxmlformats.org/drawingml/2006/main">
            <a:off x="4667250" y="3686175"/>
            <a:ext cx="3619500" cy="581025"/>
          </a:xfrm>
          <a:prstGeom xmlns:a="http://schemas.openxmlformats.org/drawingml/2006/main" prst="rect">
            <a:avLst/>
          </a:prstGeom>
          <a:solidFill xmlns:a="http://schemas.openxmlformats.org/drawingml/2006/main">
            <a:srgbClr val="FFF4E8"/>
          </a:solidFill>
          <a:ln xmlns:a="http://schemas.openxmlformats.org/drawingml/2006/main" w="13335">
            <a:solidFill>
              <a:srgbClr val="C77D16"/>
            </a:solidFill>
          </a:ln>
        </p:spPr>
        <p:txBody>
          <a:bodyPr xmlns:a="http://schemas.openxmlformats.org/drawingml/2006/main" lIns="76200" tIns="76200" rIns="76200" bIns="76200" anchor="ctr">
            <a:noAutofit/>
          </a:bodyPr>
          <a:lstStyle xmlns:a="http://schemas.openxmlformats.org/drawingml/2006/main">
            <a:defPPr algn="ctr">
              <a:defRPr sz="1700" b="0">
                <a:solidFill>
                  <a:srgbClr val="8A5400"/>
                </a:solidFill>
                <a:latin typeface="Arial"/>
                <a:ea typeface="Arial"/>
                <a:cs typeface="Arial"/>
              </a:defRPr>
            </a:defPPr>
          </a:lstStyle>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Empty CSV output</a:t>
            </a:r>
          </a:p>
          <a:p xmlns:a="http://schemas.openxmlformats.org/drawingml/2006/main">
            <a:pPr algn="ctr">
              <a:defRPr sz="1700" b="0">
                <a:solidFill>
                  <a:srgbClr val="8A5400"/>
                </a:solidFill>
                <a:latin typeface="Arial"/>
                <a:ea typeface="Arial"/>
                <a:cs typeface="Arial"/>
              </a:defRPr>
            </a:pPr>
            <a:r>
              <a:rPr sz="1700" b="0">
                <a:solidFill>
                  <a:srgbClr val="8A5400"/>
                </a:solidFill>
                <a:latin typeface="Arial"/>
                <a:ea typeface="Arial"/>
                <a:cs typeface="Arial"/>
              </a:rPr>
              <a:t>Excluded from analysis</a:t>
            </a:r>
          </a:p>
        </p:txBody>
      </p:sp>
      <p:sp>
        <p:nvSpPr>
          <p:cNvPr id="196" name="">
            <a:extLst xmlns:a="http://schemas.openxmlformats.org/drawingml/2006/main">
              <a:ext uri="{FF2B5EF4-FFF2-40B4-BE49-F238E27FC236}">
                <a16:creationId xmlns:a16="http://schemas.microsoft.com/office/drawing/2014/main" id="{6C062EBA-FCEB-4667-8E21-B82C09A52F6B}"/>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c9c4e90037e44930"/>
              </a:rPr>
              <a:t>Notebook: Wikipedia web scraping</a:t>
            </a:r>
          </a:p>
        </p:txBody>
      </p:sp>
    </p:spTree>
    <p:extLst>
      <p:ext uri="{BB962C8B-B14F-4D97-AF65-F5344CB8AC3E}">
        <p14:creationId xmlns:p14="http://schemas.microsoft.com/office/powerpoint/2010/main" val="1649455497"/>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5861bfd083694a78">
            <a:alphaModFix/>
          </a:blip>
          <a:stretch>
            <a:fillRect l="0" t="0" r="0" b="0"/>
          </a:stretch>
        </a:blipFill>
      </p:bgPr>
    </p:bg>
    <p:spTree>
      <p:nvGrpSpPr>
        <p:cNvPr id="1" name=""/>
        <p:cNvGrpSpPr/>
        <p:nvPr/>
      </p:nvGrpSpPr>
      <p:grpSpPr>
        <a:xfrm xmlns:a="http://schemas.openxmlformats.org/drawingml/2006/main"/>
      </p:grpSpPr>
      <p:cxnSp>
        <p:nvCxnSpPr>
          <p:cNvPr id="203" name="">
            <a:extLst xmlns:a="http://schemas.openxmlformats.org/drawingml/2006/main">
              <a:ext uri="{FF2B5EF4-FFF2-40B4-BE49-F238E27FC236}">
                <a16:creationId xmlns:a16="http://schemas.microsoft.com/office/drawing/2014/main" id="{345ED33A-B97D-4130-B650-F503B7D13FB1}"/>
              </a:ext>
            </a:extLst>
          </p:cNvPr>
          <p:cNvCxnSpPr>
            <a:stCxn xmlns:a="http://schemas.openxmlformats.org/drawingml/2006/main" id="199" idx="2"/>
            <a:endCxn xmlns:a="http://schemas.openxmlformats.org/drawingml/2006/main" id="200" idx="0"/>
          </p:cNvCxnSpPr>
          <p:nvPr/>
        </p:nvCxnSpPr>
        <p:spPr>
          <a:xfrm xmlns:a="http://schemas.openxmlformats.org/drawingml/2006/main">
            <a:off x="6477000" y="345757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202" name="">
            <a:extLst xmlns:a="http://schemas.openxmlformats.org/drawingml/2006/main">
              <a:ext uri="{FF2B5EF4-FFF2-40B4-BE49-F238E27FC236}">
                <a16:creationId xmlns:a16="http://schemas.microsoft.com/office/drawing/2014/main" id="{DD2CA594-D84D-4D71-94EA-589751104FA3}"/>
              </a:ext>
            </a:extLst>
          </p:cNvPr>
          <p:cNvCxnSpPr>
            <a:stCxn xmlns:a="http://schemas.openxmlformats.org/drawingml/2006/main" id="198" idx="2"/>
            <a:endCxn xmlns:a="http://schemas.openxmlformats.org/drawingml/2006/main" id="199" idx="0"/>
          </p:cNvCxnSpPr>
          <p:nvPr/>
        </p:nvCxnSpPr>
        <p:spPr>
          <a:xfrm xmlns:a="http://schemas.openxmlformats.org/drawingml/2006/main">
            <a:off x="6477000" y="2647950"/>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201" name="">
            <a:extLst xmlns:a="http://schemas.openxmlformats.org/drawingml/2006/main">
              <a:ext uri="{FF2B5EF4-FFF2-40B4-BE49-F238E27FC236}">
                <a16:creationId xmlns:a16="http://schemas.microsoft.com/office/drawing/2014/main" id="{6BBCD37C-8002-4B30-B7A0-3C799A5501E6}"/>
              </a:ext>
            </a:extLst>
          </p:cNvPr>
          <p:cNvCxnSpPr>
            <a:stCxn xmlns:a="http://schemas.openxmlformats.org/drawingml/2006/main" id="197" idx="2"/>
            <a:endCxn xmlns:a="http://schemas.openxmlformats.org/drawingml/2006/main" id="198" idx="0"/>
          </p:cNvCxnSpPr>
          <p:nvPr/>
        </p:nvCxnSpPr>
        <p:spPr>
          <a:xfrm xmlns:a="http://schemas.openxmlformats.org/drawingml/2006/main">
            <a:off x="6477000" y="183832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sp>
        <p:nvSpPr>
          <p:cNvPr id="193" name="Google Shape;193;p36">
            <a:extLst xmlns:a="http://schemas.openxmlformats.org/drawingml/2006/main">
              <a:ext uri="{FF2B5EF4-FFF2-40B4-BE49-F238E27FC236}">
                <a16:creationId xmlns:a16="http://schemas.microsoft.com/office/drawing/2014/main" id="{A1AD5A6C-03FF-4D33-9349-6A17A6C7D7E7}"/>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DB7BEEEC-A170-5376-2B6E-CB54687B0CB1}" type="slidenum">
              <a:rPr sz="1200">
                <a:solidFill>
                  <a:srgbClr val="1C7DDB"/>
                </a:solidFill>
                <a:latin typeface="Arial"/>
                <a:ea typeface="Arial"/>
                <a:cs typeface="Arial"/>
              </a:rPr>
              <a:t>10</a:t>
            </a:fld>
            <a:endParaRPr/>
          </a:p>
        </p:txBody>
      </p:sp>
      <p:sp>
        <p:nvSpPr>
          <p:cNvPr id="195" name="Google Shape;195;p36">
            <a:extLst xmlns:a="http://schemas.openxmlformats.org/drawingml/2006/main">
              <a:ext uri="{FF2B5EF4-FFF2-40B4-BE49-F238E27FC236}">
                <a16:creationId xmlns:a16="http://schemas.microsoft.com/office/drawing/2014/main" id="{5AA68449-C7A4-4F72-B288-ADEDF46C947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Data Wrangling</a:t>
            </a:r>
            <a:endParaRPr sz="1100"/>
          </a:p>
        </p:txBody>
      </p:sp>
      <p:sp>
        <p:nvSpPr>
          <p:cNvPr id="196" name="">
            <a:extLst xmlns:a="http://schemas.openxmlformats.org/drawingml/2006/main">
              <a:ext uri="{FF2B5EF4-FFF2-40B4-BE49-F238E27FC236}">
                <a16:creationId xmlns:a16="http://schemas.microsoft.com/office/drawing/2014/main" id="{892EDC2A-11B7-492F-A5CD-3418E45CB5AD}"/>
              </a:ext>
            </a:extLst>
          </p:cNvPr>
          <p:cNvSpPr>
            <a:spLocks xmlns:a="http://schemas.openxmlformats.org/drawingml/2006/main" noGrp="1"/>
          </p:cNvSpPr>
          <p:nvPr/>
        </p:nvSpPr>
        <p:spPr>
          <a:xfrm xmlns:a="http://schemas.openxmlformats.org/drawingml/2006/main">
            <a:off x="628650" y="1314450"/>
            <a:ext cx="34766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Retain 90 Falcon 9 launch records.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Inspect data types and missing values. LandingPad has 26 null values.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Encode True outcomes as Class 1 and false or undefined outcomes as Class 0.</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One-hot encode categories to produce 80 numeric predictors.</a:t>
            </a:r>
          </a:p>
        </p:txBody>
      </p:sp>
      <p:sp>
        <p:nvSpPr>
          <p:cNvPr id="197" name="90 prepared launches">
            <a:extLst xmlns:a="http://schemas.openxmlformats.org/drawingml/2006/main">
              <a:ext uri="{FF2B5EF4-FFF2-40B4-BE49-F238E27FC236}">
                <a16:creationId xmlns:a16="http://schemas.microsoft.com/office/drawing/2014/main" id="{BDF4D908-0DD1-4041-9379-5824C9C70097}"/>
              </a:ext>
            </a:extLst>
          </p:cNvPr>
          <p:cNvSpPr>
            <a:spLocks xmlns:a="http://schemas.openxmlformats.org/drawingml/2006/main" noGrp="1"/>
          </p:cNvSpPr>
          <p:nvPr/>
        </p:nvSpPr>
        <p:spPr>
          <a:xfrm xmlns:a="http://schemas.openxmlformats.org/drawingml/2006/main">
            <a:off x="4667250" y="125730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90 prepared launches</a:t>
            </a:r>
          </a:p>
        </p:txBody>
      </p:sp>
      <p:sp>
        <p:nvSpPr>
          <p:cNvPr id="198" name="Outcome labeling&#10;60 success, 30 other">
            <a:extLst xmlns:a="http://schemas.openxmlformats.org/drawingml/2006/main">
              <a:ext uri="{FF2B5EF4-FFF2-40B4-BE49-F238E27FC236}">
                <a16:creationId xmlns:a16="http://schemas.microsoft.com/office/drawing/2014/main" id="{45E12527-D7EC-4226-8797-BDB1DA0D0F99}"/>
              </a:ext>
            </a:extLst>
          </p:cNvPr>
          <p:cNvSpPr>
            <a:spLocks xmlns:a="http://schemas.openxmlformats.org/drawingml/2006/main" noGrp="1"/>
          </p:cNvSpPr>
          <p:nvPr/>
        </p:nvSpPr>
        <p:spPr>
          <a:xfrm xmlns:a="http://schemas.openxmlformats.org/drawingml/2006/main">
            <a:off x="4667250" y="206692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Outcome labeling</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60 success, 30 other</a:t>
            </a:r>
          </a:p>
        </p:txBody>
      </p:sp>
      <p:sp>
        <p:nvSpPr>
          <p:cNvPr id="199" name="Categorical encoding">
            <a:extLst xmlns:a="http://schemas.openxmlformats.org/drawingml/2006/main">
              <a:ext uri="{FF2B5EF4-FFF2-40B4-BE49-F238E27FC236}">
                <a16:creationId xmlns:a16="http://schemas.microsoft.com/office/drawing/2014/main" id="{BAED1B09-B94B-4FC6-BCE3-012997970F41}"/>
              </a:ext>
            </a:extLst>
          </p:cNvPr>
          <p:cNvSpPr>
            <a:spLocks xmlns:a="http://schemas.openxmlformats.org/drawingml/2006/main" noGrp="1"/>
          </p:cNvSpPr>
          <p:nvPr/>
        </p:nvSpPr>
        <p:spPr>
          <a:xfrm xmlns:a="http://schemas.openxmlformats.org/drawingml/2006/main">
            <a:off x="4667250" y="287655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Categorical encoding</a:t>
            </a:r>
          </a:p>
        </p:txBody>
      </p:sp>
      <p:sp>
        <p:nvSpPr>
          <p:cNvPr id="200" name="90 rows by 80 features">
            <a:extLst xmlns:a="http://schemas.openxmlformats.org/drawingml/2006/main">
              <a:ext uri="{FF2B5EF4-FFF2-40B4-BE49-F238E27FC236}">
                <a16:creationId xmlns:a16="http://schemas.microsoft.com/office/drawing/2014/main" id="{4CFE4D88-D513-4FA1-B7EC-AB62CB7CC7E1}"/>
              </a:ext>
            </a:extLst>
          </p:cNvPr>
          <p:cNvSpPr>
            <a:spLocks xmlns:a="http://schemas.openxmlformats.org/drawingml/2006/main" noGrp="1"/>
          </p:cNvSpPr>
          <p:nvPr/>
        </p:nvSpPr>
        <p:spPr>
          <a:xfrm xmlns:a="http://schemas.openxmlformats.org/drawingml/2006/main">
            <a:off x="4667250" y="368617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90 rows by 80 features</a:t>
            </a:r>
          </a:p>
        </p:txBody>
      </p:sp>
      <p:sp>
        <p:nvSpPr>
          <p:cNvPr id="204" name="">
            <a:extLst xmlns:a="http://schemas.openxmlformats.org/drawingml/2006/main">
              <a:ext uri="{FF2B5EF4-FFF2-40B4-BE49-F238E27FC236}">
                <a16:creationId xmlns:a16="http://schemas.microsoft.com/office/drawing/2014/main" id="{A2DD22B0-888C-4840-9044-4EF884CFEC20}"/>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32220d0873634781"/>
              </a:rPr>
              <a:t>Notebooks: data wrangling and EDA</a:t>
            </a:r>
          </a:p>
        </p:txBody>
      </p:sp>
    </p:spTree>
    <p:extLst>
      <p:ext uri="{BB962C8B-B14F-4D97-AF65-F5344CB8AC3E}">
        <p14:creationId xmlns:p14="http://schemas.microsoft.com/office/powerpoint/2010/main" val="792835627"/>
      </p:ext>
    </p:extLst>
  </p:cSld>
</p:sld>
</file>

<file path=ppt/slides/slide11.xml><?xml version="1.0" encoding="utf-8"?>
<p:sld xmlns:p="http://schemas.openxmlformats.org/presentationml/2006/main">
  <p:cSld>
    <p:bg>
      <p:bgPr>
        <a:blipFill xmlns:a="http://schemas.openxmlformats.org/drawingml/2006/main">
          <a:blip xmlns:r="http://schemas.openxmlformats.org/officeDocument/2006/relationships" r:embed="Rf3ab0ad8b83140ac">
            <a:alphaModFix/>
          </a:blip>
          <a:stretch>
            <a:fillRect l="0" t="0" r="0" b="0"/>
          </a:stretch>
        </a:blipFill>
      </p:bgPr>
    </p:bg>
    <p:spTree>
      <p:nvGrpSpPr>
        <p:cNvPr id="1" name=""/>
        <p:cNvGrpSpPr/>
        <p:nvPr/>
      </p:nvGrpSpPr>
      <p:grpSpPr>
        <a:xfrm xmlns:a="http://schemas.openxmlformats.org/drawingml/2006/main"/>
      </p:grpSpPr>
      <p:sp>
        <p:nvSpPr>
          <p:cNvPr id="200" name="Google Shape;200;p37">
            <a:extLst xmlns:a="http://schemas.openxmlformats.org/drawingml/2006/main">
              <a:ext uri="{FF2B5EF4-FFF2-40B4-BE49-F238E27FC236}">
                <a16:creationId xmlns:a16="http://schemas.microsoft.com/office/drawing/2014/main" id="{341AE2A7-63CD-44D2-AE64-2750F874D413}"/>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30394428-F1DC-E5F6-DB0C-7DE31F3D8A23}" type="slidenum">
              <a:rPr sz="1200">
                <a:solidFill>
                  <a:srgbClr val="1C7DDB"/>
                </a:solidFill>
                <a:latin typeface="Arial"/>
                <a:ea typeface="Arial"/>
                <a:cs typeface="Arial"/>
              </a:rPr>
              <a:t>11</a:t>
            </a:fld>
            <a:endParaRPr/>
          </a:p>
        </p:txBody>
      </p:sp>
      <p:sp>
        <p:nvSpPr>
          <p:cNvPr id="202" name="Google Shape;202;p37">
            <a:extLst xmlns:a="http://schemas.openxmlformats.org/drawingml/2006/main">
              <a:ext uri="{FF2B5EF4-FFF2-40B4-BE49-F238E27FC236}">
                <a16:creationId xmlns:a16="http://schemas.microsoft.com/office/drawing/2014/main" id="{32567CFB-9DB6-43F8-BA93-B6C83822287D}"/>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EDA with Data Visualization</a:t>
            </a:r>
            <a:endParaRPr sz="1100"/>
          </a:p>
        </p:txBody>
      </p:sp>
      <p:sp>
        <p:nvSpPr>
          <p:cNvPr id="203" name="">
            <a:extLst xmlns:a="http://schemas.openxmlformats.org/drawingml/2006/main">
              <a:ext uri="{FF2B5EF4-FFF2-40B4-BE49-F238E27FC236}">
                <a16:creationId xmlns:a16="http://schemas.microsoft.com/office/drawing/2014/main" id="{391B48A3-C1C8-4659-B40C-3736E4E08FEF}"/>
              </a:ext>
            </a:extLst>
          </p:cNvPr>
          <p:cNvSpPr>
            <a:spLocks xmlns:a="http://schemas.openxmlformats.org/drawingml/2006/main" noGrp="1"/>
          </p:cNvSpPr>
          <p:nvPr/>
        </p:nvSpPr>
        <p:spPr>
          <a:xfrm xmlns:a="http://schemas.openxmlformats.org/drawingml/2006/main">
            <a:off x="628650" y="1333500"/>
            <a:ext cx="76962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Scatter plots: </a:t>
            </a:r>
            <a:r>
              <a:t>Flight number and payload versus launch site and orbit show where success and failure occur.</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Orbit chart: </a:t>
            </a:r>
            <a:r>
              <a:t>Mean Class estimates the observed success rate for each orbit.</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Yearly trend: </a:t>
            </a:r>
            <a:r>
              <a:t>Annual mean Class tracks changes in recorded outcomes over time.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Feature preparation: </a:t>
            </a:r>
            <a:r>
              <a:t>Encode orbit, launch site, landing pad and booster serial with Pandas get_dummies.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Scope: </a:t>
            </a:r>
            <a:r>
              <a:t>90 launches across three site labels. Associations support exploration, not causal conclusions.</a:t>
            </a:r>
          </a:p>
        </p:txBody>
      </p:sp>
      <p:sp>
        <p:nvSpPr>
          <p:cNvPr id="204" name="">
            <a:extLst xmlns:a="http://schemas.openxmlformats.org/drawingml/2006/main">
              <a:ext uri="{FF2B5EF4-FFF2-40B4-BE49-F238E27FC236}">
                <a16:creationId xmlns:a16="http://schemas.microsoft.com/office/drawing/2014/main" id="{2DBF628E-BEE9-4340-9B7F-BF3568A81D96}"/>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64dba018b6db47b8"/>
              </a:rPr>
              <a:t>Notebook: EDA with visualization</a:t>
            </a:r>
          </a:p>
        </p:txBody>
      </p:sp>
    </p:spTree>
    <p:extLst>
      <p:ext uri="{BB962C8B-B14F-4D97-AF65-F5344CB8AC3E}">
        <p14:creationId xmlns:p14="http://schemas.microsoft.com/office/powerpoint/2010/main" val="1007596769"/>
      </p:ext>
    </p:extLst>
  </p:cSld>
</p:sld>
</file>

<file path=ppt/slides/slide12.xml><?xml version="1.0" encoding="utf-8"?>
<p:sld xmlns:p="http://schemas.openxmlformats.org/presentationml/2006/main">
  <p:cSld>
    <p:bg>
      <p:bgPr>
        <a:blipFill xmlns:a="http://schemas.openxmlformats.org/drawingml/2006/main">
          <a:blip xmlns:r="http://schemas.openxmlformats.org/officeDocument/2006/relationships" r:embed="R3e0c859c50064c7a">
            <a:alphaModFix/>
          </a:blip>
          <a:stretch>
            <a:fillRect l="0" t="0" r="0" b="0"/>
          </a:stretch>
        </a:blipFill>
      </p:bgPr>
    </p:bg>
    <p:spTree>
      <p:nvGrpSpPr>
        <p:cNvPr id="1" name=""/>
        <p:cNvGrpSpPr/>
        <p:nvPr/>
      </p:nvGrpSpPr>
      <p:grpSpPr>
        <a:xfrm xmlns:a="http://schemas.openxmlformats.org/drawingml/2006/main"/>
      </p:grpSpPr>
      <p:sp>
        <p:nvSpPr>
          <p:cNvPr id="207" name="Google Shape;207;p38">
            <a:extLst xmlns:a="http://schemas.openxmlformats.org/drawingml/2006/main">
              <a:ext uri="{FF2B5EF4-FFF2-40B4-BE49-F238E27FC236}">
                <a16:creationId xmlns:a16="http://schemas.microsoft.com/office/drawing/2014/main" id="{005206DB-41F7-4A58-AAE4-CE0DAEBBFDFC}"/>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4DB16885-0D3F-A391-B669-3211DB3B26E8}" type="slidenum">
              <a:rPr sz="1200">
                <a:solidFill>
                  <a:srgbClr val="1C7DDB"/>
                </a:solidFill>
                <a:latin typeface="Arial"/>
                <a:ea typeface="Arial"/>
                <a:cs typeface="Arial"/>
              </a:rPr>
              <a:t>12</a:t>
            </a:fld>
            <a:endParaRPr/>
          </a:p>
        </p:txBody>
      </p:sp>
      <p:sp>
        <p:nvSpPr>
          <p:cNvPr id="209" name="Google Shape;209;p38">
            <a:extLst xmlns:a="http://schemas.openxmlformats.org/drawingml/2006/main">
              <a:ext uri="{FF2B5EF4-FFF2-40B4-BE49-F238E27FC236}">
                <a16:creationId xmlns:a16="http://schemas.microsoft.com/office/drawing/2014/main" id="{630C4675-31C3-41B9-AC8F-E30F2559538C}"/>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EDA with SQL</a:t>
            </a:r>
            <a:endParaRPr sz="3000">
              <a:solidFill>
                <a:srgbClr val="0B49CB"/>
              </a:solidFill>
              <a:latin typeface="Arial"/>
              <a:ea typeface="Arial"/>
              <a:cs typeface="Arial"/>
            </a:endParaRPr>
          </a:p>
        </p:txBody>
      </p:sp>
      <p:sp>
        <p:nvSpPr>
          <p:cNvPr id="210" name="">
            <a:extLst xmlns:a="http://schemas.openxmlformats.org/drawingml/2006/main">
              <a:ext uri="{FF2B5EF4-FFF2-40B4-BE49-F238E27FC236}">
                <a16:creationId xmlns:a16="http://schemas.microsoft.com/office/drawing/2014/main" id="{C2B733AA-11F4-4465-B0AB-1AC418BB767E}"/>
              </a:ext>
            </a:extLst>
          </p:cNvPr>
          <p:cNvSpPr>
            <a:spLocks xmlns:a="http://schemas.openxmlformats.org/drawingml/2006/main" noGrp="1"/>
          </p:cNvSpPr>
          <p:nvPr/>
        </p:nvSpPr>
        <p:spPr>
          <a:xfrm xmlns:a="http://schemas.openxmlformats.org/drawingml/2006/main">
            <a:off x="628650" y="1333500"/>
            <a:ext cx="76962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Database: </a:t>
            </a:r>
            <a:r>
              <a:t>Load 101 launch records into a SQLite table.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Filters: </a:t>
            </a:r>
            <a:r>
              <a:t>Find launch sites, customer subsets, booster versions and date ranges.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Aggregations: </a:t>
            </a:r>
            <a:r>
              <a:t>Use SUM, AVG, MIN, MAX and grouped counts to summarize missions.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Comparisons: </a:t>
            </a:r>
            <a:r>
              <a:t>Inspect drone-ship outcomes, maximum payloads and the 2015 failures.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Data audit: </a:t>
            </a:r>
            <a:r>
              <a:t>Trim outcome labels and compare exact-text filters with family-prefix filters.</a:t>
            </a:r>
          </a:p>
        </p:txBody>
      </p:sp>
      <p:sp>
        <p:nvSpPr>
          <p:cNvPr id="211" name="">
            <a:extLst xmlns:a="http://schemas.openxmlformats.org/drawingml/2006/main">
              <a:ext uri="{FF2B5EF4-FFF2-40B4-BE49-F238E27FC236}">
                <a16:creationId xmlns:a16="http://schemas.microsoft.com/office/drawing/2014/main" id="{9EFA9278-A94C-46AF-B443-8C640AB72BA5}"/>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68150d73954b4348"/>
              </a:rPr>
              <a:t>Notebook: EDA with SQLite</a:t>
            </a:r>
          </a:p>
        </p:txBody>
      </p:sp>
    </p:spTree>
    <p:extLst>
      <p:ext uri="{BB962C8B-B14F-4D97-AF65-F5344CB8AC3E}">
        <p14:creationId xmlns:p14="http://schemas.microsoft.com/office/powerpoint/2010/main" val="1874081273"/>
      </p:ext>
    </p:extLst>
  </p:cSld>
</p:sld>
</file>

<file path=ppt/slides/slide13.xml><?xml version="1.0" encoding="utf-8"?>
<p:sld xmlns:p="http://schemas.openxmlformats.org/presentationml/2006/main">
  <p:cSld>
    <p:bg>
      <p:bgPr>
        <a:blipFill xmlns:a="http://schemas.openxmlformats.org/drawingml/2006/main">
          <a:blip xmlns:r="http://schemas.openxmlformats.org/officeDocument/2006/relationships" r:embed="Reba86f5b7eac42b0">
            <a:alphaModFix/>
          </a:blip>
          <a:stretch>
            <a:fillRect l="0" t="0" r="0" b="0"/>
          </a:stretch>
        </a:blipFill>
      </p:bgPr>
    </p:bg>
    <p:spTree>
      <p:nvGrpSpPr>
        <p:cNvPr id="1" name=""/>
        <p:cNvGrpSpPr/>
        <p:nvPr/>
      </p:nvGrpSpPr>
      <p:grpSpPr>
        <a:xfrm xmlns:a="http://schemas.openxmlformats.org/drawingml/2006/main"/>
      </p:grpSpPr>
      <p:sp>
        <p:nvSpPr>
          <p:cNvPr id="214" name="Google Shape;214;p39">
            <a:extLst xmlns:a="http://schemas.openxmlformats.org/drawingml/2006/main">
              <a:ext uri="{FF2B5EF4-FFF2-40B4-BE49-F238E27FC236}">
                <a16:creationId xmlns:a16="http://schemas.microsoft.com/office/drawing/2014/main" id="{08A3F42E-A32A-4387-92EA-F15233C9C79E}"/>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2DD23107-4986-8758-3A93-3D74F35908CC}" type="slidenum">
              <a:rPr sz="1200">
                <a:solidFill>
                  <a:srgbClr val="1C7DDB"/>
                </a:solidFill>
                <a:latin typeface="Arial"/>
                <a:ea typeface="Arial"/>
                <a:cs typeface="Arial"/>
              </a:rPr>
              <a:t>13</a:t>
            </a:fld>
            <a:endParaRPr/>
          </a:p>
        </p:txBody>
      </p:sp>
      <p:sp>
        <p:nvSpPr>
          <p:cNvPr id="216" name="Google Shape;216;p39">
            <a:extLst xmlns:a="http://schemas.openxmlformats.org/drawingml/2006/main">
              <a:ext uri="{FF2B5EF4-FFF2-40B4-BE49-F238E27FC236}">
                <a16:creationId xmlns:a16="http://schemas.microsoft.com/office/drawing/2014/main" id="{262BF973-E2CA-4F72-B921-E26F847AA8F7}"/>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Interactive Map with Folium</a:t>
            </a:r>
            <a:endParaRPr sz="3000">
              <a:solidFill>
                <a:srgbClr val="0B49CB"/>
              </a:solidFill>
              <a:latin typeface="Arial"/>
              <a:ea typeface="Arial"/>
              <a:cs typeface="Arial"/>
            </a:endParaRPr>
          </a:p>
        </p:txBody>
      </p:sp>
      <p:sp>
        <p:nvSpPr>
          <p:cNvPr id="217" name="">
            <a:extLst xmlns:a="http://schemas.openxmlformats.org/drawingml/2006/main">
              <a:ext uri="{FF2B5EF4-FFF2-40B4-BE49-F238E27FC236}">
                <a16:creationId xmlns:a16="http://schemas.microsoft.com/office/drawing/2014/main" id="{76B172E8-978F-41B5-A5CA-9EE3341CF189}"/>
              </a:ext>
            </a:extLst>
          </p:cNvPr>
          <p:cNvSpPr>
            <a:spLocks xmlns:a="http://schemas.openxmlformats.org/drawingml/2006/main" noGrp="1"/>
          </p:cNvSpPr>
          <p:nvPr/>
        </p:nvSpPr>
        <p:spPr>
          <a:xfrm xmlns:a="http://schemas.openxmlformats.org/drawingml/2006/main">
            <a:off x="628650" y="1333500"/>
            <a:ext cx="76962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Location markers: </a:t>
            </a:r>
            <a:r>
              <a:t>Show four launch-site labels in the 56-record geospatial dataset.</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Outcome markers: </a:t>
            </a:r>
            <a:r>
              <a:t>Green represents Class 1 and red represents Class 0.</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MarkerCluster: </a:t>
            </a:r>
            <a:r>
              <a:t>Group overlapping launch records for interactive exploration.</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Distance line: </a:t>
            </a:r>
            <a:r>
              <a:t>Connect CCAFS LC-40 to a selected coastline point using a Haversine distance.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Map controls: </a:t>
            </a:r>
            <a:r>
              <a:t>Use zoom, popups and MousePosition to inspect coordinates.</a:t>
            </a:r>
          </a:p>
        </p:txBody>
      </p:sp>
      <p:sp>
        <p:nvSpPr>
          <p:cNvPr id="218" name="">
            <a:extLst xmlns:a="http://schemas.openxmlformats.org/drawingml/2006/main">
              <a:ext uri="{FF2B5EF4-FFF2-40B4-BE49-F238E27FC236}">
                <a16:creationId xmlns:a16="http://schemas.microsoft.com/office/drawing/2014/main" id="{FF0B922A-D308-40CC-BFE4-ED6B67F92857}"/>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e101811dec5345ae"/>
              </a:rPr>
              <a:t>Notebook: Folium map exercise</a:t>
            </a:r>
          </a:p>
        </p:txBody>
      </p:sp>
    </p:spTree>
    <p:extLst>
      <p:ext uri="{BB962C8B-B14F-4D97-AF65-F5344CB8AC3E}">
        <p14:creationId xmlns:p14="http://schemas.microsoft.com/office/powerpoint/2010/main" val="1620062821"/>
      </p:ext>
    </p:extLst>
  </p:cSld>
</p:sld>
</file>

<file path=ppt/slides/slide14.xml><?xml version="1.0" encoding="utf-8"?>
<p:sld xmlns:p="http://schemas.openxmlformats.org/presentationml/2006/main">
  <p:cSld>
    <p:bg>
      <p:bgPr>
        <a:blipFill xmlns:a="http://schemas.openxmlformats.org/drawingml/2006/main">
          <a:blip xmlns:r="http://schemas.openxmlformats.org/officeDocument/2006/relationships" r:embed="R94cda0fa609e4dfc">
            <a:alphaModFix/>
          </a:blip>
          <a:stretch>
            <a:fillRect l="0" t="0" r="0" b="0"/>
          </a:stretch>
        </a:blipFill>
      </p:bgPr>
    </p:bg>
    <p:spTree>
      <p:nvGrpSpPr>
        <p:cNvPr id="1" name=""/>
        <p:cNvGrpSpPr/>
        <p:nvPr/>
      </p:nvGrpSpPr>
      <p:grpSpPr>
        <a:xfrm xmlns:a="http://schemas.openxmlformats.org/drawingml/2006/main"/>
      </p:grpSpPr>
      <p:sp>
        <p:nvSpPr>
          <p:cNvPr id="221" name="Google Shape;221;p40">
            <a:extLst xmlns:a="http://schemas.openxmlformats.org/drawingml/2006/main">
              <a:ext uri="{FF2B5EF4-FFF2-40B4-BE49-F238E27FC236}">
                <a16:creationId xmlns:a16="http://schemas.microsoft.com/office/drawing/2014/main" id="{C88547E2-9641-4026-86D1-D21D6313C0FD}"/>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327921A4-25C4-3DB4-06B1-32693CEE2241}" type="slidenum">
              <a:rPr sz="1200">
                <a:solidFill>
                  <a:srgbClr val="1C7DDB"/>
                </a:solidFill>
                <a:latin typeface="Arial"/>
                <a:ea typeface="Arial"/>
                <a:cs typeface="Arial"/>
              </a:rPr>
              <a:t>14</a:t>
            </a:fld>
            <a:endParaRPr/>
          </a:p>
        </p:txBody>
      </p:sp>
      <p:sp>
        <p:nvSpPr>
          <p:cNvPr id="223" name="Google Shape;223;p40">
            <a:extLst xmlns:a="http://schemas.openxmlformats.org/drawingml/2006/main">
              <a:ext uri="{FF2B5EF4-FFF2-40B4-BE49-F238E27FC236}">
                <a16:creationId xmlns:a16="http://schemas.microsoft.com/office/drawing/2014/main" id="{C2F2A6C7-601F-47DF-A44C-7D7D5E80007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Dashboard with Plotly Dash</a:t>
            </a:r>
            <a:endParaRPr sz="1100"/>
          </a:p>
        </p:txBody>
      </p:sp>
      <p:sp>
        <p:nvSpPr>
          <p:cNvPr id="224" name="">
            <a:extLst xmlns:a="http://schemas.openxmlformats.org/drawingml/2006/main">
              <a:ext uri="{FF2B5EF4-FFF2-40B4-BE49-F238E27FC236}">
                <a16:creationId xmlns:a16="http://schemas.microsoft.com/office/drawing/2014/main" id="{61607333-5026-4C3F-BF3F-EE4F35DD47C5}"/>
              </a:ext>
            </a:extLst>
          </p:cNvPr>
          <p:cNvSpPr>
            <a:spLocks xmlns:a="http://schemas.openxmlformats.org/drawingml/2006/main" noGrp="1"/>
          </p:cNvSpPr>
          <p:nvPr/>
        </p:nvSpPr>
        <p:spPr>
          <a:xfrm xmlns:a="http://schemas.openxmlformats.org/drawingml/2006/main">
            <a:off x="628650" y="1333500"/>
            <a:ext cx="76962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b="1"/>
              <a:t>Site dropdown: </a:t>
            </a:r>
            <a:r>
              <a:t>Choose All Sites or one of four site labels.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Pie chart: </a:t>
            </a:r>
            <a:r>
              <a:t>All Sites compares successful-launch counts. A selected site shows success versus failure.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Payload slider: </a:t>
            </a:r>
            <a:r>
              <a:t>Filter the scatter plot over a selected payload range.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Scatter plot: </a:t>
            </a:r>
            <a:r>
              <a:t>Compare payload with binary outcomes, colored by booster version category.</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b="1"/>
              <a:t>Callbacks: </a:t>
            </a:r>
            <a:r>
              <a:t>Connect the site and payload inputs to the chart component IDs.</a:t>
            </a:r>
          </a:p>
        </p:txBody>
      </p:sp>
      <p:sp>
        <p:nvSpPr>
          <p:cNvPr id="225" name="">
            <a:extLst xmlns:a="http://schemas.openxmlformats.org/drawingml/2006/main">
              <a:ext uri="{FF2B5EF4-FFF2-40B4-BE49-F238E27FC236}">
                <a16:creationId xmlns:a16="http://schemas.microsoft.com/office/drawing/2014/main" id="{63EE429E-4BF5-425D-A1ED-D87E40C91EE8}"/>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48f14e0cc7af4050"/>
              </a:rPr>
              <a:t>Python app: SpaceX dashboard</a:t>
            </a:r>
          </a:p>
        </p:txBody>
      </p:sp>
    </p:spTree>
    <p:extLst>
      <p:ext uri="{BB962C8B-B14F-4D97-AF65-F5344CB8AC3E}">
        <p14:creationId xmlns:p14="http://schemas.microsoft.com/office/powerpoint/2010/main" val="44025627"/>
      </p:ext>
    </p:extLst>
  </p:cSld>
</p:sld>
</file>

<file path=ppt/slides/slide15.xml><?xml version="1.0" encoding="utf-8"?>
<p:sld xmlns:p="http://schemas.openxmlformats.org/presentationml/2006/main">
  <p:cSld>
    <p:bg>
      <p:bgPr>
        <a:blipFill xmlns:a="http://schemas.openxmlformats.org/drawingml/2006/main">
          <a:blip xmlns:r="http://schemas.openxmlformats.org/officeDocument/2006/relationships" r:embed="Rd6b2f7b1b3a24dc0">
            <a:alphaModFix/>
          </a:blip>
          <a:stretch>
            <a:fillRect l="0" t="0" r="0" b="0"/>
          </a:stretch>
        </a:blipFill>
      </p:bgPr>
    </p:bg>
    <p:spTree>
      <p:nvGrpSpPr>
        <p:cNvPr id="1" name=""/>
        <p:cNvGrpSpPr/>
        <p:nvPr/>
      </p:nvGrpSpPr>
      <p:grpSpPr>
        <a:xfrm xmlns:a="http://schemas.openxmlformats.org/drawingml/2006/main"/>
      </p:grpSpPr>
      <p:cxnSp>
        <p:nvCxnSpPr>
          <p:cNvPr id="238" name="">
            <a:extLst xmlns:a="http://schemas.openxmlformats.org/drawingml/2006/main">
              <a:ext uri="{FF2B5EF4-FFF2-40B4-BE49-F238E27FC236}">
                <a16:creationId xmlns:a16="http://schemas.microsoft.com/office/drawing/2014/main" id="{20DCBB1D-4A93-4DCB-BA33-DD74FDC6AD40}"/>
              </a:ext>
            </a:extLst>
          </p:cNvPr>
          <p:cNvCxnSpPr>
            <a:stCxn xmlns:a="http://schemas.openxmlformats.org/drawingml/2006/main" id="234" idx="2"/>
            <a:endCxn xmlns:a="http://schemas.openxmlformats.org/drawingml/2006/main" id="235" idx="0"/>
          </p:cNvCxnSpPr>
          <p:nvPr/>
        </p:nvCxnSpPr>
        <p:spPr>
          <a:xfrm xmlns:a="http://schemas.openxmlformats.org/drawingml/2006/main">
            <a:off x="6477000" y="345757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237" name="">
            <a:extLst xmlns:a="http://schemas.openxmlformats.org/drawingml/2006/main">
              <a:ext uri="{FF2B5EF4-FFF2-40B4-BE49-F238E27FC236}">
                <a16:creationId xmlns:a16="http://schemas.microsoft.com/office/drawing/2014/main" id="{A7C8C3AE-55B4-43B3-A518-460E451A3215}"/>
              </a:ext>
            </a:extLst>
          </p:cNvPr>
          <p:cNvCxnSpPr>
            <a:stCxn xmlns:a="http://schemas.openxmlformats.org/drawingml/2006/main" id="233" idx="2"/>
            <a:endCxn xmlns:a="http://schemas.openxmlformats.org/drawingml/2006/main" id="234" idx="0"/>
          </p:cNvCxnSpPr>
          <p:nvPr/>
        </p:nvCxnSpPr>
        <p:spPr>
          <a:xfrm xmlns:a="http://schemas.openxmlformats.org/drawingml/2006/main">
            <a:off x="6477000" y="2647950"/>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cxnSp>
        <p:nvCxnSpPr>
          <p:cNvPr id="236" name="">
            <a:extLst xmlns:a="http://schemas.openxmlformats.org/drawingml/2006/main">
              <a:ext uri="{FF2B5EF4-FFF2-40B4-BE49-F238E27FC236}">
                <a16:creationId xmlns:a16="http://schemas.microsoft.com/office/drawing/2014/main" id="{33277781-1AC7-4BEB-B983-566AD3D091EE}"/>
              </a:ext>
            </a:extLst>
          </p:cNvPr>
          <p:cNvCxnSpPr>
            <a:stCxn xmlns:a="http://schemas.openxmlformats.org/drawingml/2006/main" id="232" idx="2"/>
            <a:endCxn xmlns:a="http://schemas.openxmlformats.org/drawingml/2006/main" id="233" idx="0"/>
          </p:cNvCxnSpPr>
          <p:nvPr/>
        </p:nvCxnSpPr>
        <p:spPr>
          <a:xfrm xmlns:a="http://schemas.openxmlformats.org/drawingml/2006/main">
            <a:off x="6477000" y="1838325"/>
            <a:ext cx="0" cy="228600"/>
          </a:xfrm>
          <a:prstGeom xmlns:a="http://schemas.openxmlformats.org/drawingml/2006/main" prst="straightConnector1">
            <a:avLst/>
          </a:prstGeom>
          <a:ln xmlns:a="http://schemas.openxmlformats.org/drawingml/2006/main" w="14288">
            <a:solidFill>
              <a:srgbClr val="0B49CB"/>
            </a:solidFill>
            <a:tailEnd type="triangle" w="sm" len="sm"/>
          </a:ln>
        </p:spPr>
      </p:cxnSp>
      <p:sp>
        <p:nvSpPr>
          <p:cNvPr id="228" name="Google Shape;228;p41">
            <a:extLst xmlns:a="http://schemas.openxmlformats.org/drawingml/2006/main">
              <a:ext uri="{FF2B5EF4-FFF2-40B4-BE49-F238E27FC236}">
                <a16:creationId xmlns:a16="http://schemas.microsoft.com/office/drawing/2014/main" id="{B65EA149-76BE-4C88-93F0-42772AB35428}"/>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EA83FA91-883A-0168-8075-96CEB9DCA3C2}" type="slidenum">
              <a:rPr sz="1200">
                <a:solidFill>
                  <a:srgbClr val="1C7DDB"/>
                </a:solidFill>
                <a:latin typeface="Arial"/>
                <a:ea typeface="Arial"/>
                <a:cs typeface="Arial"/>
              </a:rPr>
              <a:t>15</a:t>
            </a:fld>
            <a:endParaRPr/>
          </a:p>
        </p:txBody>
      </p:sp>
      <p:sp>
        <p:nvSpPr>
          <p:cNvPr id="230" name="Google Shape;230;p41">
            <a:extLst xmlns:a="http://schemas.openxmlformats.org/drawingml/2006/main">
              <a:ext uri="{FF2B5EF4-FFF2-40B4-BE49-F238E27FC236}">
                <a16:creationId xmlns:a16="http://schemas.microsoft.com/office/drawing/2014/main" id="{2D0508B7-22A2-408C-813B-0784AC6737C5}"/>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Predictive Analysis: Classification</a:t>
            </a:r>
            <a:endParaRPr sz="1100"/>
          </a:p>
        </p:txBody>
      </p:sp>
      <p:sp>
        <p:nvSpPr>
          <p:cNvPr id="231" name="">
            <a:extLst xmlns:a="http://schemas.openxmlformats.org/drawingml/2006/main">
              <a:ext uri="{FF2B5EF4-FFF2-40B4-BE49-F238E27FC236}">
                <a16:creationId xmlns:a16="http://schemas.microsoft.com/office/drawing/2014/main" id="{496A976E-C51B-482B-96E7-6FC7B894EA78}"/>
              </a:ext>
            </a:extLst>
          </p:cNvPr>
          <p:cNvSpPr>
            <a:spLocks xmlns:a="http://schemas.openxmlformats.org/drawingml/2006/main" noGrp="1"/>
          </p:cNvSpPr>
          <p:nvPr/>
        </p:nvSpPr>
        <p:spPr>
          <a:xfrm xmlns:a="http://schemas.openxmlformats.org/drawingml/2006/main">
            <a:off x="628650" y="1314450"/>
            <a:ext cx="34766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Use 90 labeled rows with 80 numeric features.</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Standardize predictors, then split 72 train and 18 test rows with random_state=2.</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Tune four models with 10-fold GridSearchCV.</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Compare CV accuracy, test accuracy and confusion matrices.</a:t>
            </a:r>
          </a:p>
        </p:txBody>
      </p:sp>
      <p:sp>
        <p:nvSpPr>
          <p:cNvPr id="232" name="Feature matrix and labels">
            <a:extLst xmlns:a="http://schemas.openxmlformats.org/drawingml/2006/main">
              <a:ext uri="{FF2B5EF4-FFF2-40B4-BE49-F238E27FC236}">
                <a16:creationId xmlns:a16="http://schemas.microsoft.com/office/drawing/2014/main" id="{2636F7A5-9AC7-4429-A840-9EE0771DD471}"/>
              </a:ext>
            </a:extLst>
          </p:cNvPr>
          <p:cNvSpPr>
            <a:spLocks xmlns:a="http://schemas.openxmlformats.org/drawingml/2006/main" noGrp="1"/>
          </p:cNvSpPr>
          <p:nvPr/>
        </p:nvSpPr>
        <p:spPr>
          <a:xfrm xmlns:a="http://schemas.openxmlformats.org/drawingml/2006/main">
            <a:off x="4667250" y="125730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Feature matrix and labels</a:t>
            </a:r>
          </a:p>
        </p:txBody>
      </p:sp>
      <p:sp>
        <p:nvSpPr>
          <p:cNvPr id="233" name="StandardScaler&#10;and 80/20 split">
            <a:extLst xmlns:a="http://schemas.openxmlformats.org/drawingml/2006/main">
              <a:ext uri="{FF2B5EF4-FFF2-40B4-BE49-F238E27FC236}">
                <a16:creationId xmlns:a16="http://schemas.microsoft.com/office/drawing/2014/main" id="{E9F91D0D-AF1A-4324-9DCE-848F62822FC4}"/>
              </a:ext>
            </a:extLst>
          </p:cNvPr>
          <p:cNvSpPr>
            <a:spLocks xmlns:a="http://schemas.openxmlformats.org/drawingml/2006/main" noGrp="1"/>
          </p:cNvSpPr>
          <p:nvPr/>
        </p:nvSpPr>
        <p:spPr>
          <a:xfrm xmlns:a="http://schemas.openxmlformats.org/drawingml/2006/main">
            <a:off x="4667250" y="206692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StandardScaler</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and 80/20 split</a:t>
            </a:r>
          </a:p>
        </p:txBody>
      </p:sp>
      <p:sp>
        <p:nvSpPr>
          <p:cNvPr id="234" name="10-fold GridSearchCV&#10;Four classifiers">
            <a:extLst xmlns:a="http://schemas.openxmlformats.org/drawingml/2006/main">
              <a:ext uri="{FF2B5EF4-FFF2-40B4-BE49-F238E27FC236}">
                <a16:creationId xmlns:a16="http://schemas.microsoft.com/office/drawing/2014/main" id="{B74B471C-DA69-49F1-9E12-FDCC9E4E18B1}"/>
              </a:ext>
            </a:extLst>
          </p:cNvPr>
          <p:cNvSpPr>
            <a:spLocks xmlns:a="http://schemas.openxmlformats.org/drawingml/2006/main" noGrp="1"/>
          </p:cNvSpPr>
          <p:nvPr/>
        </p:nvSpPr>
        <p:spPr>
          <a:xfrm xmlns:a="http://schemas.openxmlformats.org/drawingml/2006/main">
            <a:off x="4667250" y="2876550"/>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10-fold GridSearchCV</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Four classifiers</a:t>
            </a:r>
          </a:p>
        </p:txBody>
      </p:sp>
      <p:sp>
        <p:nvSpPr>
          <p:cNvPr id="235" name="18-row holdout&#10;Accuracy and error analysis">
            <a:extLst xmlns:a="http://schemas.openxmlformats.org/drawingml/2006/main">
              <a:ext uri="{FF2B5EF4-FFF2-40B4-BE49-F238E27FC236}">
                <a16:creationId xmlns:a16="http://schemas.microsoft.com/office/drawing/2014/main" id="{AC693FB8-064D-4F10-B6E8-47A93EA85C0D}"/>
              </a:ext>
            </a:extLst>
          </p:cNvPr>
          <p:cNvSpPr>
            <a:spLocks xmlns:a="http://schemas.openxmlformats.org/drawingml/2006/main" noGrp="1"/>
          </p:cNvSpPr>
          <p:nvPr/>
        </p:nvSpPr>
        <p:spPr>
          <a:xfrm xmlns:a="http://schemas.openxmlformats.org/drawingml/2006/main">
            <a:off x="4667250" y="3686175"/>
            <a:ext cx="3619500" cy="581025"/>
          </a:xfrm>
          <a:prstGeom xmlns:a="http://schemas.openxmlformats.org/drawingml/2006/main" prst="rect">
            <a:avLst/>
          </a:prstGeom>
          <a:solidFill xmlns:a="http://schemas.openxmlformats.org/drawingml/2006/main">
            <a:srgbClr val="FFFFFF"/>
          </a:solidFill>
          <a:ln xmlns:a="http://schemas.openxmlformats.org/drawingml/2006/main" w="13335">
            <a:solidFill>
              <a:srgbClr val="0B49CB"/>
            </a:solidFill>
          </a:ln>
        </p:spPr>
        <p:txBody>
          <a:bodyPr xmlns:a="http://schemas.openxmlformats.org/drawingml/2006/main" lIns="76200" tIns="76200" rIns="76200" bIns="76200" anchor="ctr">
            <a:noAutofit/>
          </a:bodyPr>
          <a:lstStyle xmlns:a="http://schemas.openxmlformats.org/drawingml/2006/main">
            <a:defPPr algn="ctr">
              <a:defRPr sz="1700" b="0">
                <a:solidFill>
                  <a:srgbClr val="0B49CB"/>
                </a:solidFill>
                <a:latin typeface="Arial"/>
                <a:ea typeface="Arial"/>
                <a:cs typeface="Arial"/>
              </a:defRPr>
            </a:defPPr>
          </a:lstStyle>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18-row holdout</a:t>
            </a:r>
          </a:p>
          <a:p xmlns:a="http://schemas.openxmlformats.org/drawingml/2006/main">
            <a:pPr algn="ctr">
              <a:defRPr sz="1700" b="0">
                <a:solidFill>
                  <a:srgbClr val="0B49CB"/>
                </a:solidFill>
                <a:latin typeface="Arial"/>
                <a:ea typeface="Arial"/>
                <a:cs typeface="Arial"/>
              </a:defRPr>
            </a:pPr>
            <a:r>
              <a:rPr sz="1700" b="0">
                <a:solidFill>
                  <a:srgbClr val="0B49CB"/>
                </a:solidFill>
                <a:latin typeface="Arial"/>
                <a:ea typeface="Arial"/>
                <a:cs typeface="Arial"/>
              </a:rPr>
              <a:t>Accuracy and error analysis</a:t>
            </a:r>
          </a:p>
        </p:txBody>
      </p:sp>
      <p:sp>
        <p:nvSpPr>
          <p:cNvPr id="239" name="">
            <a:extLst xmlns:a="http://schemas.openxmlformats.org/drawingml/2006/main">
              <a:ext uri="{FF2B5EF4-FFF2-40B4-BE49-F238E27FC236}">
                <a16:creationId xmlns:a16="http://schemas.microsoft.com/office/drawing/2014/main" id="{DC1EFDA0-D4BB-4B52-B5BC-6458C367AAA7}"/>
              </a:ext>
            </a:extLst>
          </p:cNvPr>
          <p:cNvSpPr>
            <a:spLocks xmlns:a="http://schemas.openxmlformats.org/drawingml/2006/main" noGrp="1"/>
          </p:cNvSpPr>
          <p:nvPr/>
        </p:nvSpPr>
        <p:spPr>
          <a:xfrm xmlns:a="http://schemas.openxmlformats.org/drawingml/2006/main">
            <a:off x="628650" y="438150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6e80fd3d75f14e80"/>
              </a:rPr>
              <a:t>Notebook: machine learning prediction</a:t>
            </a:r>
          </a:p>
        </p:txBody>
      </p:sp>
    </p:spTree>
    <p:extLst>
      <p:ext uri="{BB962C8B-B14F-4D97-AF65-F5344CB8AC3E}">
        <p14:creationId xmlns:p14="http://schemas.microsoft.com/office/powerpoint/2010/main" val="948903860"/>
      </p:ext>
    </p:extLst>
  </p:cSld>
</p:sld>
</file>

<file path=ppt/slides/slide16.xml><?xml version="1.0" encoding="utf-8"?>
<p:sld xmlns:p="http://schemas.openxmlformats.org/presentationml/2006/main">
  <p:cSld>
    <p:bg>
      <p:bgPr>
        <a:blipFill xmlns:a="http://schemas.openxmlformats.org/drawingml/2006/main">
          <a:blip xmlns:r="http://schemas.openxmlformats.org/officeDocument/2006/relationships" r:embed="Rad8f4f4c17e24be2">
            <a:alphaModFix/>
          </a:blip>
          <a:stretch>
            <a:fillRect l="0" t="0" r="0" b="0"/>
          </a:stretch>
        </a:blipFill>
      </p:bgPr>
    </p:bg>
    <p:spTree>
      <p:nvGrpSpPr>
        <p:cNvPr id="1" name=""/>
        <p:cNvGrpSpPr/>
        <p:nvPr/>
      </p:nvGrpSpPr>
      <p:grpSpPr>
        <a:xfrm xmlns:a="http://schemas.openxmlformats.org/drawingml/2006/main"/>
      </p:grpSpPr>
      <p:sp>
        <p:nvSpPr>
          <p:cNvPr id="237" name="Google Shape;237;p42">
            <a:extLst xmlns:a="http://schemas.openxmlformats.org/drawingml/2006/main">
              <a:ext uri="{FF2B5EF4-FFF2-40B4-BE49-F238E27FC236}">
                <a16:creationId xmlns:a16="http://schemas.microsoft.com/office/drawing/2014/main" id="{03B6577A-61A9-4AC8-9DCD-990CE08404DF}"/>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DC9C7607-4BA3-B4DC-A00F-2E67A9FCFF7E}" type="slidenum">
              <a:rPr sz="1200">
                <a:solidFill>
                  <a:srgbClr val="1C7DDB"/>
                </a:solidFill>
                <a:latin typeface="Arial"/>
                <a:ea typeface="Arial"/>
                <a:cs typeface="Arial"/>
              </a:rPr>
              <a:t>16</a:t>
            </a:fld>
            <a:endParaRPr/>
          </a:p>
        </p:txBody>
      </p:sp>
      <p:sp>
        <p:nvSpPr>
          <p:cNvPr id="238" name="Google Shape;238;p42">
            <a:extLst xmlns:a="http://schemas.openxmlformats.org/drawingml/2006/main">
              <a:ext uri="{FF2B5EF4-FFF2-40B4-BE49-F238E27FC236}">
                <a16:creationId xmlns:a16="http://schemas.microsoft.com/office/drawing/2014/main" id="{C6442B6C-1F80-4560-9CCB-AC0270806066}"/>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Results</a:t>
            </a:r>
            <a:endParaRPr sz="3000">
              <a:solidFill>
                <a:srgbClr val="0B49CB"/>
              </a:solidFill>
              <a:latin typeface="Arial"/>
              <a:ea typeface="Arial"/>
              <a:cs typeface="Arial"/>
            </a:endParaRPr>
          </a:p>
        </p:txBody>
      </p:sp>
      <p:sp>
        <p:nvSpPr>
          <p:cNvPr id="239" name="">
            <a:extLst xmlns:a="http://schemas.openxmlformats.org/drawingml/2006/main">
              <a:ext uri="{FF2B5EF4-FFF2-40B4-BE49-F238E27FC236}">
                <a16:creationId xmlns:a16="http://schemas.microsoft.com/office/drawing/2014/main" id="{1D2D25C0-4B71-4FA0-92AC-1C91645EC422}"/>
              </a:ext>
            </a:extLst>
          </p:cNvPr>
          <p:cNvSpPr>
            <a:spLocks xmlns:a="http://schemas.openxmlformats.org/drawingml/2006/main" noGrp="1"/>
          </p:cNvSpPr>
          <p:nvPr/>
        </p:nvSpPr>
        <p:spPr>
          <a:xfrm xmlns:a="http://schemas.openxmlformats.org/drawingml/2006/main">
            <a:off x="628650" y="1333500"/>
            <a:ext cx="76676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800"/>
              </a:spcAft>
              <a:buChar char="•"/>
              <a:defRPr sz="1700" b="0">
                <a:solidFill>
                  <a:srgbClr val="292929"/>
                </a:solidFill>
                <a:latin typeface="Arial"/>
                <a:ea typeface="Arial"/>
                <a:cs typeface="Arial"/>
              </a:defRPr>
            </a:pPr>
            <a:r>
              <a:rPr sz="1700" b="0">
                <a:solidFill>
                  <a:srgbClr val="292929"/>
                </a:solidFill>
                <a:latin typeface="Arial"/>
                <a:ea typeface="Arial"/>
                <a:cs typeface="Arial"/>
              </a:rPr>
              <a:t>EDA: observed success rates differ by site, orbit and year.</a:t>
            </a:r>
          </a:p>
          <a:p xmlns:a="http://schemas.openxmlformats.org/drawingml/2006/main">
            <a:pPr marL="190500" indent="-127000" algn="l">
              <a:spcAft>
                <a:spcPts val="1800"/>
              </a:spcAft>
              <a:buChar char="•"/>
              <a:defRPr sz="1700" b="0">
                <a:solidFill>
                  <a:srgbClr val="292929"/>
                </a:solidFill>
                <a:latin typeface="Arial"/>
                <a:ea typeface="Arial"/>
                <a:cs typeface="Arial"/>
              </a:defRPr>
            </a:pPr>
            <a:r>
              <a:rPr sz="1700" b="0">
                <a:solidFill>
                  <a:srgbClr val="292929"/>
                </a:solidFill>
                <a:latin typeface="Arial"/>
                <a:ea typeface="Arial"/>
                <a:cs typeface="Arial"/>
              </a:rPr>
              <a:t>SQL: launch history, payload summaries and outcome rankings.</a:t>
            </a:r>
          </a:p>
          <a:p xmlns:a="http://schemas.openxmlformats.org/drawingml/2006/main">
            <a:pPr marL="190500" indent="-127000" algn="l">
              <a:spcAft>
                <a:spcPts val="1800"/>
              </a:spcAft>
              <a:buChar char="•"/>
              <a:defRPr sz="1700" b="0">
                <a:solidFill>
                  <a:srgbClr val="292929"/>
                </a:solidFill>
                <a:latin typeface="Arial"/>
                <a:ea typeface="Arial"/>
                <a:cs typeface="Arial"/>
              </a:defRPr>
            </a:pPr>
            <a:r>
              <a:rPr sz="1700" b="0">
                <a:solidFill>
                  <a:srgbClr val="292929"/>
                </a:solidFill>
                <a:latin typeface="Arial"/>
                <a:ea typeface="Arial"/>
                <a:cs typeface="Arial"/>
              </a:rPr>
              <a:t>Interactive analytics: launch locations, dashboard filters and payload comparisons.</a:t>
            </a:r>
          </a:p>
          <a:p xmlns:a="http://schemas.openxmlformats.org/drawingml/2006/main">
            <a:pPr marL="190500" indent="-127000" algn="l">
              <a:spcAft>
                <a:spcPts val="1800"/>
              </a:spcAft>
              <a:buChar char="•"/>
              <a:defRPr sz="1700" b="0">
                <a:solidFill>
                  <a:srgbClr val="292929"/>
                </a:solidFill>
                <a:latin typeface="Arial"/>
                <a:ea typeface="Arial"/>
                <a:cs typeface="Arial"/>
              </a:defRPr>
            </a:pPr>
            <a:r>
              <a:rPr sz="1700" b="0">
                <a:solidFill>
                  <a:srgbClr val="292929"/>
                </a:solidFill>
                <a:latin typeface="Arial"/>
                <a:ea typeface="Arial"/>
                <a:cs typeface="Arial"/>
              </a:rPr>
              <a:t>Prediction: four models share 83.33% accuracy on the 18-row test set.</a:t>
            </a:r>
          </a:p>
        </p:txBody>
      </p:sp>
    </p:spTree>
    <p:extLst>
      <p:ext uri="{BB962C8B-B14F-4D97-AF65-F5344CB8AC3E}">
        <p14:creationId xmlns:p14="http://schemas.microsoft.com/office/powerpoint/2010/main" val="611107914"/>
      </p:ext>
    </p:extLst>
  </p:cSld>
</p:sld>
</file>

<file path=ppt/slides/slide17.xml><?xml version="1.0" encoding="utf-8"?>
<p:sld xmlns:p="http://schemas.openxmlformats.org/presentationml/2006/main">
  <p:cSld>
    <p:bg>
      <p:bgPr>
        <a:blipFill xmlns:a="http://schemas.openxmlformats.org/drawingml/2006/main">
          <a:blip xmlns:r="http://schemas.openxmlformats.org/officeDocument/2006/relationships" r:embed="R1fbea18114fc4197">
            <a:alphaModFix/>
          </a:blip>
          <a:stretch>
            <a:fillRect l="0" t="0" r="0" b="0"/>
          </a:stretch>
        </a:blipFill>
      </p:bgPr>
    </p:bg>
    <p:spTree>
      <p:nvGrpSpPr>
        <p:cNvPr id="1" name=""/>
        <p:cNvGrpSpPr/>
        <p:nvPr/>
      </p:nvGrpSpPr>
      <p:grpSpPr>
        <a:xfrm xmlns:a="http://schemas.openxmlformats.org/drawingml/2006/main"/>
      </p:grpSpPr>
      <p:sp>
        <p:nvSpPr>
          <p:cNvPr id="243" name="Google Shape;243;p43">
            <a:extLst xmlns:a="http://schemas.openxmlformats.org/drawingml/2006/main">
              <a:ext uri="{FF2B5EF4-FFF2-40B4-BE49-F238E27FC236}">
                <a16:creationId xmlns:a16="http://schemas.microsoft.com/office/drawing/2014/main" id="{E080CAC7-6DAC-4160-B8A4-50A5200126ED}"/>
              </a:ext>
            </a:extLst>
          </p:cNvPr>
          <p:cNvSpPr>
            <a:spLocks xmlns:a="http://schemas.openxmlformats.org/drawingml/2006/main" noGrp="1"/>
          </p:cNvSpPr>
          <p:nvPr/>
        </p:nvSpPr>
        <p:spPr>
          <a:xfrm xmlns:a="http://schemas.openxmlformats.org/drawingml/2006/main">
            <a:off x="598477" y="1897310"/>
            <a:ext cx="793727" cy="276999"/>
          </a:xfrm>
          <a:prstGeom xmlns:a="http://schemas.openxmlformats.org/drawingml/2006/main" prst="rect">
            <a:avLst/>
          </a:prstGeom>
          <a:solidFill xmlns:a="http://schemas.openxmlformats.org/drawingml/2006/main">
            <a:srgbClr val="0948CB"/>
          </a:solidFill>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marR="0" lvl="0" indent="0" algn="l">
              <a:spcBef>
                <a:spcPts val="0"/>
              </a:spcBef>
              <a:spcAft>
                <a:spcPts val="0"/>
              </a:spcAft>
              <a:buNone/>
            </a:pPr>
            <a:r>
              <a:rPr sz="1400">
                <a:solidFill>
                  <a:schemeClr val="lt1"/>
                </a:solidFill>
                <a:latin typeface="Arial"/>
                <a:ea typeface="Arial"/>
                <a:cs typeface="Arial"/>
              </a:rPr>
              <a:t>Section 2</a:t>
            </a:r>
            <a:endParaRPr sz="1100"/>
          </a:p>
        </p:txBody>
      </p:sp>
    </p:spTree>
    <p:extLst>
      <p:ext uri="{BB962C8B-B14F-4D97-AF65-F5344CB8AC3E}">
        <p14:creationId xmlns:p14="http://schemas.microsoft.com/office/powerpoint/2010/main" val="32739486"/>
      </p:ext>
    </p:extLst>
  </p:cSld>
</p:sld>
</file>

<file path=ppt/slides/slide18.xml><?xml version="1.0" encoding="utf-8"?>
<p:sld xmlns:p="http://schemas.openxmlformats.org/presentationml/2006/main">
  <p:cSld>
    <p:bg>
      <p:bgPr>
        <a:blipFill xmlns:a="http://schemas.openxmlformats.org/drawingml/2006/main">
          <a:blip xmlns:r="http://schemas.openxmlformats.org/officeDocument/2006/relationships" r:embed="Ra05ac5f13e9d4264">
            <a:alphaModFix/>
          </a:blip>
          <a:stretch>
            <a:fillRect l="0" t="0" r="0" b="0"/>
          </a:stretch>
        </a:blipFill>
      </p:bgPr>
    </p:bg>
    <p:spTree>
      <p:nvGrpSpPr>
        <p:cNvPr id="1" name=""/>
        <p:cNvGrpSpPr/>
        <p:nvPr/>
      </p:nvGrpSpPr>
      <p:grpSpPr>
        <a:xfrm xmlns:a="http://schemas.openxmlformats.org/drawingml/2006/main"/>
      </p:grpSpPr>
      <p:sp>
        <p:nvSpPr>
          <p:cNvPr id="248" name="Google Shape;248;p44">
            <a:extLst xmlns:a="http://schemas.openxmlformats.org/drawingml/2006/main">
              <a:ext uri="{FF2B5EF4-FFF2-40B4-BE49-F238E27FC236}">
                <a16:creationId xmlns:a16="http://schemas.microsoft.com/office/drawing/2014/main" id="{386F8702-45D8-4FDD-8D70-08D998D5663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B1C6C81E-38B9-7560-621D-5A151A79DF9B}" type="slidenum">
              <a:rPr sz="1200">
                <a:solidFill>
                  <a:srgbClr val="1C7DDB"/>
                </a:solidFill>
                <a:latin typeface="Arial"/>
                <a:ea typeface="Arial"/>
                <a:cs typeface="Arial"/>
              </a:rPr>
              <a:t>18</a:t>
            </a:fld>
            <a:endParaRPr/>
          </a:p>
        </p:txBody>
      </p:sp>
      <p:sp>
        <p:nvSpPr>
          <p:cNvPr id="250" name="Google Shape;250;p44">
            <a:extLst xmlns:a="http://schemas.openxmlformats.org/drawingml/2006/main">
              <a:ext uri="{FF2B5EF4-FFF2-40B4-BE49-F238E27FC236}">
                <a16:creationId xmlns:a16="http://schemas.microsoft.com/office/drawing/2014/main" id="{295FC45D-7D1A-468C-933B-4AB1B9D5A9CF}"/>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Flight Number vs. Launch Site</a:t>
            </a:r>
            <a:endParaRPr sz="3000">
              <a:solidFill>
                <a:srgbClr val="0B49CB"/>
              </a:solidFill>
              <a:latin typeface="Arial"/>
              <a:ea typeface="Arial"/>
              <a:cs typeface="Arial"/>
            </a:endParaRPr>
          </a:p>
        </p:txBody>
      </p:sp>
      <p:sp>
        <p:nvSpPr>
          <p:cNvPr id="251" name="">
            <a:extLst xmlns:a="http://schemas.openxmlformats.org/drawingml/2006/main">
              <a:ext uri="{FF2B5EF4-FFF2-40B4-BE49-F238E27FC236}">
                <a16:creationId xmlns:a16="http://schemas.microsoft.com/office/drawing/2014/main" id="{FF12A32E-AE7D-4AA9-8A7F-48F2BB0D4C2C}"/>
              </a:ext>
            </a:extLst>
          </p:cNvPr>
          <p:cNvSpPr>
            <a:spLocks xmlns:a="http://schemas.openxmlformats.org/drawingml/2006/main" noGrp="1"/>
          </p:cNvSpPr>
          <p:nvPr/>
        </p:nvSpPr>
        <p:spPr>
          <a:xfrm xmlns:a="http://schemas.openxmlformats.org/drawingml/2006/main">
            <a:off x="628650" y="1495425"/>
            <a:ext cx="27622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CCAFS SLC 40 has the most launches: 55 of 90.</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KSC LC 39A records 17 successes in 22 launches.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Later flight numbers contain more successful outcomes.</a:t>
            </a:r>
          </a:p>
        </p:txBody>
      </p:sp>
      <p:pic>
        <p:nvPicPr>
          <p:cNvPr id="252" name="">
            <a:extLst xmlns:a="http://schemas.openxmlformats.org/drawingml/2006/main">
              <a:ext uri="{FF2B5EF4-FFF2-40B4-BE49-F238E27FC236}">
                <a16:creationId xmlns:a16="http://schemas.microsoft.com/office/drawing/2014/main" id="{6ED68390-985B-4019-B7BF-7A12E557DBA3}"/>
              </a:ext>
            </a:extLst>
          </p:cNvPr>
          <p:cNvPicPr>
            <a:picLocks xmlns:a="http://schemas.openxmlformats.org/drawingml/2006/main" noChangeAspect="1"/>
          </p:cNvPicPr>
          <p:nvPr/>
        </p:nvPicPr>
        <p:blipFill>
          <a:blip xmlns:r="http://schemas.openxmlformats.org/officeDocument/2006/relationships" xmlns:a="http://schemas.openxmlformats.org/drawingml/2006/main" r:embed="R486076f8ed4d4d5c"/>
          <a:stretch xmlns:a="http://schemas.openxmlformats.org/drawingml/2006/main"/>
        </p:blipFill>
        <p:spPr>
          <a:xfrm xmlns:a="http://schemas.openxmlformats.org/drawingml/2006/main">
            <a:off x="3695892" y="1200150"/>
            <a:ext cx="4714491" cy="3200400"/>
          </a:xfrm>
          <a:prstGeom xmlns:a="http://schemas.openxmlformats.org/drawingml/2006/main" prst="rect">
            <a:avLst/>
          </a:prstGeom>
        </p:spPr>
      </p:pic>
    </p:spTree>
    <p:extLst>
      <p:ext uri="{BB962C8B-B14F-4D97-AF65-F5344CB8AC3E}">
        <p14:creationId xmlns:p14="http://schemas.microsoft.com/office/powerpoint/2010/main" val="932168227"/>
      </p:ext>
    </p:extLst>
  </p:cSld>
</p:sld>
</file>

<file path=ppt/slides/slide19.xml><?xml version="1.0" encoding="utf-8"?>
<p:sld xmlns:p="http://schemas.openxmlformats.org/presentationml/2006/main">
  <p:cSld>
    <p:bg>
      <p:bgPr>
        <a:blipFill xmlns:a="http://schemas.openxmlformats.org/drawingml/2006/main">
          <a:blip xmlns:r="http://schemas.openxmlformats.org/officeDocument/2006/relationships" r:embed="R51147f8ebdf04f15">
            <a:alphaModFix/>
          </a:blip>
          <a:stretch>
            <a:fillRect l="0" t="0" r="0" b="0"/>
          </a:stretch>
        </a:blipFill>
      </p:bgPr>
    </p:bg>
    <p:spTree>
      <p:nvGrpSpPr>
        <p:cNvPr id="1" name=""/>
        <p:cNvGrpSpPr/>
        <p:nvPr/>
      </p:nvGrpSpPr>
      <p:grpSpPr>
        <a:xfrm xmlns:a="http://schemas.openxmlformats.org/drawingml/2006/main"/>
      </p:grpSpPr>
      <p:sp>
        <p:nvSpPr>
          <p:cNvPr id="255" name="Google Shape;255;p45">
            <a:extLst xmlns:a="http://schemas.openxmlformats.org/drawingml/2006/main">
              <a:ext uri="{FF2B5EF4-FFF2-40B4-BE49-F238E27FC236}">
                <a16:creationId xmlns:a16="http://schemas.microsoft.com/office/drawing/2014/main" id="{F6525E66-E4FA-44D2-BD9B-7FF6CA4B7883}"/>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CCF91274-D221-1BB4-3BF9-836E3AD31EBE}" type="slidenum">
              <a:rPr sz="1200">
                <a:solidFill>
                  <a:srgbClr val="1C7DDB"/>
                </a:solidFill>
                <a:latin typeface="Arial"/>
                <a:ea typeface="Arial"/>
                <a:cs typeface="Arial"/>
              </a:rPr>
              <a:t>19</a:t>
            </a:fld>
            <a:endParaRPr/>
          </a:p>
        </p:txBody>
      </p:sp>
      <p:sp>
        <p:nvSpPr>
          <p:cNvPr id="257" name="Google Shape;257;p45">
            <a:extLst xmlns:a="http://schemas.openxmlformats.org/drawingml/2006/main">
              <a:ext uri="{FF2B5EF4-FFF2-40B4-BE49-F238E27FC236}">
                <a16:creationId xmlns:a16="http://schemas.microsoft.com/office/drawing/2014/main" id="{3E80731D-27D4-4340-902E-68EA20F8F707}"/>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Payload vs. Launch Site</a:t>
            </a:r>
            <a:endParaRPr sz="1100"/>
          </a:p>
        </p:txBody>
      </p:sp>
      <p:sp>
        <p:nvSpPr>
          <p:cNvPr id="258" name="">
            <a:extLst xmlns:a="http://schemas.openxmlformats.org/drawingml/2006/main">
              <a:ext uri="{FF2B5EF4-FFF2-40B4-BE49-F238E27FC236}">
                <a16:creationId xmlns:a16="http://schemas.microsoft.com/office/drawing/2014/main" id="{00C561AC-96F2-46C5-AA42-D75769B57DFA}"/>
              </a:ext>
            </a:extLst>
          </p:cNvPr>
          <p:cNvSpPr>
            <a:spLocks xmlns:a="http://schemas.openxmlformats.org/drawingml/2006/main" noGrp="1"/>
          </p:cNvSpPr>
          <p:nvPr/>
        </p:nvSpPr>
        <p:spPr>
          <a:xfrm xmlns:a="http://schemas.openxmlformats.org/drawingml/2006/main">
            <a:off x="628650" y="1495425"/>
            <a:ext cx="27622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Success and failure overlap across payload ranges.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VAFB SLC 4E has no launch above 10,000 kg in this sample.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Payload alone does not separate outcomes.</a:t>
            </a:r>
          </a:p>
        </p:txBody>
      </p:sp>
      <p:pic>
        <p:nvPicPr>
          <p:cNvPr id="259" name="">
            <a:extLst xmlns:a="http://schemas.openxmlformats.org/drawingml/2006/main">
              <a:ext uri="{FF2B5EF4-FFF2-40B4-BE49-F238E27FC236}">
                <a16:creationId xmlns:a16="http://schemas.microsoft.com/office/drawing/2014/main" id="{B1565450-FAC1-43B0-9E7A-ADF1EAB23F15}"/>
              </a:ext>
            </a:extLst>
          </p:cNvPr>
          <p:cNvPicPr>
            <a:picLocks xmlns:a="http://schemas.openxmlformats.org/drawingml/2006/main" noChangeAspect="1"/>
          </p:cNvPicPr>
          <p:nvPr/>
        </p:nvPicPr>
        <p:blipFill>
          <a:blip xmlns:r="http://schemas.openxmlformats.org/officeDocument/2006/relationships" xmlns:a="http://schemas.openxmlformats.org/drawingml/2006/main" r:embed="R56986f8f2c2d43b8"/>
          <a:stretch xmlns:a="http://schemas.openxmlformats.org/drawingml/2006/main"/>
        </p:blipFill>
        <p:spPr>
          <a:xfrm xmlns:a="http://schemas.openxmlformats.org/drawingml/2006/main">
            <a:off x="3656425" y="1200150"/>
            <a:ext cx="4793424" cy="3200400"/>
          </a:xfrm>
          <a:prstGeom xmlns:a="http://schemas.openxmlformats.org/drawingml/2006/main" prst="rect">
            <a:avLst/>
          </a:prstGeom>
        </p:spPr>
      </p:pic>
    </p:spTree>
    <p:extLst>
      <p:ext uri="{BB962C8B-B14F-4D97-AF65-F5344CB8AC3E}">
        <p14:creationId xmlns:p14="http://schemas.microsoft.com/office/powerpoint/2010/main" val="1283439859"/>
      </p:ext>
    </p:extLst>
  </p:cSld>
</p:sld>
</file>

<file path=ppt/slides/slide20.xml><?xml version="1.0" encoding="utf-8"?>
<p:sld xmlns:p="http://schemas.openxmlformats.org/presentationml/2006/main">
  <p:cSld>
    <p:bg>
      <p:bgPr>
        <a:blipFill xmlns:a="http://schemas.openxmlformats.org/drawingml/2006/main">
          <a:blip xmlns:r="http://schemas.openxmlformats.org/officeDocument/2006/relationships" r:embed="R559f37abcfe14aee">
            <a:alphaModFix/>
          </a:blip>
          <a:stretch>
            <a:fillRect l="0" t="0" r="0" b="0"/>
          </a:stretch>
        </a:blipFill>
      </p:bgPr>
    </p:bg>
    <p:spTree>
      <p:nvGrpSpPr>
        <p:cNvPr id="1" name=""/>
        <p:cNvGrpSpPr/>
        <p:nvPr/>
      </p:nvGrpSpPr>
      <p:grpSpPr>
        <a:xfrm xmlns:a="http://schemas.openxmlformats.org/drawingml/2006/main"/>
      </p:grpSpPr>
      <p:sp>
        <p:nvSpPr>
          <p:cNvPr id="262" name="Google Shape;262;p46">
            <a:extLst xmlns:a="http://schemas.openxmlformats.org/drawingml/2006/main">
              <a:ext uri="{FF2B5EF4-FFF2-40B4-BE49-F238E27FC236}">
                <a16:creationId xmlns:a16="http://schemas.microsoft.com/office/drawing/2014/main" id="{C65D5CD6-A2A5-444C-BC79-A12EEF21601B}"/>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844E025A-983C-6D44-79C6-4612AACD43FC}" type="slidenum">
              <a:rPr sz="1200">
                <a:solidFill>
                  <a:srgbClr val="1C7DDB"/>
                </a:solidFill>
                <a:latin typeface="Arial"/>
                <a:ea typeface="Arial"/>
                <a:cs typeface="Arial"/>
              </a:rPr>
              <a:t>20</a:t>
            </a:fld>
            <a:endParaRPr/>
          </a:p>
        </p:txBody>
      </p:sp>
      <p:sp>
        <p:nvSpPr>
          <p:cNvPr id="264" name="Google Shape;264;p46">
            <a:extLst xmlns:a="http://schemas.openxmlformats.org/drawingml/2006/main">
              <a:ext uri="{FF2B5EF4-FFF2-40B4-BE49-F238E27FC236}">
                <a16:creationId xmlns:a16="http://schemas.microsoft.com/office/drawing/2014/main" id="{C346A49A-B0C9-486A-92BF-8CECB5DAB5C8}"/>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Success Rate vs. Orbit Type</a:t>
            </a:r>
            <a:endParaRPr sz="3000">
              <a:solidFill>
                <a:srgbClr val="0B49CB"/>
              </a:solidFill>
              <a:latin typeface="Arial"/>
              <a:ea typeface="Arial"/>
              <a:cs typeface="Arial"/>
            </a:endParaRPr>
          </a:p>
        </p:txBody>
      </p:sp>
      <p:sp>
        <p:nvSpPr>
          <p:cNvPr id="265" name="">
            <a:extLst xmlns:a="http://schemas.openxmlformats.org/drawingml/2006/main">
              <a:ext uri="{FF2B5EF4-FFF2-40B4-BE49-F238E27FC236}">
                <a16:creationId xmlns:a16="http://schemas.microsoft.com/office/drawing/2014/main" id="{F5607D22-D243-4BB3-9D4A-67DBBECA5AD3}"/>
              </a:ext>
            </a:extLst>
          </p:cNvPr>
          <p:cNvSpPr>
            <a:spLocks xmlns:a="http://schemas.openxmlformats.org/drawingml/2006/main" noGrp="1"/>
          </p:cNvSpPr>
          <p:nvPr/>
        </p:nvSpPr>
        <p:spPr>
          <a:xfrm xmlns:a="http://schemas.openxmlformats.org/drawingml/2006/main">
            <a:off x="628650" y="1495425"/>
            <a:ext cx="266700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SSO has 5 successes in 5 launches.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GTO records 14 successes in 27 launches, about 51.9%.</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Three 100% orbit rates rely on one launch each.</a:t>
            </a:r>
          </a:p>
        </p:txBody>
      </p:sp>
      <p:graphicFrame>
        <p:nvGraphicFramePr>
          <p:cNvPr id="266" name="Chart">
            <a:extLst xmlns:a="http://schemas.openxmlformats.org/drawingml/2006/main">
              <a:ext uri="{FF2B5EF4-FFF2-40B4-BE49-F238E27FC236}">
                <a16:creationId xmlns:a16="http://schemas.microsoft.com/office/drawing/2014/main" id="{434B144E-7979-45A3-A051-34D708BF2E76}"/>
              </a:ext>
            </a:extLst>
          </p:cNvPr>
          <p:cNvGraphicFramePr/>
          <p:nvPr/>
        </p:nvGraphicFramePr>
        <p:xfrm>
          <a:off xmlns:a="http://schemas.openxmlformats.org/drawingml/2006/main" x="3524250" y="1190625"/>
          <a:ext xmlns:a="http://schemas.openxmlformats.org/drawingml/2006/main" cx="4991100" cy="3190875"/>
        </p:xfrm>
        <a:graphic xmlns:a="http://schemas.openxmlformats.org/drawingml/2006/main">
          <a:graphicData uri="http://schemas.openxmlformats.org/drawingml/2006/chart">
            <c:chart xmlns:r="http://schemas.openxmlformats.org/officeDocument/2006/relationships" xmlns:c="http://schemas.openxmlformats.org/drawingml/2006/chart" r:id="Rc72f9e8b7802472f"/>
          </a:graphicData>
        </a:graphic>
      </p:graphicFrame>
    </p:spTree>
    <p:extLst>
      <p:ext uri="{BB962C8B-B14F-4D97-AF65-F5344CB8AC3E}">
        <p14:creationId xmlns:p14="http://schemas.microsoft.com/office/powerpoint/2010/main" val="1795869473"/>
      </p:ext>
    </p:extLst>
  </p:cSld>
</p:sld>
</file>

<file path=ppt/slides/slide21.xml><?xml version="1.0" encoding="utf-8"?>
<p:sld xmlns:p="http://schemas.openxmlformats.org/presentationml/2006/main">
  <p:cSld>
    <p:bg>
      <p:bgPr>
        <a:blipFill xmlns:a="http://schemas.openxmlformats.org/drawingml/2006/main">
          <a:blip xmlns:r="http://schemas.openxmlformats.org/officeDocument/2006/relationships" r:embed="R6c67a6dbefb84717">
            <a:alphaModFix/>
          </a:blip>
          <a:stretch>
            <a:fillRect l="0" t="0" r="0" b="0"/>
          </a:stretch>
        </a:blipFill>
      </p:bgPr>
    </p:bg>
    <p:spTree>
      <p:nvGrpSpPr>
        <p:cNvPr id="1" name=""/>
        <p:cNvGrpSpPr/>
        <p:nvPr/>
      </p:nvGrpSpPr>
      <p:grpSpPr>
        <a:xfrm xmlns:a="http://schemas.openxmlformats.org/drawingml/2006/main"/>
      </p:grpSpPr>
      <p:sp>
        <p:nvSpPr>
          <p:cNvPr id="269" name="Google Shape;269;p47">
            <a:extLst xmlns:a="http://schemas.openxmlformats.org/drawingml/2006/main">
              <a:ext uri="{FF2B5EF4-FFF2-40B4-BE49-F238E27FC236}">
                <a16:creationId xmlns:a16="http://schemas.microsoft.com/office/drawing/2014/main" id="{E9B3E4BC-44D2-4F56-B6A6-6A9ED3F5B8DC}"/>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F6DF2BE2-2DFA-1C03-677D-BDC2260D6D92}" type="slidenum">
              <a:rPr sz="1200">
                <a:solidFill>
                  <a:srgbClr val="1C7DDB"/>
                </a:solidFill>
                <a:latin typeface="Arial"/>
                <a:ea typeface="Arial"/>
                <a:cs typeface="Arial"/>
              </a:rPr>
              <a:t>21</a:t>
            </a:fld>
            <a:endParaRPr/>
          </a:p>
        </p:txBody>
      </p:sp>
      <p:sp>
        <p:nvSpPr>
          <p:cNvPr id="271" name="Google Shape;271;p47">
            <a:extLst xmlns:a="http://schemas.openxmlformats.org/drawingml/2006/main">
              <a:ext uri="{FF2B5EF4-FFF2-40B4-BE49-F238E27FC236}">
                <a16:creationId xmlns:a16="http://schemas.microsoft.com/office/drawing/2014/main" id="{7CF232AE-CA42-4451-9CF7-84915F6C5578}"/>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Flight Number vs. Orbit Type</a:t>
            </a:r>
            <a:endParaRPr sz="3000">
              <a:solidFill>
                <a:srgbClr val="0B49CB"/>
              </a:solidFill>
              <a:latin typeface="Arial"/>
              <a:ea typeface="Arial"/>
              <a:cs typeface="Arial"/>
            </a:endParaRPr>
          </a:p>
        </p:txBody>
      </p:sp>
      <p:sp>
        <p:nvSpPr>
          <p:cNvPr id="272" name="">
            <a:extLst xmlns:a="http://schemas.openxmlformats.org/drawingml/2006/main">
              <a:ext uri="{FF2B5EF4-FFF2-40B4-BE49-F238E27FC236}">
                <a16:creationId xmlns:a16="http://schemas.microsoft.com/office/drawing/2014/main" id="{7A2D045C-0023-4073-8C6C-305B81EE118F}"/>
              </a:ext>
            </a:extLst>
          </p:cNvPr>
          <p:cNvSpPr>
            <a:spLocks xmlns:a="http://schemas.openxmlformats.org/drawingml/2006/main" noGrp="1"/>
          </p:cNvSpPr>
          <p:nvPr/>
        </p:nvSpPr>
        <p:spPr>
          <a:xfrm xmlns:a="http://schemas.openxmlformats.org/drawingml/2006/main">
            <a:off x="628650" y="1495425"/>
            <a:ext cx="27622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GTO and ISS have the most records: 27 and 21 launches.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Later VLEO flights are mostly successful.</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Flight number also reflects time and changing technology.</a:t>
            </a:r>
          </a:p>
        </p:txBody>
      </p:sp>
      <p:pic>
        <p:nvPicPr>
          <p:cNvPr id="273" name="">
            <a:extLst xmlns:a="http://schemas.openxmlformats.org/drawingml/2006/main">
              <a:ext uri="{FF2B5EF4-FFF2-40B4-BE49-F238E27FC236}">
                <a16:creationId xmlns:a16="http://schemas.microsoft.com/office/drawing/2014/main" id="{BACF9AE3-FE83-46B5-98CA-9742B9C699B0}"/>
              </a:ext>
            </a:extLst>
          </p:cNvPr>
          <p:cNvPicPr>
            <a:picLocks xmlns:a="http://schemas.openxmlformats.org/drawingml/2006/main" noChangeAspect="1"/>
          </p:cNvPicPr>
          <p:nvPr/>
        </p:nvPicPr>
        <p:blipFill>
          <a:blip xmlns:r="http://schemas.openxmlformats.org/officeDocument/2006/relationships" xmlns:a="http://schemas.openxmlformats.org/drawingml/2006/main" r:embed="Re5535b977c2941a6"/>
          <a:stretch xmlns:a="http://schemas.openxmlformats.org/drawingml/2006/main"/>
        </p:blipFill>
        <p:spPr>
          <a:xfrm xmlns:a="http://schemas.openxmlformats.org/drawingml/2006/main">
            <a:off x="3907578" y="1200150"/>
            <a:ext cx="4291119" cy="3200400"/>
          </a:xfrm>
          <a:prstGeom xmlns:a="http://schemas.openxmlformats.org/drawingml/2006/main" prst="rect">
            <a:avLst/>
          </a:prstGeom>
        </p:spPr>
      </p:pic>
    </p:spTree>
    <p:extLst>
      <p:ext uri="{BB962C8B-B14F-4D97-AF65-F5344CB8AC3E}">
        <p14:creationId xmlns:p14="http://schemas.microsoft.com/office/powerpoint/2010/main" val="742448406"/>
      </p:ext>
    </p:extLst>
  </p:cSld>
</p:sld>
</file>

<file path=ppt/slides/slide22.xml><?xml version="1.0" encoding="utf-8"?>
<p:sld xmlns:p="http://schemas.openxmlformats.org/presentationml/2006/main">
  <p:cSld>
    <p:bg>
      <p:bgPr>
        <a:blipFill xmlns:a="http://schemas.openxmlformats.org/drawingml/2006/main">
          <a:blip xmlns:r="http://schemas.openxmlformats.org/officeDocument/2006/relationships" r:embed="R37beb4fe92c847e4">
            <a:alphaModFix/>
          </a:blip>
          <a:stretch>
            <a:fillRect l="0" t="0" r="0" b="0"/>
          </a:stretch>
        </a:blipFill>
      </p:bgPr>
    </p:bg>
    <p:spTree>
      <p:nvGrpSpPr>
        <p:cNvPr id="1" name=""/>
        <p:cNvGrpSpPr/>
        <p:nvPr/>
      </p:nvGrpSpPr>
      <p:grpSpPr>
        <a:xfrm xmlns:a="http://schemas.openxmlformats.org/drawingml/2006/main"/>
      </p:grpSpPr>
      <p:sp>
        <p:nvSpPr>
          <p:cNvPr id="276" name="Google Shape;276;p48">
            <a:extLst xmlns:a="http://schemas.openxmlformats.org/drawingml/2006/main">
              <a:ext uri="{FF2B5EF4-FFF2-40B4-BE49-F238E27FC236}">
                <a16:creationId xmlns:a16="http://schemas.microsoft.com/office/drawing/2014/main" id="{DAB2A800-F0A6-41A8-9381-BF35D4941C0B}"/>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0BB18BA8-60F4-C50D-CD9B-1BB87D3E8506}" type="slidenum">
              <a:rPr sz="1200">
                <a:solidFill>
                  <a:srgbClr val="1C7DDB"/>
                </a:solidFill>
                <a:latin typeface="Arial"/>
                <a:ea typeface="Arial"/>
                <a:cs typeface="Arial"/>
              </a:rPr>
              <a:t>22</a:t>
            </a:fld>
            <a:endParaRPr/>
          </a:p>
        </p:txBody>
      </p:sp>
      <p:sp>
        <p:nvSpPr>
          <p:cNvPr id="278" name="Google Shape;278;p48">
            <a:extLst xmlns:a="http://schemas.openxmlformats.org/drawingml/2006/main">
              <a:ext uri="{FF2B5EF4-FFF2-40B4-BE49-F238E27FC236}">
                <a16:creationId xmlns:a16="http://schemas.microsoft.com/office/drawing/2014/main" id="{53C490E3-87C1-4F3F-B47E-C9B838FAF2A8}"/>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Payload vs. Orbit Type</a:t>
            </a:r>
            <a:endParaRPr sz="3000">
              <a:solidFill>
                <a:srgbClr val="0B49CB"/>
              </a:solidFill>
              <a:latin typeface="Arial"/>
              <a:ea typeface="Arial"/>
              <a:cs typeface="Arial"/>
            </a:endParaRPr>
          </a:p>
        </p:txBody>
      </p:sp>
      <p:sp>
        <p:nvSpPr>
          <p:cNvPr id="279" name="">
            <a:extLst xmlns:a="http://schemas.openxmlformats.org/drawingml/2006/main">
              <a:ext uri="{FF2B5EF4-FFF2-40B4-BE49-F238E27FC236}">
                <a16:creationId xmlns:a16="http://schemas.microsoft.com/office/drawing/2014/main" id="{50D23697-5389-4022-8AD8-9D2A8847B59A}"/>
              </a:ext>
            </a:extLst>
          </p:cNvPr>
          <p:cNvSpPr>
            <a:spLocks xmlns:a="http://schemas.openxmlformats.org/drawingml/2006/main" noGrp="1"/>
          </p:cNvSpPr>
          <p:nvPr/>
        </p:nvSpPr>
        <p:spPr>
          <a:xfrm xmlns:a="http://schemas.openxmlformats.org/drawingml/2006/main">
            <a:off x="628650" y="1495425"/>
            <a:ext cx="27622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VLEO includes the heaviest payloads in the modeling dataset.</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GTO outcomes overlap at similar payload masses.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Payload ranges depend on orbit and mission requirements.</a:t>
            </a:r>
          </a:p>
        </p:txBody>
      </p:sp>
      <p:pic>
        <p:nvPicPr>
          <p:cNvPr id="280" name="">
            <a:extLst xmlns:a="http://schemas.openxmlformats.org/drawingml/2006/main">
              <a:ext uri="{FF2B5EF4-FFF2-40B4-BE49-F238E27FC236}">
                <a16:creationId xmlns:a16="http://schemas.microsoft.com/office/drawing/2014/main" id="{FE001183-9B87-4725-8099-6E48E8168F7B}"/>
              </a:ext>
            </a:extLst>
          </p:cNvPr>
          <p:cNvPicPr>
            <a:picLocks xmlns:a="http://schemas.openxmlformats.org/drawingml/2006/main" noChangeAspect="1"/>
          </p:cNvPicPr>
          <p:nvPr/>
        </p:nvPicPr>
        <p:blipFill>
          <a:blip xmlns:r="http://schemas.openxmlformats.org/officeDocument/2006/relationships" xmlns:a="http://schemas.openxmlformats.org/drawingml/2006/main" r:embed="R5bc0a6e27b9d4464"/>
          <a:stretch xmlns:a="http://schemas.openxmlformats.org/drawingml/2006/main"/>
        </p:blipFill>
        <p:spPr>
          <a:xfrm xmlns:a="http://schemas.openxmlformats.org/drawingml/2006/main">
            <a:off x="3868111" y="1200150"/>
            <a:ext cx="4370053" cy="3200400"/>
          </a:xfrm>
          <a:prstGeom xmlns:a="http://schemas.openxmlformats.org/drawingml/2006/main" prst="rect">
            <a:avLst/>
          </a:prstGeom>
        </p:spPr>
      </p:pic>
    </p:spTree>
    <p:extLst>
      <p:ext uri="{BB962C8B-B14F-4D97-AF65-F5344CB8AC3E}">
        <p14:creationId xmlns:p14="http://schemas.microsoft.com/office/powerpoint/2010/main" val="1425520934"/>
      </p:ext>
    </p:extLst>
  </p:cSld>
</p:sld>
</file>

<file path=ppt/slides/slide23.xml><?xml version="1.0" encoding="utf-8"?>
<p:sld xmlns:p="http://schemas.openxmlformats.org/presentationml/2006/main">
  <p:cSld>
    <p:bg>
      <p:bgPr>
        <a:blipFill xmlns:a="http://schemas.openxmlformats.org/drawingml/2006/main">
          <a:blip xmlns:r="http://schemas.openxmlformats.org/officeDocument/2006/relationships" r:embed="R46ce0e852d644ff9">
            <a:alphaModFix/>
          </a:blip>
          <a:stretch>
            <a:fillRect l="0" t="0" r="0" b="0"/>
          </a:stretch>
        </a:blipFill>
      </p:bgPr>
    </p:bg>
    <p:spTree>
      <p:nvGrpSpPr>
        <p:cNvPr id="1" name=""/>
        <p:cNvGrpSpPr/>
        <p:nvPr/>
      </p:nvGrpSpPr>
      <p:grpSpPr>
        <a:xfrm xmlns:a="http://schemas.openxmlformats.org/drawingml/2006/main"/>
      </p:grpSpPr>
      <p:sp>
        <p:nvSpPr>
          <p:cNvPr id="283" name="Google Shape;283;p49">
            <a:extLst xmlns:a="http://schemas.openxmlformats.org/drawingml/2006/main">
              <a:ext uri="{FF2B5EF4-FFF2-40B4-BE49-F238E27FC236}">
                <a16:creationId xmlns:a16="http://schemas.microsoft.com/office/drawing/2014/main" id="{5990E6AF-2A7E-4259-8458-230A0DC4EBEE}"/>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A4E99CEF-AF55-BA3C-ADF8-4E52E186DD8F}" type="slidenum">
              <a:rPr sz="1200">
                <a:solidFill>
                  <a:srgbClr val="1C7DDB"/>
                </a:solidFill>
                <a:latin typeface="Arial"/>
                <a:ea typeface="Arial"/>
                <a:cs typeface="Arial"/>
              </a:rPr>
              <a:t>23</a:t>
            </a:fld>
            <a:endParaRPr/>
          </a:p>
        </p:txBody>
      </p:sp>
      <p:sp>
        <p:nvSpPr>
          <p:cNvPr id="285" name="Google Shape;285;p49">
            <a:extLst xmlns:a="http://schemas.openxmlformats.org/drawingml/2006/main">
              <a:ext uri="{FF2B5EF4-FFF2-40B4-BE49-F238E27FC236}">
                <a16:creationId xmlns:a16="http://schemas.microsoft.com/office/drawing/2014/main" id="{0D3525B5-7938-4AE7-A1FE-F0C103D05377}"/>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Launch Success Yearly Trend</a:t>
            </a:r>
            <a:endParaRPr sz="1100"/>
          </a:p>
        </p:txBody>
      </p:sp>
      <p:sp>
        <p:nvSpPr>
          <p:cNvPr id="286" name="">
            <a:extLst xmlns:a="http://schemas.openxmlformats.org/drawingml/2006/main">
              <a:ext uri="{FF2B5EF4-FFF2-40B4-BE49-F238E27FC236}">
                <a16:creationId xmlns:a16="http://schemas.microsoft.com/office/drawing/2014/main" id="{C027ED35-3A7F-4A67-90AB-61D246DDC389}"/>
              </a:ext>
            </a:extLst>
          </p:cNvPr>
          <p:cNvSpPr>
            <a:spLocks xmlns:a="http://schemas.openxmlformats.org/drawingml/2006/main" noGrp="1"/>
          </p:cNvSpPr>
          <p:nvPr/>
        </p:nvSpPr>
        <p:spPr>
          <a:xfrm xmlns:a="http://schemas.openxmlformats.org/drawingml/2006/main">
            <a:off x="628650" y="1495425"/>
            <a:ext cx="27432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observed rate rises from 0% in early years to 90% in 2019.</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2020 records 16 successes in 19 launches, about 84.2%.</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trend includes dips and changes in the launch mix.</a:t>
            </a:r>
          </a:p>
        </p:txBody>
      </p:sp>
      <p:graphicFrame>
        <p:nvGraphicFramePr>
          <p:cNvPr id="287" name="Chart">
            <a:extLst xmlns:a="http://schemas.openxmlformats.org/drawingml/2006/main">
              <a:ext uri="{FF2B5EF4-FFF2-40B4-BE49-F238E27FC236}">
                <a16:creationId xmlns:a16="http://schemas.microsoft.com/office/drawing/2014/main" id="{601C32C4-ACD7-47FC-973A-69099BEFA1D5}"/>
              </a:ext>
            </a:extLst>
          </p:cNvPr>
          <p:cNvGraphicFramePr/>
          <p:nvPr/>
        </p:nvGraphicFramePr>
        <p:xfrm>
          <a:off xmlns:a="http://schemas.openxmlformats.org/drawingml/2006/main" x="3562350" y="1304925"/>
          <a:ext xmlns:a="http://schemas.openxmlformats.org/drawingml/2006/main" cx="4953000" cy="3067050"/>
        </p:xfrm>
        <a:graphic xmlns:a="http://schemas.openxmlformats.org/drawingml/2006/main">
          <a:graphicData uri="http://schemas.openxmlformats.org/drawingml/2006/chart">
            <c:chart xmlns:r="http://schemas.openxmlformats.org/officeDocument/2006/relationships" xmlns:c="http://schemas.openxmlformats.org/drawingml/2006/chart" r:id="R6c45fc3c1aa34897"/>
          </a:graphicData>
        </a:graphic>
      </p:graphicFrame>
    </p:spTree>
    <p:extLst>
      <p:ext uri="{BB962C8B-B14F-4D97-AF65-F5344CB8AC3E}">
        <p14:creationId xmlns:p14="http://schemas.microsoft.com/office/powerpoint/2010/main" val="1270097253"/>
      </p:ext>
    </p:extLst>
  </p:cSld>
</p:sld>
</file>

<file path=ppt/slides/slide24.xml><?xml version="1.0" encoding="utf-8"?>
<p:sld xmlns:p="http://schemas.openxmlformats.org/presentationml/2006/main">
  <p:cSld>
    <p:bg>
      <p:bgPr>
        <a:blipFill xmlns:a="http://schemas.openxmlformats.org/drawingml/2006/main">
          <a:blip xmlns:r="http://schemas.openxmlformats.org/officeDocument/2006/relationships" r:embed="Rf6df82b4b5f34c6a">
            <a:alphaModFix/>
          </a:blip>
          <a:stretch>
            <a:fillRect l="0" t="0" r="0" b="0"/>
          </a:stretch>
        </a:blipFill>
      </p:bgPr>
    </p:bg>
    <p:spTree>
      <p:nvGrpSpPr>
        <p:cNvPr id="1" name=""/>
        <p:cNvGrpSpPr/>
        <p:nvPr/>
      </p:nvGrpSpPr>
      <p:grpSpPr>
        <a:xfrm xmlns:a="http://schemas.openxmlformats.org/drawingml/2006/main"/>
      </p:grpSpPr>
      <p:sp>
        <p:nvSpPr>
          <p:cNvPr id="290" name="Google Shape;290;p50">
            <a:extLst xmlns:a="http://schemas.openxmlformats.org/drawingml/2006/main">
              <a:ext uri="{FF2B5EF4-FFF2-40B4-BE49-F238E27FC236}">
                <a16:creationId xmlns:a16="http://schemas.microsoft.com/office/drawing/2014/main" id="{8BB2B000-31D6-4231-BF1A-2636E5736537}"/>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4A59AF09-D197-0193-A7DE-FAAF0B691058}" type="slidenum">
              <a:rPr sz="1200">
                <a:solidFill>
                  <a:srgbClr val="1C7DDB"/>
                </a:solidFill>
                <a:latin typeface="Arial"/>
                <a:ea typeface="Arial"/>
                <a:cs typeface="Arial"/>
              </a:rPr>
              <a:t>24</a:t>
            </a:fld>
            <a:endParaRPr/>
          </a:p>
        </p:txBody>
      </p:sp>
      <p:sp>
        <p:nvSpPr>
          <p:cNvPr id="292" name="Google Shape;292;p50">
            <a:extLst xmlns:a="http://schemas.openxmlformats.org/drawingml/2006/main">
              <a:ext uri="{FF2B5EF4-FFF2-40B4-BE49-F238E27FC236}">
                <a16:creationId xmlns:a16="http://schemas.microsoft.com/office/drawing/2014/main" id="{49F53D25-13DD-4103-AE10-31F997CB26A4}"/>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All Launch Site Names</a:t>
            </a:r>
            <a:endParaRPr sz="1100"/>
          </a:p>
        </p:txBody>
      </p:sp>
      <p:sp>
        <p:nvSpPr>
          <p:cNvPr id="293" name="">
            <a:extLst xmlns:a="http://schemas.openxmlformats.org/drawingml/2006/main">
              <a:ext uri="{FF2B5EF4-FFF2-40B4-BE49-F238E27FC236}">
                <a16:creationId xmlns:a16="http://schemas.microsoft.com/office/drawing/2014/main" id="{CB079520-E4A1-4C60-AB36-D804566433D4}"/>
              </a:ext>
            </a:extLst>
          </p:cNvPr>
          <p:cNvSpPr>
            <a:spLocks xmlns:a="http://schemas.openxmlformats.org/drawingml/2006/main" noGrp="1"/>
          </p:cNvSpPr>
          <p:nvPr/>
        </p:nvSpPr>
        <p:spPr>
          <a:xfrm xmlns:a="http://schemas.openxmlformats.org/drawingml/2006/main">
            <a:off x="628650" y="13049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SELECT DISTINCT Launch_Site</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FROM SPACEXTBL;</a:t>
            </a:r>
          </a:p>
        </p:txBody>
      </p:sp>
      <p:sp>
        <p:nvSpPr>
          <p:cNvPr id="294" name="">
            <a:extLst xmlns:a="http://schemas.openxmlformats.org/drawingml/2006/main">
              <a:ext uri="{FF2B5EF4-FFF2-40B4-BE49-F238E27FC236}">
                <a16:creationId xmlns:a16="http://schemas.microsoft.com/office/drawing/2014/main" id="{2D40697E-0CE5-4D10-BD77-537FE47CB19F}"/>
              </a:ext>
            </a:extLst>
          </p:cNvPr>
          <p:cNvSpPr>
            <a:spLocks xmlns:a="http://schemas.openxmlformats.org/drawingml/2006/main" noGrp="1"/>
          </p:cNvSpPr>
          <p:nvPr/>
        </p:nvSpPr>
        <p:spPr>
          <a:xfrm xmlns:a="http://schemas.openxmlformats.org/drawingml/2006/main">
            <a:off x="628650" y="2695575"/>
            <a:ext cx="3476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SQL dataset contains four distinct text labels.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CCAFS LC-40 and CCAFS SLC-40 are separate labels in this snapshot.</a:t>
            </a:r>
          </a:p>
        </p:txBody>
      </p:sp>
      <p:graphicFrame>
        <p:nvGraphicFramePr>
          <p:cNvPr id="295" name="">
            <a:extLst xmlns:a="http://schemas.openxmlformats.org/drawingml/2006/main">
              <a:ext uri="{FF2B5EF4-FFF2-40B4-BE49-F238E27FC236}">
                <a16:creationId xmlns:a16="http://schemas.microsoft.com/office/drawing/2014/main" id="{F6A22219-B473-4F25-A8A3-9C375C02452A}"/>
              </a:ext>
            </a:extLst>
          </p:cNvPr>
          <p:cNvGraphicFramePr/>
          <p:nvPr/>
        </p:nvGraphicFramePr>
        <p:xfrm>
          <a:off xmlns:a="http://schemas.openxmlformats.org/drawingml/2006/main" x="4610100" y="1323975"/>
          <a:ext xmlns:a="http://schemas.openxmlformats.org/drawingml/2006/main" cx="3848100" cy="2714625"/>
        </p:xfrm>
        <a:graphic xmlns:a="http://schemas.openxmlformats.org/drawingml/2006/main">
          <a:graphicData uri="http://schemas.openxmlformats.org/drawingml/2006/table">
            <a:tbl>
              <a:tblPr firstRow="1" bandRow="0"/>
              <a:tblGrid>
                <a:gridCol w="3848100"/>
              </a:tblGrid>
              <a:tr h="542925">
                <a:tc>
                  <a:txBody>
                    <a:bodyPr lIns="0" tIns="0" rIns="0" bIns="0">
                      <a:noAutofit/>
                    </a:bodyPr>
                    <a:lstStyle/>
                    <a:p>
                      <a:pPr algn="l"/>
                      <a:r>
                        <a:rPr sz="1700" b="1">
                          <a:solidFill>
                            <a:srgbClr val="FFFFFF"/>
                          </a:solidFill>
                          <a:latin typeface="Arial"/>
                          <a:ea typeface="Arial"/>
                          <a:cs typeface="Arial"/>
                        </a:rPr>
                        <a:t>Launch site label</a:t>
                      </a:r>
                    </a:p>
                  </a:txBody>
                  <a:tcPr marL="76200" marR="76200" marT="0" marB="0" anchor="ctr">
                    <a:solidFill>
                      <a:srgbClr val="0B49CB"/>
                    </a:solidFill>
                  </a:tcPr>
                </a:tc>
              </a:tr>
              <a:tr h="542925">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FFFFFF"/>
                    </a:solidFill>
                  </a:tcPr>
                </a:tc>
              </a:tr>
              <a:tr h="542925">
                <a:tc>
                  <a:txBody>
                    <a:bodyPr lIns="0" tIns="0" rIns="0" bIns="0">
                      <a:noAutofit/>
                    </a:bodyPr>
                    <a:lstStyle/>
                    <a:p>
                      <a:pPr algn="l"/>
                      <a:r>
                        <a:rPr sz="1700" b="0">
                          <a:solidFill>
                            <a:srgbClr val="292929"/>
                          </a:solidFill>
                          <a:latin typeface="Arial"/>
                          <a:ea typeface="Arial"/>
                          <a:cs typeface="Arial"/>
                        </a:rPr>
                        <a:t>VAFB SLC-4E</a:t>
                      </a:r>
                    </a:p>
                  </a:txBody>
                  <a:tcPr marL="76200" marR="76200" marT="0" marB="0" anchor="ctr">
                    <a:solidFill>
                      <a:srgbClr val="E9EEF8"/>
                    </a:solidFill>
                  </a:tcPr>
                </a:tc>
              </a:tr>
              <a:tr h="542925">
                <a:tc>
                  <a:txBody>
                    <a:bodyPr lIns="0" tIns="0" rIns="0" bIns="0">
                      <a:noAutofit/>
                    </a:bodyPr>
                    <a:lstStyle/>
                    <a:p>
                      <a:pPr algn="l"/>
                      <a:r>
                        <a:rPr sz="1700" b="0">
                          <a:solidFill>
                            <a:srgbClr val="292929"/>
                          </a:solidFill>
                          <a:latin typeface="Arial"/>
                          <a:ea typeface="Arial"/>
                          <a:cs typeface="Arial"/>
                        </a:rPr>
                        <a:t>KSC LC-39A</a:t>
                      </a:r>
                    </a:p>
                  </a:txBody>
                  <a:tcPr marL="76200" marR="76200" marT="0" marB="0" anchor="ctr">
                    <a:solidFill>
                      <a:srgbClr val="FFFFFF"/>
                    </a:solidFill>
                  </a:tcPr>
                </a:tc>
              </a:tr>
              <a:tr h="542925">
                <a:tc>
                  <a:txBody>
                    <a:bodyPr lIns="0" tIns="0" rIns="0" bIns="0">
                      <a:noAutofit/>
                    </a:bodyPr>
                    <a:lstStyle/>
                    <a:p>
                      <a:pPr algn="l"/>
                      <a:r>
                        <a:rPr sz="1700" b="0">
                          <a:solidFill>
                            <a:srgbClr val="292929"/>
                          </a:solidFill>
                          <a:latin typeface="Arial"/>
                          <a:ea typeface="Arial"/>
                          <a:cs typeface="Arial"/>
                        </a:rPr>
                        <a:t>CCAFS SLC-40</a:t>
                      </a:r>
                    </a:p>
                  </a:txBody>
                  <a:tcPr marL="76200" marR="76200" marT="0" marB="0" anchor="ctr">
                    <a:solidFill>
                      <a:srgbClr val="E9EEF8"/>
                    </a:solidFill>
                  </a:tcPr>
                </a:tc>
              </a:tr>
            </a:tbl>
          </a:graphicData>
        </a:graphic>
      </p:graphicFrame>
    </p:spTree>
    <p:extLst>
      <p:ext uri="{BB962C8B-B14F-4D97-AF65-F5344CB8AC3E}">
        <p14:creationId xmlns:p14="http://schemas.microsoft.com/office/powerpoint/2010/main" val="681146991"/>
      </p:ext>
    </p:extLst>
  </p:cSld>
</p:sld>
</file>

<file path=ppt/slides/slide25.xml><?xml version="1.0" encoding="utf-8"?>
<p:sld xmlns:p="http://schemas.openxmlformats.org/presentationml/2006/main">
  <p:cSld>
    <p:bg>
      <p:bgPr>
        <a:blipFill xmlns:a="http://schemas.openxmlformats.org/drawingml/2006/main">
          <a:blip xmlns:r="http://schemas.openxmlformats.org/officeDocument/2006/relationships" r:embed="Re9b0aa9313924b57">
            <a:alphaModFix/>
          </a:blip>
          <a:stretch>
            <a:fillRect l="0" t="0" r="0" b="0"/>
          </a:stretch>
        </a:blipFill>
      </p:bgPr>
    </p:bg>
    <p:spTree>
      <p:nvGrpSpPr>
        <p:cNvPr id="1" name=""/>
        <p:cNvGrpSpPr/>
        <p:nvPr/>
      </p:nvGrpSpPr>
      <p:grpSpPr>
        <a:xfrm xmlns:a="http://schemas.openxmlformats.org/drawingml/2006/main"/>
      </p:grpSpPr>
      <p:sp>
        <p:nvSpPr>
          <p:cNvPr id="297" name="Google Shape;297;p51">
            <a:extLst xmlns:a="http://schemas.openxmlformats.org/drawingml/2006/main">
              <a:ext uri="{FF2B5EF4-FFF2-40B4-BE49-F238E27FC236}">
                <a16:creationId xmlns:a16="http://schemas.microsoft.com/office/drawing/2014/main" id="{DB3BF1ED-1F24-49B3-AEF4-D3CEC539D9DD}"/>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F3AE1AE4-D79E-94D6-E825-3FC6C21A77D2}" type="slidenum">
              <a:rPr sz="1200">
                <a:solidFill>
                  <a:srgbClr val="1C7DDB"/>
                </a:solidFill>
                <a:latin typeface="Arial"/>
                <a:ea typeface="Arial"/>
                <a:cs typeface="Arial"/>
              </a:rPr>
              <a:t>25</a:t>
            </a:fld>
            <a:endParaRPr/>
          </a:p>
        </p:txBody>
      </p:sp>
      <p:sp>
        <p:nvSpPr>
          <p:cNvPr id="299" name="Google Shape;299;p51">
            <a:extLst xmlns:a="http://schemas.openxmlformats.org/drawingml/2006/main">
              <a:ext uri="{FF2B5EF4-FFF2-40B4-BE49-F238E27FC236}">
                <a16:creationId xmlns:a16="http://schemas.microsoft.com/office/drawing/2014/main" id="{C63BA2D3-F336-4CE3-BC4A-AEB26656C987}"/>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Launch Sites Beginning with 'CCA'</a:t>
            </a:r>
            <a:endParaRPr sz="1100"/>
          </a:p>
        </p:txBody>
      </p:sp>
      <p:sp>
        <p:nvSpPr>
          <p:cNvPr id="300" name="">
            <a:extLst xmlns:a="http://schemas.openxmlformats.org/drawingml/2006/main">
              <a:ext uri="{FF2B5EF4-FFF2-40B4-BE49-F238E27FC236}">
                <a16:creationId xmlns:a16="http://schemas.microsoft.com/office/drawing/2014/main" id="{6EE97865-3DD7-4C5A-8048-26183C3511C8}"/>
              </a:ext>
            </a:extLst>
          </p:cNvPr>
          <p:cNvSpPr>
            <a:spLocks xmlns:a="http://schemas.openxmlformats.org/drawingml/2006/main" noGrp="1"/>
          </p:cNvSpPr>
          <p:nvPr/>
        </p:nvSpPr>
        <p:spPr>
          <a:xfrm xmlns:a="http://schemas.openxmlformats.org/drawingml/2006/main">
            <a:off x="628650" y="1209675"/>
            <a:ext cx="7886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WHERE Launch_Site LIKE 'CCA%'</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LIMIT 5</a:t>
            </a:r>
          </a:p>
        </p:txBody>
      </p:sp>
      <p:graphicFrame>
        <p:nvGraphicFramePr>
          <p:cNvPr id="301" name="">
            <a:extLst xmlns:a="http://schemas.openxmlformats.org/drawingml/2006/main">
              <a:ext uri="{FF2B5EF4-FFF2-40B4-BE49-F238E27FC236}">
                <a16:creationId xmlns:a16="http://schemas.microsoft.com/office/drawing/2014/main" id="{9A5DB9CB-140D-41E1-BA76-F08B4B2D49AA}"/>
              </a:ext>
            </a:extLst>
          </p:cNvPr>
          <p:cNvGraphicFramePr/>
          <p:nvPr/>
        </p:nvGraphicFramePr>
        <p:xfrm>
          <a:off xmlns:a="http://schemas.openxmlformats.org/drawingml/2006/main" x="628650" y="1971675"/>
          <a:ext xmlns:a="http://schemas.openxmlformats.org/drawingml/2006/main" cx="7886700" cy="2266950"/>
        </p:xfrm>
        <a:graphic xmlns:a="http://schemas.openxmlformats.org/drawingml/2006/main">
          <a:graphicData uri="http://schemas.openxmlformats.org/drawingml/2006/table">
            <a:tbl>
              <a:tblPr firstRow="1" bandRow="0"/>
              <a:tblGrid>
                <a:gridCol w="1466850"/>
                <a:gridCol w="2190750"/>
                <a:gridCol w="2571750"/>
                <a:gridCol w="1657350"/>
              </a:tblGrid>
              <a:tr h="377825">
                <a:tc>
                  <a:txBody>
                    <a:bodyPr lIns="0" tIns="0" rIns="0" bIns="0">
                      <a:noAutofit/>
                    </a:bodyPr>
                    <a:lstStyle/>
                    <a:p>
                      <a:pPr algn="l"/>
                      <a:r>
                        <a:rPr sz="1700" b="1">
                          <a:solidFill>
                            <a:srgbClr val="FFFFFF"/>
                          </a:solidFill>
                          <a:latin typeface="Arial"/>
                          <a:ea typeface="Arial"/>
                          <a:cs typeface="Arial"/>
                        </a:rPr>
                        <a:t>Date</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Booster version</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Site</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Payload kg</a:t>
                      </a:r>
                    </a:p>
                  </a:txBody>
                  <a:tcPr marL="76200" marR="76200" marT="0" marB="0" anchor="ctr">
                    <a:solidFill>
                      <a:srgbClr val="0B49CB"/>
                    </a:solidFill>
                  </a:tcPr>
                </a:tc>
              </a:tr>
              <a:tr h="377825">
                <a:tc>
                  <a:txBody>
                    <a:bodyPr lIns="0" tIns="0" rIns="0" bIns="0">
                      <a:noAutofit/>
                    </a:bodyPr>
                    <a:lstStyle/>
                    <a:p>
                      <a:pPr algn="l"/>
                      <a:r>
                        <a:rPr sz="1700" b="0">
                          <a:solidFill>
                            <a:srgbClr val="292929"/>
                          </a:solidFill>
                          <a:latin typeface="Arial"/>
                          <a:ea typeface="Arial"/>
                          <a:cs typeface="Arial"/>
                        </a:rPr>
                        <a:t>2010-06-04</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v1.0  B0003</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0</a:t>
                      </a:r>
                    </a:p>
                  </a:txBody>
                  <a:tcPr marL="76200" marR="76200" marT="0" marB="0" anchor="ctr">
                    <a:solidFill>
                      <a:srgbClr val="FFFFFF"/>
                    </a:solidFill>
                  </a:tcPr>
                </a:tc>
              </a:tr>
              <a:tr h="377825">
                <a:tc>
                  <a:txBody>
                    <a:bodyPr lIns="0" tIns="0" rIns="0" bIns="0">
                      <a:noAutofit/>
                    </a:bodyPr>
                    <a:lstStyle/>
                    <a:p>
                      <a:pPr algn="l"/>
                      <a:r>
                        <a:rPr sz="1700" b="0">
                          <a:solidFill>
                            <a:srgbClr val="292929"/>
                          </a:solidFill>
                          <a:latin typeface="Arial"/>
                          <a:ea typeface="Arial"/>
                          <a:cs typeface="Arial"/>
                        </a:rPr>
                        <a:t>2010-12-08</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v1.0  B0004</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0</a:t>
                      </a:r>
                    </a:p>
                  </a:txBody>
                  <a:tcPr marL="76200" marR="76200" marT="0" marB="0" anchor="ctr">
                    <a:solidFill>
                      <a:srgbClr val="E9EEF8"/>
                    </a:solidFill>
                  </a:tcPr>
                </a:tc>
              </a:tr>
              <a:tr h="377825">
                <a:tc>
                  <a:txBody>
                    <a:bodyPr lIns="0" tIns="0" rIns="0" bIns="0">
                      <a:noAutofit/>
                    </a:bodyPr>
                    <a:lstStyle/>
                    <a:p>
                      <a:pPr algn="l"/>
                      <a:r>
                        <a:rPr sz="1700" b="0">
                          <a:solidFill>
                            <a:srgbClr val="292929"/>
                          </a:solidFill>
                          <a:latin typeface="Arial"/>
                          <a:ea typeface="Arial"/>
                          <a:cs typeface="Arial"/>
                        </a:rPr>
                        <a:t>2012-05-22</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v1.0  B0005</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525</a:t>
                      </a:r>
                    </a:p>
                  </a:txBody>
                  <a:tcPr marL="76200" marR="76200" marT="0" marB="0" anchor="ctr">
                    <a:solidFill>
                      <a:srgbClr val="FFFFFF"/>
                    </a:solidFill>
                  </a:tcPr>
                </a:tc>
              </a:tr>
              <a:tr h="377825">
                <a:tc>
                  <a:txBody>
                    <a:bodyPr lIns="0" tIns="0" rIns="0" bIns="0">
                      <a:noAutofit/>
                    </a:bodyPr>
                    <a:lstStyle/>
                    <a:p>
                      <a:pPr algn="l"/>
                      <a:r>
                        <a:rPr sz="1700" b="0">
                          <a:solidFill>
                            <a:srgbClr val="292929"/>
                          </a:solidFill>
                          <a:latin typeface="Arial"/>
                          <a:ea typeface="Arial"/>
                          <a:cs typeface="Arial"/>
                        </a:rPr>
                        <a:t>2012-10-08</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v1.0  B0006</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500</a:t>
                      </a:r>
                    </a:p>
                  </a:txBody>
                  <a:tcPr marL="76200" marR="76200" marT="0" marB="0" anchor="ctr">
                    <a:solidFill>
                      <a:srgbClr val="E9EEF8"/>
                    </a:solidFill>
                  </a:tcPr>
                </a:tc>
              </a:tr>
              <a:tr h="377825">
                <a:tc>
                  <a:txBody>
                    <a:bodyPr lIns="0" tIns="0" rIns="0" bIns="0">
                      <a:noAutofit/>
                    </a:bodyPr>
                    <a:lstStyle/>
                    <a:p>
                      <a:pPr algn="l"/>
                      <a:r>
                        <a:rPr sz="1700" b="0">
                          <a:solidFill>
                            <a:srgbClr val="292929"/>
                          </a:solidFill>
                          <a:latin typeface="Arial"/>
                          <a:ea typeface="Arial"/>
                          <a:cs typeface="Arial"/>
                        </a:rPr>
                        <a:t>2013-03-01</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v1.0  B0007</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677</a:t>
                      </a:r>
                    </a:p>
                  </a:txBody>
                  <a:tcPr marL="76200" marR="76200" marT="0" marB="0" anchor="ctr">
                    <a:solidFill>
                      <a:srgbClr val="FFFFFF"/>
                    </a:solidFill>
                  </a:tcPr>
                </a:tc>
              </a:tr>
            </a:tbl>
          </a:graphicData>
        </a:graphic>
      </p:graphicFrame>
    </p:spTree>
    <p:extLst>
      <p:ext uri="{BB962C8B-B14F-4D97-AF65-F5344CB8AC3E}">
        <p14:creationId xmlns:p14="http://schemas.microsoft.com/office/powerpoint/2010/main" val="1765101587"/>
      </p:ext>
    </p:extLst>
  </p:cSld>
</p:sld>
</file>

<file path=ppt/slides/slide26.xml><?xml version="1.0" encoding="utf-8"?>
<p:sld xmlns:p="http://schemas.openxmlformats.org/presentationml/2006/main">
  <p:cSld>
    <p:bg>
      <p:bgPr>
        <a:blipFill xmlns:a="http://schemas.openxmlformats.org/drawingml/2006/main">
          <a:blip xmlns:r="http://schemas.openxmlformats.org/officeDocument/2006/relationships" r:embed="R48210c44a9e44c8e">
            <a:alphaModFix/>
          </a:blip>
          <a:stretch>
            <a:fillRect l="0" t="0" r="0" b="0"/>
          </a:stretch>
        </a:blipFill>
      </p:bgPr>
    </p:bg>
    <p:spTree>
      <p:nvGrpSpPr>
        <p:cNvPr id="1" name=""/>
        <p:cNvGrpSpPr/>
        <p:nvPr/>
      </p:nvGrpSpPr>
      <p:grpSpPr>
        <a:xfrm xmlns:a="http://schemas.openxmlformats.org/drawingml/2006/main"/>
      </p:grpSpPr>
      <p:sp>
        <p:nvSpPr>
          <p:cNvPr id="304" name="Google Shape;304;p52">
            <a:extLst xmlns:a="http://schemas.openxmlformats.org/drawingml/2006/main">
              <a:ext uri="{FF2B5EF4-FFF2-40B4-BE49-F238E27FC236}">
                <a16:creationId xmlns:a16="http://schemas.microsoft.com/office/drawing/2014/main" id="{BE6C7A23-8B5F-4533-8DCB-6F485ABCA255}"/>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5AB55966-FA28-BC73-EA9E-53DF014DF033}" type="slidenum">
              <a:rPr sz="1200">
                <a:solidFill>
                  <a:srgbClr val="1C7DDB"/>
                </a:solidFill>
                <a:latin typeface="Arial"/>
                <a:ea typeface="Arial"/>
                <a:cs typeface="Arial"/>
              </a:rPr>
              <a:t>26</a:t>
            </a:fld>
            <a:endParaRPr/>
          </a:p>
        </p:txBody>
      </p:sp>
      <p:sp>
        <p:nvSpPr>
          <p:cNvPr id="306" name="Google Shape;306;p52">
            <a:extLst xmlns:a="http://schemas.openxmlformats.org/drawingml/2006/main">
              <a:ext uri="{FF2B5EF4-FFF2-40B4-BE49-F238E27FC236}">
                <a16:creationId xmlns:a16="http://schemas.microsoft.com/office/drawing/2014/main" id="{8677D7ED-9E6B-4242-84DA-73D2D53BD82E}"/>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Total Payload Mass: NASA Filters</a:t>
            </a:r>
            <a:endParaRPr sz="1100"/>
          </a:p>
        </p:txBody>
      </p:sp>
      <p:sp>
        <p:nvSpPr>
          <p:cNvPr id="307" name="">
            <a:extLst xmlns:a="http://schemas.openxmlformats.org/drawingml/2006/main">
              <a:ext uri="{FF2B5EF4-FFF2-40B4-BE49-F238E27FC236}">
                <a16:creationId xmlns:a16="http://schemas.microsoft.com/office/drawing/2014/main" id="{F4950949-6FCA-4173-8831-F52E78ADA720}"/>
              </a:ext>
            </a:extLst>
          </p:cNvPr>
          <p:cNvSpPr>
            <a:spLocks xmlns:a="http://schemas.openxmlformats.org/drawingml/2006/main" noGrp="1"/>
          </p:cNvSpPr>
          <p:nvPr/>
        </p:nvSpPr>
        <p:spPr>
          <a:xfrm xmlns:a="http://schemas.openxmlformats.org/drawingml/2006/main">
            <a:off x="628650" y="1266825"/>
            <a:ext cx="790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SUM(PAYLOAD_MASS__KG_)</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WHERE Customer = 'NASA (CRS)'</a:t>
            </a:r>
          </a:p>
        </p:txBody>
      </p:sp>
      <p:graphicFrame>
        <p:nvGraphicFramePr>
          <p:cNvPr id="308" name="">
            <a:extLst xmlns:a="http://schemas.openxmlformats.org/drawingml/2006/main">
              <a:ext uri="{FF2B5EF4-FFF2-40B4-BE49-F238E27FC236}">
                <a16:creationId xmlns:a16="http://schemas.microsoft.com/office/drawing/2014/main" id="{1B0D5677-33C2-48D2-84C3-B3BD6BE98B35}"/>
              </a:ext>
            </a:extLst>
          </p:cNvPr>
          <p:cNvGraphicFramePr/>
          <p:nvPr/>
        </p:nvGraphicFramePr>
        <p:xfrm>
          <a:off xmlns:a="http://schemas.openxmlformats.org/drawingml/2006/main" x="628650" y="2247900"/>
          <a:ext xmlns:a="http://schemas.openxmlformats.org/drawingml/2006/main" cx="7886700" cy="1381125"/>
        </p:xfrm>
        <a:graphic xmlns:a="http://schemas.openxmlformats.org/drawingml/2006/main">
          <a:graphicData uri="http://schemas.openxmlformats.org/drawingml/2006/table">
            <a:tbl>
              <a:tblPr firstRow="1" bandRow="0"/>
              <a:tblGrid>
                <a:gridCol w="5219700"/>
                <a:gridCol w="2667000"/>
              </a:tblGrid>
              <a:tr h="460375">
                <a:tc>
                  <a:txBody>
                    <a:bodyPr lIns="0" tIns="0" rIns="0" bIns="0">
                      <a:noAutofit/>
                    </a:bodyPr>
                    <a:lstStyle/>
                    <a:p>
                      <a:pPr algn="l"/>
                      <a:r>
                        <a:rPr sz="1700" b="1">
                          <a:solidFill>
                            <a:srgbClr val="FFFFFF"/>
                          </a:solidFill>
                          <a:latin typeface="Arial"/>
                          <a:ea typeface="Arial"/>
                          <a:cs typeface="Arial"/>
                        </a:rPr>
                        <a:t>Customer filter</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Payload mass</a:t>
                      </a:r>
                    </a:p>
                  </a:txBody>
                  <a:tcPr marL="76200" marR="76200" marT="0" marB="0" anchor="ctr">
                    <a:solidFill>
                      <a:srgbClr val="0B49CB"/>
                    </a:solidFill>
                  </a:tcPr>
                </a:tc>
              </a:tr>
              <a:tr h="460375">
                <a:tc>
                  <a:txBody>
                    <a:bodyPr lIns="0" tIns="0" rIns="0" bIns="0">
                      <a:noAutofit/>
                    </a:bodyPr>
                    <a:lstStyle/>
                    <a:p>
                      <a:pPr algn="l"/>
                      <a:r>
                        <a:rPr sz="1700" b="0">
                          <a:solidFill>
                            <a:srgbClr val="292929"/>
                          </a:solidFill>
                          <a:latin typeface="Arial"/>
                          <a:ea typeface="Arial"/>
                          <a:cs typeface="Arial"/>
                        </a:rPr>
                        <a:t>Exact 'NASA (CRS)'</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45,596 kg</a:t>
                      </a:r>
                    </a:p>
                  </a:txBody>
                  <a:tcPr marL="76200" marR="76200" marT="0" marB="0" anchor="ctr">
                    <a:solidFill>
                      <a:srgbClr val="FFFFFF"/>
                    </a:solidFill>
                  </a:tcPr>
                </a:tc>
              </a:tr>
              <a:tr h="460375">
                <a:tc>
                  <a:txBody>
                    <a:bodyPr lIns="0" tIns="0" rIns="0" bIns="0">
                      <a:noAutofit/>
                    </a:bodyPr>
                    <a:lstStyle/>
                    <a:p>
                      <a:pPr algn="l"/>
                      <a:r>
                        <a:rPr sz="1700" b="0">
                          <a:solidFill>
                            <a:srgbClr val="292929"/>
                          </a:solidFill>
                          <a:latin typeface="Arial"/>
                          <a:ea typeface="Arial"/>
                          <a:cs typeface="Arial"/>
                        </a:rPr>
                        <a:t>Any label containing 'NASA'</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107,010 kg</a:t>
                      </a:r>
                    </a:p>
                  </a:txBody>
                  <a:tcPr marL="76200" marR="76200" marT="0" marB="0" anchor="ctr">
                    <a:solidFill>
                      <a:srgbClr val="E9EEF8"/>
                    </a:solidFill>
                  </a:tcPr>
                </a:tc>
              </a:tr>
            </a:tbl>
          </a:graphicData>
        </a:graphic>
      </p:graphicFrame>
      <p:sp>
        <p:nvSpPr>
          <p:cNvPr id="309" name="">
            <a:extLst xmlns:a="http://schemas.openxmlformats.org/drawingml/2006/main">
              <a:ext uri="{FF2B5EF4-FFF2-40B4-BE49-F238E27FC236}">
                <a16:creationId xmlns:a16="http://schemas.microsoft.com/office/drawing/2014/main" id="{367CB107-AFA0-4F34-9E7B-13DC9DE2590F}"/>
              </a:ext>
            </a:extLst>
          </p:cNvPr>
          <p:cNvSpPr>
            <a:spLocks xmlns:a="http://schemas.openxmlformats.org/drawingml/2006/main" noGrp="1"/>
          </p:cNvSpPr>
          <p:nvPr/>
        </p:nvSpPr>
        <p:spPr>
          <a:xfrm xmlns:a="http://schemas.openxmlformats.org/drawingml/2006/main">
            <a:off x="628650" y="3886200"/>
            <a:ext cx="777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The published query covers CRS only. The broader check also includes shared-customer missions.</a:t>
            </a:r>
          </a:p>
        </p:txBody>
      </p:sp>
    </p:spTree>
    <p:extLst>
      <p:ext uri="{BB962C8B-B14F-4D97-AF65-F5344CB8AC3E}">
        <p14:creationId xmlns:p14="http://schemas.microsoft.com/office/powerpoint/2010/main" val="1824701018"/>
      </p:ext>
    </p:extLst>
  </p:cSld>
</p:sld>
</file>

<file path=ppt/slides/slide27.xml><?xml version="1.0" encoding="utf-8"?>
<p:sld xmlns:p="http://schemas.openxmlformats.org/presentationml/2006/main">
  <p:cSld>
    <p:bg>
      <p:bgPr>
        <a:blipFill xmlns:a="http://schemas.openxmlformats.org/drawingml/2006/main">
          <a:blip xmlns:r="http://schemas.openxmlformats.org/officeDocument/2006/relationships" r:embed="R1d5684e9e530477a">
            <a:alphaModFix/>
          </a:blip>
          <a:stretch>
            <a:fillRect l="0" t="0" r="0" b="0"/>
          </a:stretch>
        </a:blipFill>
      </p:bgPr>
    </p:bg>
    <p:spTree>
      <p:nvGrpSpPr>
        <p:cNvPr id="1" name=""/>
        <p:cNvGrpSpPr/>
        <p:nvPr/>
      </p:nvGrpSpPr>
      <p:grpSpPr>
        <a:xfrm xmlns:a="http://schemas.openxmlformats.org/drawingml/2006/main"/>
      </p:grpSpPr>
      <p:sp>
        <p:nvSpPr>
          <p:cNvPr id="311" name="Google Shape;311;p53">
            <a:extLst xmlns:a="http://schemas.openxmlformats.org/drawingml/2006/main">
              <a:ext uri="{FF2B5EF4-FFF2-40B4-BE49-F238E27FC236}">
                <a16:creationId xmlns:a16="http://schemas.microsoft.com/office/drawing/2014/main" id="{9A08B943-4F63-45DE-9FBA-E03934BC2777}"/>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02F15020-66A7-620A-7B7A-C05C4312DEAE}" type="slidenum">
              <a:rPr sz="1200">
                <a:solidFill>
                  <a:srgbClr val="1C7DDB"/>
                </a:solidFill>
                <a:latin typeface="Arial"/>
                <a:ea typeface="Arial"/>
                <a:cs typeface="Arial"/>
              </a:rPr>
              <a:t>27</a:t>
            </a:fld>
            <a:endParaRPr/>
          </a:p>
        </p:txBody>
      </p:sp>
      <p:sp>
        <p:nvSpPr>
          <p:cNvPr id="313" name="Google Shape;313;p53">
            <a:extLst xmlns:a="http://schemas.openxmlformats.org/drawingml/2006/main">
              <a:ext uri="{FF2B5EF4-FFF2-40B4-BE49-F238E27FC236}">
                <a16:creationId xmlns:a16="http://schemas.microsoft.com/office/drawing/2014/main" id="{D82425CA-1058-42E3-B8D6-DA8ED8D71B60}"/>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Average Payload Mass: F9 v1.1</a:t>
            </a:r>
            <a:endParaRPr sz="1100"/>
          </a:p>
        </p:txBody>
      </p:sp>
      <p:sp>
        <p:nvSpPr>
          <p:cNvPr id="314" name="">
            <a:extLst xmlns:a="http://schemas.openxmlformats.org/drawingml/2006/main">
              <a:ext uri="{FF2B5EF4-FFF2-40B4-BE49-F238E27FC236}">
                <a16:creationId xmlns:a16="http://schemas.microsoft.com/office/drawing/2014/main" id="{A7079C75-9851-4D6B-BEE1-20DF8C27620B}"/>
              </a:ext>
            </a:extLst>
          </p:cNvPr>
          <p:cNvSpPr>
            <a:spLocks xmlns:a="http://schemas.openxmlformats.org/drawingml/2006/main" noGrp="1"/>
          </p:cNvSpPr>
          <p:nvPr/>
        </p:nvSpPr>
        <p:spPr>
          <a:xfrm xmlns:a="http://schemas.openxmlformats.org/drawingml/2006/main">
            <a:off x="628650" y="1266825"/>
            <a:ext cx="7905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AVG(PAYLOAD_MASS__KG_)</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WHERE Booster_Version = 'F9 v1.1'</a:t>
            </a:r>
          </a:p>
        </p:txBody>
      </p:sp>
      <p:graphicFrame>
        <p:nvGraphicFramePr>
          <p:cNvPr id="315" name="">
            <a:extLst xmlns:a="http://schemas.openxmlformats.org/drawingml/2006/main">
              <a:ext uri="{FF2B5EF4-FFF2-40B4-BE49-F238E27FC236}">
                <a16:creationId xmlns:a16="http://schemas.microsoft.com/office/drawing/2014/main" id="{CFC13B49-883C-4FA6-B409-71B1E6782E79}"/>
              </a:ext>
            </a:extLst>
          </p:cNvPr>
          <p:cNvGraphicFramePr/>
          <p:nvPr/>
        </p:nvGraphicFramePr>
        <p:xfrm>
          <a:off xmlns:a="http://schemas.openxmlformats.org/drawingml/2006/main" x="628650" y="2247900"/>
          <a:ext xmlns:a="http://schemas.openxmlformats.org/drawingml/2006/main" cx="7886700" cy="1381125"/>
        </p:xfrm>
        <a:graphic xmlns:a="http://schemas.openxmlformats.org/drawingml/2006/main">
          <a:graphicData uri="http://schemas.openxmlformats.org/drawingml/2006/table">
            <a:tbl>
              <a:tblPr firstRow="1" bandRow="0"/>
              <a:tblGrid>
                <a:gridCol w="4267200"/>
                <a:gridCol w="952500"/>
                <a:gridCol w="2667000"/>
              </a:tblGrid>
              <a:tr h="460375">
                <a:tc>
                  <a:txBody>
                    <a:bodyPr lIns="0" tIns="0" rIns="0" bIns="0">
                      <a:noAutofit/>
                    </a:bodyPr>
                    <a:lstStyle/>
                    <a:p>
                      <a:pPr algn="l"/>
                      <a:r>
                        <a:rPr sz="1700" b="1">
                          <a:solidFill>
                            <a:srgbClr val="FFFFFF"/>
                          </a:solidFill>
                          <a:latin typeface="Arial"/>
                          <a:ea typeface="Arial"/>
                          <a:cs typeface="Arial"/>
                        </a:rPr>
                        <a:t>Booster filter</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Rows</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Average payload</a:t>
                      </a:r>
                    </a:p>
                  </a:txBody>
                  <a:tcPr marL="76200" marR="76200" marT="0" marB="0" anchor="ctr">
                    <a:solidFill>
                      <a:srgbClr val="0B49CB"/>
                    </a:solidFill>
                  </a:tcPr>
                </a:tc>
              </a:tr>
              <a:tr h="460375">
                <a:tc>
                  <a:txBody>
                    <a:bodyPr lIns="0" tIns="0" rIns="0" bIns="0">
                      <a:noAutofit/>
                    </a:bodyPr>
                    <a:lstStyle/>
                    <a:p>
                      <a:pPr algn="l"/>
                      <a:r>
                        <a:rPr sz="1700" b="0">
                          <a:solidFill>
                            <a:srgbClr val="292929"/>
                          </a:solidFill>
                          <a:latin typeface="Arial"/>
                          <a:ea typeface="Arial"/>
                          <a:cs typeface="Arial"/>
                        </a:rPr>
                        <a:t>Exact 'F9 v1.1'</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5</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2,928.40 kg</a:t>
                      </a:r>
                    </a:p>
                  </a:txBody>
                  <a:tcPr marL="76200" marR="76200" marT="0" marB="0" anchor="ctr">
                    <a:solidFill>
                      <a:srgbClr val="FFFFFF"/>
                    </a:solidFill>
                  </a:tcPr>
                </a:tc>
              </a:tr>
              <a:tr h="460375">
                <a:tc>
                  <a:txBody>
                    <a:bodyPr lIns="0" tIns="0" rIns="0" bIns="0">
                      <a:noAutofit/>
                    </a:bodyPr>
                    <a:lstStyle/>
                    <a:p>
                      <a:pPr algn="l"/>
                      <a:r>
                        <a:rPr sz="1700" b="0">
                          <a:solidFill>
                            <a:srgbClr val="292929"/>
                          </a:solidFill>
                          <a:latin typeface="Arial"/>
                          <a:ea typeface="Arial"/>
                          <a:cs typeface="Arial"/>
                        </a:rPr>
                        <a:t>Prefix 'F9 v1.1%'</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15</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2,534.67 kg</a:t>
                      </a:r>
                    </a:p>
                  </a:txBody>
                  <a:tcPr marL="76200" marR="76200" marT="0" marB="0" anchor="ctr">
                    <a:solidFill>
                      <a:srgbClr val="E9EEF8"/>
                    </a:solidFill>
                  </a:tcPr>
                </a:tc>
              </a:tr>
            </a:tbl>
          </a:graphicData>
        </a:graphic>
      </p:graphicFrame>
      <p:sp>
        <p:nvSpPr>
          <p:cNvPr id="316" name="">
            <a:extLst xmlns:a="http://schemas.openxmlformats.org/drawingml/2006/main">
              <a:ext uri="{FF2B5EF4-FFF2-40B4-BE49-F238E27FC236}">
                <a16:creationId xmlns:a16="http://schemas.microsoft.com/office/drawing/2014/main" id="{D3281C86-8EF6-4759-85B9-BCA4F6CAB37A}"/>
              </a:ext>
            </a:extLst>
          </p:cNvPr>
          <p:cNvSpPr>
            <a:spLocks xmlns:a="http://schemas.openxmlformats.org/drawingml/2006/main" noGrp="1"/>
          </p:cNvSpPr>
          <p:nvPr/>
        </p:nvSpPr>
        <p:spPr>
          <a:xfrm xmlns:a="http://schemas.openxmlformats.org/drawingml/2006/main">
            <a:off x="628650" y="3886200"/>
            <a:ext cx="7772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The prefix check includes version labels with booster serial numbers. Query scope changes the average.</a:t>
            </a:r>
          </a:p>
        </p:txBody>
      </p:sp>
    </p:spTree>
    <p:extLst>
      <p:ext uri="{BB962C8B-B14F-4D97-AF65-F5344CB8AC3E}">
        <p14:creationId xmlns:p14="http://schemas.microsoft.com/office/powerpoint/2010/main" val="74660355"/>
      </p:ext>
    </p:extLst>
  </p:cSld>
</p:sld>
</file>

<file path=ppt/slides/slide28.xml><?xml version="1.0" encoding="utf-8"?>
<p:sld xmlns:p="http://schemas.openxmlformats.org/presentationml/2006/main">
  <p:cSld>
    <p:bg>
      <p:bgPr>
        <a:blipFill xmlns:a="http://schemas.openxmlformats.org/drawingml/2006/main">
          <a:blip xmlns:r="http://schemas.openxmlformats.org/officeDocument/2006/relationships" r:embed="R05e2226148294dc7">
            <a:alphaModFix/>
          </a:blip>
          <a:stretch>
            <a:fillRect l="0" t="0" r="0" b="0"/>
          </a:stretch>
        </a:blipFill>
      </p:bgPr>
    </p:bg>
    <p:spTree>
      <p:nvGrpSpPr>
        <p:cNvPr id="1" name=""/>
        <p:cNvGrpSpPr/>
        <p:nvPr/>
      </p:nvGrpSpPr>
      <p:grpSpPr>
        <a:xfrm xmlns:a="http://schemas.openxmlformats.org/drawingml/2006/main"/>
      </p:grpSpPr>
      <p:sp>
        <p:nvSpPr>
          <p:cNvPr id="318" name="Google Shape;318;p54">
            <a:extLst xmlns:a="http://schemas.openxmlformats.org/drawingml/2006/main">
              <a:ext uri="{FF2B5EF4-FFF2-40B4-BE49-F238E27FC236}">
                <a16:creationId xmlns:a16="http://schemas.microsoft.com/office/drawing/2014/main" id="{1E95F8D7-E60C-4B6F-8A2E-F2B4FE7AB46D}"/>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68AD4375-9F50-F53A-6F9F-DD8473067C05}" type="slidenum">
              <a:rPr sz="1200">
                <a:solidFill>
                  <a:srgbClr val="1C7DDB"/>
                </a:solidFill>
                <a:latin typeface="Arial"/>
                <a:ea typeface="Arial"/>
                <a:cs typeface="Arial"/>
              </a:rPr>
              <a:t>28</a:t>
            </a:fld>
            <a:endParaRPr/>
          </a:p>
        </p:txBody>
      </p:sp>
      <p:sp>
        <p:nvSpPr>
          <p:cNvPr id="320" name="Google Shape;320;p54">
            <a:extLst xmlns:a="http://schemas.openxmlformats.org/drawingml/2006/main">
              <a:ext uri="{FF2B5EF4-FFF2-40B4-BE49-F238E27FC236}">
                <a16:creationId xmlns:a16="http://schemas.microsoft.com/office/drawing/2014/main" id="{2D9687D0-C0FB-43F2-AD39-B5DD25821F39}"/>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First Successful Ground Landing</a:t>
            </a:r>
            <a:endParaRPr sz="1100"/>
          </a:p>
        </p:txBody>
      </p:sp>
      <p:sp>
        <p:nvSpPr>
          <p:cNvPr id="321" name="">
            <a:extLst xmlns:a="http://schemas.openxmlformats.org/drawingml/2006/main">
              <a:ext uri="{FF2B5EF4-FFF2-40B4-BE49-F238E27FC236}">
                <a16:creationId xmlns:a16="http://schemas.microsoft.com/office/drawing/2014/main" id="{168EFF9C-5328-4980-A6E4-0A1CF0E26C36}"/>
              </a:ext>
            </a:extLst>
          </p:cNvPr>
          <p:cNvSpPr>
            <a:spLocks xmlns:a="http://schemas.openxmlformats.org/drawingml/2006/main" noGrp="1"/>
          </p:cNvSpPr>
          <p:nvPr/>
        </p:nvSpPr>
        <p:spPr>
          <a:xfrm xmlns:a="http://schemas.openxmlformats.org/drawingml/2006/main">
            <a:off x="628650" y="1276350"/>
            <a:ext cx="7886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SELECT MIN(Date)</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FROM SPACEXTBL</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WHERE Landing_Outcome = 'Success (ground pad)'</a:t>
            </a:r>
          </a:p>
        </p:txBody>
      </p:sp>
      <p:graphicFrame>
        <p:nvGraphicFramePr>
          <p:cNvPr id="322" name="">
            <a:extLst xmlns:a="http://schemas.openxmlformats.org/drawingml/2006/main">
              <a:ext uri="{FF2B5EF4-FFF2-40B4-BE49-F238E27FC236}">
                <a16:creationId xmlns:a16="http://schemas.microsoft.com/office/drawing/2014/main" id="{2BB8567C-593C-4E16-B100-71C60A61316B}"/>
              </a:ext>
            </a:extLst>
          </p:cNvPr>
          <p:cNvGraphicFramePr/>
          <p:nvPr/>
        </p:nvGraphicFramePr>
        <p:xfrm>
          <a:off xmlns:a="http://schemas.openxmlformats.org/drawingml/2006/main" x="628650" y="2714625"/>
          <a:ext xmlns:a="http://schemas.openxmlformats.org/drawingml/2006/main" cx="5524500" cy="923925"/>
        </p:xfrm>
        <a:graphic xmlns:a="http://schemas.openxmlformats.org/drawingml/2006/main">
          <a:graphicData uri="http://schemas.openxmlformats.org/drawingml/2006/table">
            <a:tbl>
              <a:tblPr firstRow="1" bandRow="0"/>
              <a:tblGrid>
                <a:gridCol w="5524500"/>
              </a:tblGrid>
              <a:tr h="461963">
                <a:tc>
                  <a:txBody>
                    <a:bodyPr lIns="0" tIns="0" rIns="0" bIns="0">
                      <a:noAutofit/>
                    </a:bodyPr>
                    <a:lstStyle/>
                    <a:p>
                      <a:pPr algn="l"/>
                      <a:r>
                        <a:rPr sz="1700" b="1">
                          <a:solidFill>
                            <a:srgbClr val="FFFFFF"/>
                          </a:solidFill>
                          <a:latin typeface="Arial"/>
                          <a:ea typeface="Arial"/>
                          <a:cs typeface="Arial"/>
                        </a:rPr>
                        <a:t>First recorded date</a:t>
                      </a:r>
                    </a:p>
                  </a:txBody>
                  <a:tcPr marL="76200" marR="76200" marT="0" marB="0" anchor="ctr">
                    <a:solidFill>
                      <a:srgbClr val="0B49CB"/>
                    </a:solidFill>
                  </a:tcPr>
                </a:tc>
              </a:tr>
              <a:tr h="461963">
                <a:tc>
                  <a:txBody>
                    <a:bodyPr lIns="0" tIns="0" rIns="0" bIns="0">
                      <a:noAutofit/>
                    </a:bodyPr>
                    <a:lstStyle/>
                    <a:p>
                      <a:pPr algn="l"/>
                      <a:r>
                        <a:rPr sz="1700" b="0">
                          <a:solidFill>
                            <a:srgbClr val="292929"/>
                          </a:solidFill>
                          <a:latin typeface="Arial"/>
                          <a:ea typeface="Arial"/>
                          <a:cs typeface="Arial"/>
                        </a:rPr>
                        <a:t>2015-12-22</a:t>
                      </a:r>
                    </a:p>
                  </a:txBody>
                  <a:tcPr marL="76200" marR="76200" marT="0" marB="0" anchor="ctr">
                    <a:solidFill>
                      <a:srgbClr val="FFFFFF"/>
                    </a:solidFill>
                  </a:tcPr>
                </a:tc>
              </a:tr>
            </a:tbl>
          </a:graphicData>
        </a:graphic>
      </p:graphicFrame>
      <p:sp>
        <p:nvSpPr>
          <p:cNvPr id="323" name="">
            <a:extLst xmlns:a="http://schemas.openxmlformats.org/drawingml/2006/main">
              <a:ext uri="{FF2B5EF4-FFF2-40B4-BE49-F238E27FC236}">
                <a16:creationId xmlns:a16="http://schemas.microsoft.com/office/drawing/2014/main" id="{B3CE36DB-D8C7-4418-A2A2-E7E1880411F1}"/>
              </a:ext>
            </a:extLst>
          </p:cNvPr>
          <p:cNvSpPr>
            <a:spLocks xmlns:a="http://schemas.openxmlformats.org/drawingml/2006/main" noGrp="1"/>
          </p:cNvSpPr>
          <p:nvPr/>
        </p:nvSpPr>
        <p:spPr>
          <a:xfrm xmlns:a="http://schemas.openxmlformats.org/drawingml/2006/main">
            <a:off x="628650" y="3952875"/>
            <a:ext cx="7762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The database records the first successful ground-pad landing on 22 December 2015.</a:t>
            </a:r>
          </a:p>
        </p:txBody>
      </p:sp>
    </p:spTree>
    <p:extLst>
      <p:ext uri="{BB962C8B-B14F-4D97-AF65-F5344CB8AC3E}">
        <p14:creationId xmlns:p14="http://schemas.microsoft.com/office/powerpoint/2010/main" val="1792094467"/>
      </p:ext>
    </p:extLst>
  </p:cSld>
</p:sld>
</file>

<file path=ppt/slides/slide29.xml><?xml version="1.0" encoding="utf-8"?>
<p:sld xmlns:p="http://schemas.openxmlformats.org/presentationml/2006/main">
  <p:cSld>
    <p:bg>
      <p:bgPr>
        <a:blipFill xmlns:a="http://schemas.openxmlformats.org/drawingml/2006/main">
          <a:blip xmlns:r="http://schemas.openxmlformats.org/officeDocument/2006/relationships" r:embed="R2a6b11dbc91a454f">
            <a:alphaModFix/>
          </a:blip>
          <a:stretch>
            <a:fillRect l="0" t="0" r="0" b="0"/>
          </a:stretch>
        </a:blipFill>
      </p:bgPr>
    </p:bg>
    <p:spTree>
      <p:nvGrpSpPr>
        <p:cNvPr id="1" name=""/>
        <p:cNvGrpSpPr/>
        <p:nvPr/>
      </p:nvGrpSpPr>
      <p:grpSpPr>
        <a:xfrm xmlns:a="http://schemas.openxmlformats.org/drawingml/2006/main"/>
      </p:grpSpPr>
      <p:sp>
        <p:nvSpPr>
          <p:cNvPr id="325" name="Google Shape;325;p55">
            <a:extLst xmlns:a="http://schemas.openxmlformats.org/drawingml/2006/main">
              <a:ext uri="{FF2B5EF4-FFF2-40B4-BE49-F238E27FC236}">
                <a16:creationId xmlns:a16="http://schemas.microsoft.com/office/drawing/2014/main" id="{85F7E9DC-E5A4-4549-B56A-6C3D74678E49}"/>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41680313-6E64-04FF-399A-57B7CADE95A9}" type="slidenum">
              <a:rPr sz="1200">
                <a:solidFill>
                  <a:srgbClr val="1C7DDB"/>
                </a:solidFill>
                <a:latin typeface="Arial"/>
                <a:ea typeface="Arial"/>
                <a:cs typeface="Arial"/>
              </a:rPr>
              <a:t>29</a:t>
            </a:fld>
            <a:endParaRPr/>
          </a:p>
        </p:txBody>
      </p:sp>
      <p:sp>
        <p:nvSpPr>
          <p:cNvPr id="327" name="Google Shape;327;p55">
            <a:extLst xmlns:a="http://schemas.openxmlformats.org/drawingml/2006/main">
              <a:ext uri="{FF2B5EF4-FFF2-40B4-BE49-F238E27FC236}">
                <a16:creationId xmlns:a16="http://schemas.microsoft.com/office/drawing/2014/main" id="{76CDDAFA-F4F5-484F-B221-9114590E342F}"/>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Drone Ship Landings: 4,000-6,000 kg</a:t>
            </a:r>
            <a:endParaRPr sz="1100"/>
          </a:p>
        </p:txBody>
      </p:sp>
      <p:sp>
        <p:nvSpPr>
          <p:cNvPr id="328" name="">
            <a:extLst xmlns:a="http://schemas.openxmlformats.org/drawingml/2006/main">
              <a:ext uri="{FF2B5EF4-FFF2-40B4-BE49-F238E27FC236}">
                <a16:creationId xmlns:a16="http://schemas.microsoft.com/office/drawing/2014/main" id="{651AB598-A2DC-4013-817C-E728748B8C77}"/>
              </a:ext>
            </a:extLst>
          </p:cNvPr>
          <p:cNvSpPr>
            <a:spLocks xmlns:a="http://schemas.openxmlformats.org/drawingml/2006/main" noGrp="1"/>
          </p:cNvSpPr>
          <p:nvPr/>
        </p:nvSpPr>
        <p:spPr>
          <a:xfrm xmlns:a="http://schemas.openxmlformats.org/drawingml/2006/main">
            <a:off x="628650" y="1304925"/>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Landing_Outcome = 'Success (drone ship)'</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AND PAYLOAD_MASS__KG_ &gt; 4000</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AND PAYLOAD_MASS__KG_ &lt; 6000</a:t>
            </a:r>
          </a:p>
        </p:txBody>
      </p:sp>
      <p:sp>
        <p:nvSpPr>
          <p:cNvPr id="329" name="">
            <a:extLst xmlns:a="http://schemas.openxmlformats.org/drawingml/2006/main">
              <a:ext uri="{FF2B5EF4-FFF2-40B4-BE49-F238E27FC236}">
                <a16:creationId xmlns:a16="http://schemas.microsoft.com/office/drawing/2014/main" id="{C8D0D2B5-6D3E-436E-8375-69D28A9C6A0F}"/>
              </a:ext>
            </a:extLst>
          </p:cNvPr>
          <p:cNvSpPr>
            <a:spLocks xmlns:a="http://schemas.openxmlformats.org/drawingml/2006/main" noGrp="1"/>
          </p:cNvSpPr>
          <p:nvPr/>
        </p:nvSpPr>
        <p:spPr>
          <a:xfrm xmlns:a="http://schemas.openxmlformats.org/drawingml/2006/main">
            <a:off x="628650" y="3143250"/>
            <a:ext cx="3571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Four booster-version records match.</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range excludes both endpoints.</a:t>
            </a:r>
          </a:p>
        </p:txBody>
      </p:sp>
      <p:graphicFrame>
        <p:nvGraphicFramePr>
          <p:cNvPr id="330" name="">
            <a:extLst xmlns:a="http://schemas.openxmlformats.org/drawingml/2006/main">
              <a:ext uri="{FF2B5EF4-FFF2-40B4-BE49-F238E27FC236}">
                <a16:creationId xmlns:a16="http://schemas.microsoft.com/office/drawing/2014/main" id="{AEF7AD4B-7FBD-4422-AD6F-B4DDA809FB05}"/>
              </a:ext>
            </a:extLst>
          </p:cNvPr>
          <p:cNvGraphicFramePr/>
          <p:nvPr/>
        </p:nvGraphicFramePr>
        <p:xfrm>
          <a:off xmlns:a="http://schemas.openxmlformats.org/drawingml/2006/main" x="4943475" y="1381125"/>
          <a:ext xmlns:a="http://schemas.openxmlformats.org/drawingml/2006/main" cx="3571875" cy="2562225"/>
        </p:xfrm>
        <a:graphic xmlns:a="http://schemas.openxmlformats.org/drawingml/2006/main">
          <a:graphicData uri="http://schemas.openxmlformats.org/drawingml/2006/table">
            <a:tbl>
              <a:tblPr firstRow="1" bandRow="0"/>
              <a:tblGrid>
                <a:gridCol w="3571875"/>
              </a:tblGrid>
              <a:tr h="512445">
                <a:tc>
                  <a:txBody>
                    <a:bodyPr lIns="0" tIns="0" rIns="0" bIns="0">
                      <a:noAutofit/>
                    </a:bodyPr>
                    <a:lstStyle/>
                    <a:p>
                      <a:pPr algn="l"/>
                      <a:r>
                        <a:rPr sz="1700" b="1">
                          <a:solidFill>
                            <a:srgbClr val="FFFFFF"/>
                          </a:solidFill>
                          <a:latin typeface="Arial"/>
                          <a:ea typeface="Arial"/>
                          <a:cs typeface="Arial"/>
                        </a:rPr>
                        <a:t>Booster version</a:t>
                      </a:r>
                    </a:p>
                  </a:txBody>
                  <a:tcPr marL="76200" marR="76200" marT="0" marB="0" anchor="ctr">
                    <a:solidFill>
                      <a:srgbClr val="0B49CB"/>
                    </a:solidFill>
                  </a:tcPr>
                </a:tc>
              </a:tr>
              <a:tr h="512445">
                <a:tc>
                  <a:txBody>
                    <a:bodyPr lIns="0" tIns="0" rIns="0" bIns="0">
                      <a:noAutofit/>
                    </a:bodyPr>
                    <a:lstStyle/>
                    <a:p>
                      <a:pPr algn="l"/>
                      <a:r>
                        <a:rPr sz="1700" b="0">
                          <a:solidFill>
                            <a:srgbClr val="292929"/>
                          </a:solidFill>
                          <a:latin typeface="Arial"/>
                          <a:ea typeface="Arial"/>
                          <a:cs typeface="Arial"/>
                        </a:rPr>
                        <a:t>F9 FT B1022</a:t>
                      </a:r>
                    </a:p>
                  </a:txBody>
                  <a:tcPr marL="76200" marR="76200" marT="0" marB="0" anchor="ctr">
                    <a:solidFill>
                      <a:srgbClr val="FFFFFF"/>
                    </a:solidFill>
                  </a:tcPr>
                </a:tc>
              </a:tr>
              <a:tr h="512445">
                <a:tc>
                  <a:txBody>
                    <a:bodyPr lIns="0" tIns="0" rIns="0" bIns="0">
                      <a:noAutofit/>
                    </a:bodyPr>
                    <a:lstStyle/>
                    <a:p>
                      <a:pPr algn="l"/>
                      <a:r>
                        <a:rPr sz="1700" b="0">
                          <a:solidFill>
                            <a:srgbClr val="292929"/>
                          </a:solidFill>
                          <a:latin typeface="Arial"/>
                          <a:ea typeface="Arial"/>
                          <a:cs typeface="Arial"/>
                        </a:rPr>
                        <a:t>F9 FT B1026</a:t>
                      </a:r>
                    </a:p>
                  </a:txBody>
                  <a:tcPr marL="76200" marR="76200" marT="0" marB="0" anchor="ctr">
                    <a:solidFill>
                      <a:srgbClr val="E9EEF8"/>
                    </a:solidFill>
                  </a:tcPr>
                </a:tc>
              </a:tr>
              <a:tr h="512445">
                <a:tc>
                  <a:txBody>
                    <a:bodyPr lIns="0" tIns="0" rIns="0" bIns="0">
                      <a:noAutofit/>
                    </a:bodyPr>
                    <a:lstStyle/>
                    <a:p>
                      <a:pPr algn="l"/>
                      <a:r>
                        <a:rPr sz="1700" b="0">
                          <a:solidFill>
                            <a:srgbClr val="292929"/>
                          </a:solidFill>
                          <a:latin typeface="Arial"/>
                          <a:ea typeface="Arial"/>
                          <a:cs typeface="Arial"/>
                        </a:rPr>
                        <a:t>F9 FT  B1021.2</a:t>
                      </a:r>
                    </a:p>
                  </a:txBody>
                  <a:tcPr marL="76200" marR="76200" marT="0" marB="0" anchor="ctr">
                    <a:solidFill>
                      <a:srgbClr val="FFFFFF"/>
                    </a:solidFill>
                  </a:tcPr>
                </a:tc>
              </a:tr>
              <a:tr h="512445">
                <a:tc>
                  <a:txBody>
                    <a:bodyPr lIns="0" tIns="0" rIns="0" bIns="0">
                      <a:noAutofit/>
                    </a:bodyPr>
                    <a:lstStyle/>
                    <a:p>
                      <a:pPr algn="l"/>
                      <a:r>
                        <a:rPr sz="1700" b="0">
                          <a:solidFill>
                            <a:srgbClr val="292929"/>
                          </a:solidFill>
                          <a:latin typeface="Arial"/>
                          <a:ea typeface="Arial"/>
                          <a:cs typeface="Arial"/>
                        </a:rPr>
                        <a:t>F9 FT  B1031.2</a:t>
                      </a:r>
                    </a:p>
                  </a:txBody>
                  <a:tcPr marL="76200" marR="76200" marT="0" marB="0" anchor="ctr">
                    <a:solidFill>
                      <a:srgbClr val="E9EEF8"/>
                    </a:solidFill>
                  </a:tcPr>
                </a:tc>
              </a:tr>
            </a:tbl>
          </a:graphicData>
        </a:graphic>
      </p:graphicFrame>
    </p:spTree>
    <p:extLst>
      <p:ext uri="{BB962C8B-B14F-4D97-AF65-F5344CB8AC3E}">
        <p14:creationId xmlns:p14="http://schemas.microsoft.com/office/powerpoint/2010/main" val="8281821"/>
      </p:ext>
    </p:extLst>
  </p:cSld>
</p:sld>
</file>

<file path=ppt/slides/slide30.xml><?xml version="1.0" encoding="utf-8"?>
<p:sld xmlns:p="http://schemas.openxmlformats.org/presentationml/2006/main">
  <p:cSld>
    <p:bg>
      <p:bgPr>
        <a:blipFill xmlns:a="http://schemas.openxmlformats.org/drawingml/2006/main">
          <a:blip xmlns:r="http://schemas.openxmlformats.org/officeDocument/2006/relationships" r:embed="Rcb5b4f3e14924f92">
            <a:alphaModFix/>
          </a:blip>
          <a:stretch>
            <a:fillRect l="0" t="0" r="0" b="0"/>
          </a:stretch>
        </a:blipFill>
      </p:bgPr>
    </p:bg>
    <p:spTree>
      <p:nvGrpSpPr>
        <p:cNvPr id="1" name=""/>
        <p:cNvGrpSpPr/>
        <p:nvPr/>
      </p:nvGrpSpPr>
      <p:grpSpPr>
        <a:xfrm xmlns:a="http://schemas.openxmlformats.org/drawingml/2006/main"/>
      </p:grpSpPr>
      <p:sp>
        <p:nvSpPr>
          <p:cNvPr id="332" name="Google Shape;332;p56">
            <a:extLst xmlns:a="http://schemas.openxmlformats.org/drawingml/2006/main">
              <a:ext uri="{FF2B5EF4-FFF2-40B4-BE49-F238E27FC236}">
                <a16:creationId xmlns:a16="http://schemas.microsoft.com/office/drawing/2014/main" id="{95B2AF0A-816C-4D70-A2C5-01D08F5487B8}"/>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5FEBBBCE-9E16-527A-0EE3-E5839422D847}" type="slidenum">
              <a:rPr sz="1200">
                <a:solidFill>
                  <a:srgbClr val="1C7DDB"/>
                </a:solidFill>
                <a:latin typeface="Arial"/>
                <a:ea typeface="Arial"/>
                <a:cs typeface="Arial"/>
              </a:rPr>
              <a:t>30</a:t>
            </a:fld>
            <a:endParaRPr/>
          </a:p>
        </p:txBody>
      </p:sp>
      <p:sp>
        <p:nvSpPr>
          <p:cNvPr id="334" name="Google Shape;334;p56">
            <a:extLst xmlns:a="http://schemas.openxmlformats.org/drawingml/2006/main">
              <a:ext uri="{FF2B5EF4-FFF2-40B4-BE49-F238E27FC236}">
                <a16:creationId xmlns:a16="http://schemas.microsoft.com/office/drawing/2014/main" id="{8C147FD8-88FA-4E0B-9BA7-D6FE5F3534EB}"/>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Mission Outcomes</a:t>
            </a:r>
            <a:endParaRPr sz="1100"/>
          </a:p>
        </p:txBody>
      </p:sp>
      <p:sp>
        <p:nvSpPr>
          <p:cNvPr id="335" name="">
            <a:extLst xmlns:a="http://schemas.openxmlformats.org/drawingml/2006/main">
              <a:ext uri="{FF2B5EF4-FFF2-40B4-BE49-F238E27FC236}">
                <a16:creationId xmlns:a16="http://schemas.microsoft.com/office/drawing/2014/main" id="{F5BA796F-3DEE-4EE9-8385-A1A7D77C0527}"/>
              </a:ext>
            </a:extLst>
          </p:cNvPr>
          <p:cNvSpPr>
            <a:spLocks xmlns:a="http://schemas.openxmlformats.org/drawingml/2006/main" noGrp="1"/>
          </p:cNvSpPr>
          <p:nvPr/>
        </p:nvSpPr>
        <p:spPr>
          <a:xfrm xmlns:a="http://schemas.openxmlformats.org/drawingml/2006/main">
            <a:off x="628650" y="1266825"/>
            <a:ext cx="7886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SELECT TRIM(Mission_Outcome), COUNT(*)</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FROM SPACEXTBL</a:t>
            </a:r>
          </a:p>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GROUP BY TRIM(Mission_Outcome);</a:t>
            </a:r>
          </a:p>
        </p:txBody>
      </p:sp>
      <p:graphicFrame>
        <p:nvGraphicFramePr>
          <p:cNvPr id="336" name="">
            <a:extLst xmlns:a="http://schemas.openxmlformats.org/drawingml/2006/main">
              <a:ext uri="{FF2B5EF4-FFF2-40B4-BE49-F238E27FC236}">
                <a16:creationId xmlns:a16="http://schemas.microsoft.com/office/drawing/2014/main" id="{4CB5BFF1-A5D0-4974-8302-79A84760B414}"/>
              </a:ext>
            </a:extLst>
          </p:cNvPr>
          <p:cNvGraphicFramePr/>
          <p:nvPr/>
        </p:nvGraphicFramePr>
        <p:xfrm>
          <a:off xmlns:a="http://schemas.openxmlformats.org/drawingml/2006/main" x="628650" y="2371725"/>
          <a:ext xmlns:a="http://schemas.openxmlformats.org/drawingml/2006/main" cx="7886700" cy="1704975"/>
        </p:xfrm>
        <a:graphic xmlns:a="http://schemas.openxmlformats.org/drawingml/2006/main">
          <a:graphicData uri="http://schemas.openxmlformats.org/drawingml/2006/table">
            <a:tbl>
              <a:tblPr firstRow="1" bandRow="0"/>
              <a:tblGrid>
                <a:gridCol w="6172200"/>
                <a:gridCol w="1714500"/>
              </a:tblGrid>
              <a:tr h="340995">
                <a:tc>
                  <a:txBody>
                    <a:bodyPr lIns="0" tIns="0" rIns="0" bIns="0">
                      <a:noAutofit/>
                    </a:bodyPr>
                    <a:lstStyle/>
                    <a:p>
                      <a:pPr algn="l"/>
                      <a:r>
                        <a:rPr sz="1700" b="1">
                          <a:solidFill>
                            <a:srgbClr val="FFFFFF"/>
                          </a:solidFill>
                          <a:latin typeface="Arial"/>
                          <a:ea typeface="Arial"/>
                          <a:cs typeface="Arial"/>
                        </a:rPr>
                        <a:t>Mission outcome</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Count</a:t>
                      </a:r>
                    </a:p>
                  </a:txBody>
                  <a:tcPr marL="76200" marR="76200" marT="0" marB="0" anchor="ctr">
                    <a:solidFill>
                      <a:srgbClr val="0B49CB"/>
                    </a:solidFill>
                  </a:tcPr>
                </a:tc>
              </a:tr>
              <a:tr h="340995">
                <a:tc>
                  <a:txBody>
                    <a:bodyPr lIns="0" tIns="0" rIns="0" bIns="0">
                      <a:noAutofit/>
                    </a:bodyPr>
                    <a:lstStyle/>
                    <a:p>
                      <a:pPr algn="l"/>
                      <a:r>
                        <a:rPr sz="1700" b="0">
                          <a:solidFill>
                            <a:srgbClr val="292929"/>
                          </a:solidFill>
                          <a:latin typeface="Arial"/>
                          <a:ea typeface="Arial"/>
                          <a:cs typeface="Arial"/>
                        </a:rPr>
                        <a:t>Success</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99</a:t>
                      </a:r>
                    </a:p>
                  </a:txBody>
                  <a:tcPr marL="76200" marR="76200" marT="0" marB="0" anchor="ctr">
                    <a:solidFill>
                      <a:srgbClr val="FFFFFF"/>
                    </a:solidFill>
                  </a:tcPr>
                </a:tc>
              </a:tr>
              <a:tr h="340995">
                <a:tc>
                  <a:txBody>
                    <a:bodyPr lIns="0" tIns="0" rIns="0" bIns="0">
                      <a:noAutofit/>
                    </a:bodyPr>
                    <a:lstStyle/>
                    <a:p>
                      <a:pPr algn="l"/>
                      <a:r>
                        <a:rPr sz="1700" b="0">
                          <a:solidFill>
                            <a:srgbClr val="292929"/>
                          </a:solidFill>
                          <a:latin typeface="Arial"/>
                          <a:ea typeface="Arial"/>
                          <a:cs typeface="Arial"/>
                        </a:rPr>
                        <a:t>Success (payload status unclear)</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a:t>
                      </a:r>
                    </a:p>
                  </a:txBody>
                  <a:tcPr marL="76200" marR="76200" marT="0" marB="0" anchor="ctr">
                    <a:solidFill>
                      <a:srgbClr val="E9EEF8"/>
                    </a:solidFill>
                  </a:tcPr>
                </a:tc>
              </a:tr>
              <a:tr h="340995">
                <a:tc>
                  <a:txBody>
                    <a:bodyPr lIns="0" tIns="0" rIns="0" bIns="0">
                      <a:noAutofit/>
                    </a:bodyPr>
                    <a:lstStyle/>
                    <a:p>
                      <a:pPr algn="l"/>
                      <a:r>
                        <a:rPr sz="1700" b="0">
                          <a:solidFill>
                            <a:srgbClr val="292929"/>
                          </a:solidFill>
                          <a:latin typeface="Arial"/>
                          <a:ea typeface="Arial"/>
                          <a:cs typeface="Arial"/>
                        </a:rPr>
                        <a:t>Failure (in flight)</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1</a:t>
                      </a:r>
                    </a:p>
                  </a:txBody>
                  <a:tcPr marL="76200" marR="76200" marT="0" marB="0" anchor="ctr">
                    <a:solidFill>
                      <a:srgbClr val="FFFFFF"/>
                    </a:solidFill>
                  </a:tcPr>
                </a:tc>
              </a:tr>
              <a:tr h="340995">
                <a:tc>
                  <a:txBody>
                    <a:bodyPr lIns="0" tIns="0" rIns="0" bIns="0">
                      <a:noAutofit/>
                    </a:bodyPr>
                    <a:lstStyle/>
                    <a:p>
                      <a:pPr algn="l"/>
                      <a:r>
                        <a:rPr sz="1700" b="0">
                          <a:solidFill>
                            <a:srgbClr val="292929"/>
                          </a:solidFill>
                          <a:latin typeface="Arial"/>
                          <a:ea typeface="Arial"/>
                          <a:cs typeface="Arial"/>
                        </a:rPr>
                        <a:t>Total</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101</a:t>
                      </a:r>
                    </a:p>
                  </a:txBody>
                  <a:tcPr marL="76200" marR="76200" marT="0" marB="0" anchor="ctr">
                    <a:solidFill>
                      <a:srgbClr val="E9EEF8"/>
                    </a:solidFill>
                  </a:tcPr>
                </a:tc>
              </a:tr>
            </a:tbl>
          </a:graphicData>
        </a:graphic>
      </p:graphicFrame>
      <p:sp>
        <p:nvSpPr>
          <p:cNvPr id="337" name="">
            <a:extLst xmlns:a="http://schemas.openxmlformats.org/drawingml/2006/main">
              <a:ext uri="{FF2B5EF4-FFF2-40B4-BE49-F238E27FC236}">
                <a16:creationId xmlns:a16="http://schemas.microsoft.com/office/drawing/2014/main" id="{BB3AB684-B9F1-4E31-806B-282A1AAF9A58}"/>
              </a:ext>
            </a:extLst>
          </p:cNvPr>
          <p:cNvSpPr>
            <a:spLocks xmlns:a="http://schemas.openxmlformats.org/drawingml/2006/main" noGrp="1"/>
          </p:cNvSpPr>
          <p:nvPr/>
        </p:nvSpPr>
        <p:spPr>
          <a:xfrm xmlns:a="http://schemas.openxmlformats.org/drawingml/2006/main">
            <a:off x="628650" y="423862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TRIM merges the original Success and Success-with-space labels. Mission success differs from booster landing.</a:t>
            </a:r>
          </a:p>
        </p:txBody>
      </p:sp>
    </p:spTree>
    <p:extLst>
      <p:ext uri="{BB962C8B-B14F-4D97-AF65-F5344CB8AC3E}">
        <p14:creationId xmlns:p14="http://schemas.microsoft.com/office/powerpoint/2010/main" val="1408644466"/>
      </p:ext>
    </p:extLst>
  </p:cSld>
</p:sld>
</file>

<file path=ppt/slides/slide31.xml><?xml version="1.0" encoding="utf-8"?>
<p:sld xmlns:p="http://schemas.openxmlformats.org/presentationml/2006/main">
  <p:cSld>
    <p:bg>
      <p:bgPr>
        <a:blipFill xmlns:a="http://schemas.openxmlformats.org/drawingml/2006/main">
          <a:blip xmlns:r="http://schemas.openxmlformats.org/officeDocument/2006/relationships" r:embed="R22e7688a4c9f4ae2">
            <a:alphaModFix/>
          </a:blip>
          <a:stretch>
            <a:fillRect l="0" t="0" r="0" b="0"/>
          </a:stretch>
        </a:blipFill>
      </p:bgPr>
    </p:bg>
    <p:spTree>
      <p:nvGrpSpPr>
        <p:cNvPr id="1" name=""/>
        <p:cNvGrpSpPr/>
        <p:nvPr/>
      </p:nvGrpSpPr>
      <p:grpSpPr>
        <a:xfrm xmlns:a="http://schemas.openxmlformats.org/drawingml/2006/main"/>
      </p:grpSpPr>
      <p:sp>
        <p:nvSpPr>
          <p:cNvPr id="339" name="Google Shape;339;p57">
            <a:extLst xmlns:a="http://schemas.openxmlformats.org/drawingml/2006/main">
              <a:ext uri="{FF2B5EF4-FFF2-40B4-BE49-F238E27FC236}">
                <a16:creationId xmlns:a16="http://schemas.microsoft.com/office/drawing/2014/main" id="{BCE0CC9E-0FB1-41A0-98CA-6D0079E1606F}"/>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D172A7C5-A0CC-7B36-F236-345181E6AD72}" type="slidenum">
              <a:rPr sz="1200">
                <a:solidFill>
                  <a:srgbClr val="1C7DDB"/>
                </a:solidFill>
                <a:latin typeface="Arial"/>
                <a:ea typeface="Arial"/>
                <a:cs typeface="Arial"/>
              </a:rPr>
              <a:t>31</a:t>
            </a:fld>
            <a:endParaRPr/>
          </a:p>
        </p:txBody>
      </p:sp>
      <p:sp>
        <p:nvSpPr>
          <p:cNvPr id="341" name="Google Shape;341;p57">
            <a:extLst xmlns:a="http://schemas.openxmlformats.org/drawingml/2006/main">
              <a:ext uri="{FF2B5EF4-FFF2-40B4-BE49-F238E27FC236}">
                <a16:creationId xmlns:a16="http://schemas.microsoft.com/office/drawing/2014/main" id="{23387C4B-A1F5-4BE4-9286-BB37420FEFE0}"/>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Boosters Carrying Maximum Payload</a:t>
            </a:r>
            <a:endParaRPr sz="1100"/>
          </a:p>
        </p:txBody>
      </p:sp>
      <p:sp>
        <p:nvSpPr>
          <p:cNvPr id="342" name="">
            <a:extLst xmlns:a="http://schemas.openxmlformats.org/drawingml/2006/main">
              <a:ext uri="{FF2B5EF4-FFF2-40B4-BE49-F238E27FC236}">
                <a16:creationId xmlns:a16="http://schemas.microsoft.com/office/drawing/2014/main" id="{5ADAAE89-085B-4EBB-9C6F-1E3430A73159}"/>
              </a:ext>
            </a:extLst>
          </p:cNvPr>
          <p:cNvSpPr>
            <a:spLocks xmlns:a="http://schemas.openxmlformats.org/drawingml/2006/main" noGrp="1"/>
          </p:cNvSpPr>
          <p:nvPr/>
        </p:nvSpPr>
        <p:spPr>
          <a:xfrm xmlns:a="http://schemas.openxmlformats.org/drawingml/2006/main">
            <a:off x="628650" y="1257300"/>
            <a:ext cx="7772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Maximum recorded payload: 15,600 kg. Twelve matching booster-version entries.</a:t>
            </a:r>
          </a:p>
        </p:txBody>
      </p:sp>
      <p:graphicFrame>
        <p:nvGraphicFramePr>
          <p:cNvPr id="343" name="">
            <a:extLst xmlns:a="http://schemas.openxmlformats.org/drawingml/2006/main">
              <a:ext uri="{FF2B5EF4-FFF2-40B4-BE49-F238E27FC236}">
                <a16:creationId xmlns:a16="http://schemas.microsoft.com/office/drawing/2014/main" id="{839C90B3-6343-4CFD-B01F-C88460EA7D8A}"/>
              </a:ext>
            </a:extLst>
          </p:cNvPr>
          <p:cNvGraphicFramePr/>
          <p:nvPr/>
        </p:nvGraphicFramePr>
        <p:xfrm>
          <a:off xmlns:a="http://schemas.openxmlformats.org/drawingml/2006/main" x="628650" y="2057400"/>
          <a:ext xmlns:a="http://schemas.openxmlformats.org/drawingml/2006/main" cx="7886700" cy="2305050"/>
        </p:xfrm>
        <a:graphic xmlns:a="http://schemas.openxmlformats.org/drawingml/2006/main">
          <a:graphicData uri="http://schemas.openxmlformats.org/drawingml/2006/table">
            <a:tbl>
              <a:tblPr firstRow="1" bandRow="0"/>
              <a:tblGrid>
                <a:gridCol w="3943350"/>
                <a:gridCol w="3943350"/>
              </a:tblGrid>
              <a:tr h="329293">
                <a:tc>
                  <a:txBody>
                    <a:bodyPr lIns="0" tIns="0" rIns="0" bIns="0">
                      <a:noAutofit/>
                    </a:bodyPr>
                    <a:lstStyle/>
                    <a:p>
                      <a:pPr algn="l"/>
                      <a:r>
                        <a:rPr sz="1700" b="1">
                          <a:solidFill>
                            <a:srgbClr val="FFFFFF"/>
                          </a:solidFill>
                          <a:latin typeface="Arial"/>
                          <a:ea typeface="Arial"/>
                          <a:cs typeface="Arial"/>
                        </a:rPr>
                        <a:t>Booster version</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Booster version</a:t>
                      </a:r>
                    </a:p>
                  </a:txBody>
                  <a:tcPr marL="76200" marR="76200" marT="0" marB="0" anchor="ctr">
                    <a:solidFill>
                      <a:srgbClr val="0B49CB"/>
                    </a:solidFill>
                  </a:tcPr>
                </a:tc>
              </a:tr>
              <a:tr h="329293">
                <a:tc>
                  <a:txBody>
                    <a:bodyPr lIns="0" tIns="0" rIns="0" bIns="0">
                      <a:noAutofit/>
                    </a:bodyPr>
                    <a:lstStyle/>
                    <a:p>
                      <a:pPr algn="l"/>
                      <a:r>
                        <a:rPr sz="1700" b="0">
                          <a:solidFill>
                            <a:srgbClr val="292929"/>
                          </a:solidFill>
                          <a:latin typeface="Arial"/>
                          <a:ea typeface="Arial"/>
                          <a:cs typeface="Arial"/>
                        </a:rPr>
                        <a:t>F9 B5 B1048.4</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B5 B1049.5</a:t>
                      </a:r>
                    </a:p>
                  </a:txBody>
                  <a:tcPr marL="76200" marR="76200" marT="0" marB="0" anchor="ctr">
                    <a:solidFill>
                      <a:srgbClr val="FFFFFF"/>
                    </a:solidFill>
                  </a:tcPr>
                </a:tc>
              </a:tr>
              <a:tr h="329293">
                <a:tc>
                  <a:txBody>
                    <a:bodyPr lIns="0" tIns="0" rIns="0" bIns="0">
                      <a:noAutofit/>
                    </a:bodyPr>
                    <a:lstStyle/>
                    <a:p>
                      <a:pPr algn="l"/>
                      <a:r>
                        <a:rPr sz="1700" b="0">
                          <a:solidFill>
                            <a:srgbClr val="292929"/>
                          </a:solidFill>
                          <a:latin typeface="Arial"/>
                          <a:ea typeface="Arial"/>
                          <a:cs typeface="Arial"/>
                        </a:rPr>
                        <a:t>F9 B5 B1049.4</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B5 B1060.2</a:t>
                      </a:r>
                    </a:p>
                  </a:txBody>
                  <a:tcPr marL="76200" marR="76200" marT="0" marB="0" anchor="ctr">
                    <a:solidFill>
                      <a:srgbClr val="E9EEF8"/>
                    </a:solidFill>
                  </a:tcPr>
                </a:tc>
              </a:tr>
              <a:tr h="329293">
                <a:tc>
                  <a:txBody>
                    <a:bodyPr lIns="0" tIns="0" rIns="0" bIns="0">
                      <a:noAutofit/>
                    </a:bodyPr>
                    <a:lstStyle/>
                    <a:p>
                      <a:pPr algn="l"/>
                      <a:r>
                        <a:rPr sz="1700" b="0">
                          <a:solidFill>
                            <a:srgbClr val="292929"/>
                          </a:solidFill>
                          <a:latin typeface="Arial"/>
                          <a:ea typeface="Arial"/>
                          <a:cs typeface="Arial"/>
                        </a:rPr>
                        <a:t>F9 B5 B1051.3</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B5 B1058.3</a:t>
                      </a:r>
                    </a:p>
                  </a:txBody>
                  <a:tcPr marL="76200" marR="76200" marT="0" marB="0" anchor="ctr">
                    <a:solidFill>
                      <a:srgbClr val="FFFFFF"/>
                    </a:solidFill>
                  </a:tcPr>
                </a:tc>
              </a:tr>
              <a:tr h="329293">
                <a:tc>
                  <a:txBody>
                    <a:bodyPr lIns="0" tIns="0" rIns="0" bIns="0">
                      <a:noAutofit/>
                    </a:bodyPr>
                    <a:lstStyle/>
                    <a:p>
                      <a:pPr algn="l"/>
                      <a:r>
                        <a:rPr sz="1700" b="0">
                          <a:solidFill>
                            <a:srgbClr val="292929"/>
                          </a:solidFill>
                          <a:latin typeface="Arial"/>
                          <a:ea typeface="Arial"/>
                          <a:cs typeface="Arial"/>
                        </a:rPr>
                        <a:t>F9 B5 B1056.4</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B5 B1051.6</a:t>
                      </a:r>
                    </a:p>
                  </a:txBody>
                  <a:tcPr marL="76200" marR="76200" marT="0" marB="0" anchor="ctr">
                    <a:solidFill>
                      <a:srgbClr val="E9EEF8"/>
                    </a:solidFill>
                  </a:tcPr>
                </a:tc>
              </a:tr>
              <a:tr h="329293">
                <a:tc>
                  <a:txBody>
                    <a:bodyPr lIns="0" tIns="0" rIns="0" bIns="0">
                      <a:noAutofit/>
                    </a:bodyPr>
                    <a:lstStyle/>
                    <a:p>
                      <a:pPr algn="l"/>
                      <a:r>
                        <a:rPr sz="1700" b="0">
                          <a:solidFill>
                            <a:srgbClr val="292929"/>
                          </a:solidFill>
                          <a:latin typeface="Arial"/>
                          <a:ea typeface="Arial"/>
                          <a:cs typeface="Arial"/>
                        </a:rPr>
                        <a:t>F9 B5 B1048.5</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B5 B1060.3</a:t>
                      </a:r>
                    </a:p>
                  </a:txBody>
                  <a:tcPr marL="76200" marR="76200" marT="0" marB="0" anchor="ctr">
                    <a:solidFill>
                      <a:srgbClr val="FFFFFF"/>
                    </a:solidFill>
                  </a:tcPr>
                </a:tc>
              </a:tr>
              <a:tr h="329293">
                <a:tc>
                  <a:txBody>
                    <a:bodyPr lIns="0" tIns="0" rIns="0" bIns="0">
                      <a:noAutofit/>
                    </a:bodyPr>
                    <a:lstStyle/>
                    <a:p>
                      <a:pPr algn="l"/>
                      <a:r>
                        <a:rPr sz="1700" b="0">
                          <a:solidFill>
                            <a:srgbClr val="292929"/>
                          </a:solidFill>
                          <a:latin typeface="Arial"/>
                          <a:ea typeface="Arial"/>
                          <a:cs typeface="Arial"/>
                        </a:rPr>
                        <a:t>F9 B5 B1051.4</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B5 B1049.7</a:t>
                      </a:r>
                    </a:p>
                  </a:txBody>
                  <a:tcPr marL="76200" marR="76200" marT="0" marB="0" anchor="ctr">
                    <a:solidFill>
                      <a:srgbClr val="E9EEF8"/>
                    </a:solidFill>
                  </a:tcPr>
                </a:tc>
              </a:tr>
            </a:tbl>
          </a:graphicData>
        </a:graphic>
      </p:graphicFrame>
    </p:spTree>
    <p:extLst>
      <p:ext uri="{BB962C8B-B14F-4D97-AF65-F5344CB8AC3E}">
        <p14:creationId xmlns:p14="http://schemas.microsoft.com/office/powerpoint/2010/main" val="2001524296"/>
      </p:ext>
    </p:extLst>
  </p:cSld>
</p:sld>
</file>

<file path=ppt/slides/slide32.xml><?xml version="1.0" encoding="utf-8"?>
<p:sld xmlns:p="http://schemas.openxmlformats.org/presentationml/2006/main">
  <p:cSld>
    <p:bg>
      <p:bgPr>
        <a:blipFill xmlns:a="http://schemas.openxmlformats.org/drawingml/2006/main">
          <a:blip xmlns:r="http://schemas.openxmlformats.org/officeDocument/2006/relationships" r:embed="Rc30160f024eb41c1">
            <a:alphaModFix/>
          </a:blip>
          <a:stretch>
            <a:fillRect l="0" t="0" r="0" b="0"/>
          </a:stretch>
        </a:blipFill>
      </p:bgPr>
    </p:bg>
    <p:spTree>
      <p:nvGrpSpPr>
        <p:cNvPr id="1" name=""/>
        <p:cNvGrpSpPr/>
        <p:nvPr/>
      </p:nvGrpSpPr>
      <p:grpSpPr>
        <a:xfrm xmlns:a="http://schemas.openxmlformats.org/drawingml/2006/main"/>
      </p:grpSpPr>
      <p:sp>
        <p:nvSpPr>
          <p:cNvPr id="346" name="Google Shape;346;p58">
            <a:extLst xmlns:a="http://schemas.openxmlformats.org/drawingml/2006/main">
              <a:ext uri="{FF2B5EF4-FFF2-40B4-BE49-F238E27FC236}">
                <a16:creationId xmlns:a16="http://schemas.microsoft.com/office/drawing/2014/main" id="{63D84061-2D17-4F25-9E66-40E06438D95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66C3428B-053E-6B4E-39FF-75B44F3F33F6}" type="slidenum">
              <a:rPr sz="1200">
                <a:solidFill>
                  <a:srgbClr val="1C7DDB"/>
                </a:solidFill>
                <a:latin typeface="Arial"/>
                <a:ea typeface="Arial"/>
                <a:cs typeface="Arial"/>
              </a:rPr>
              <a:t>32</a:t>
            </a:fld>
            <a:endParaRPr/>
          </a:p>
        </p:txBody>
      </p:sp>
      <p:sp>
        <p:nvSpPr>
          <p:cNvPr id="348" name="Google Shape;348;p58">
            <a:extLst xmlns:a="http://schemas.openxmlformats.org/drawingml/2006/main">
              <a:ext uri="{FF2B5EF4-FFF2-40B4-BE49-F238E27FC236}">
                <a16:creationId xmlns:a16="http://schemas.microsoft.com/office/drawing/2014/main" id="{786EB4D5-0324-40AB-8339-6F38F9DD3BD6}"/>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Drone Ship Landing Failures in 2015</a:t>
            </a:r>
            <a:endParaRPr sz="1100"/>
          </a:p>
        </p:txBody>
      </p:sp>
      <p:sp>
        <p:nvSpPr>
          <p:cNvPr id="349" name="">
            <a:extLst xmlns:a="http://schemas.openxmlformats.org/drawingml/2006/main">
              <a:ext uri="{FF2B5EF4-FFF2-40B4-BE49-F238E27FC236}">
                <a16:creationId xmlns:a16="http://schemas.microsoft.com/office/drawing/2014/main" id="{ECE5FC3B-0547-4978-A31E-E48C3193A071}"/>
              </a:ext>
            </a:extLst>
          </p:cNvPr>
          <p:cNvSpPr>
            <a:spLocks xmlns:a="http://schemas.openxmlformats.org/drawingml/2006/main" noGrp="1"/>
          </p:cNvSpPr>
          <p:nvPr/>
        </p:nvSpPr>
        <p:spPr>
          <a:xfrm xmlns:a="http://schemas.openxmlformats.org/drawingml/2006/main">
            <a:off x="628650" y="1295400"/>
            <a:ext cx="7886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rPr>
              <a:t>Year = 2015 and Landing_Outcome = 'Failure (drone ship)'</a:t>
            </a:r>
          </a:p>
        </p:txBody>
      </p:sp>
      <p:graphicFrame>
        <p:nvGraphicFramePr>
          <p:cNvPr id="350" name="">
            <a:extLst xmlns:a="http://schemas.openxmlformats.org/drawingml/2006/main">
              <a:ext uri="{FF2B5EF4-FFF2-40B4-BE49-F238E27FC236}">
                <a16:creationId xmlns:a16="http://schemas.microsoft.com/office/drawing/2014/main" id="{26338393-E953-4E95-B74B-C646EF1C4818}"/>
              </a:ext>
            </a:extLst>
          </p:cNvPr>
          <p:cNvGraphicFramePr/>
          <p:nvPr/>
        </p:nvGraphicFramePr>
        <p:xfrm>
          <a:off xmlns:a="http://schemas.openxmlformats.org/drawingml/2006/main" x="628650" y="2371725"/>
          <a:ext xmlns:a="http://schemas.openxmlformats.org/drawingml/2006/main" cx="7886700" cy="1504950"/>
        </p:xfrm>
        <a:graphic xmlns:a="http://schemas.openxmlformats.org/drawingml/2006/main">
          <a:graphicData uri="http://schemas.openxmlformats.org/drawingml/2006/table">
            <a:tbl>
              <a:tblPr firstRow="1" bandRow="0"/>
              <a:tblGrid>
                <a:gridCol w="1790700"/>
                <a:gridCol w="3028950"/>
                <a:gridCol w="3067050"/>
              </a:tblGrid>
              <a:tr h="501650">
                <a:tc>
                  <a:txBody>
                    <a:bodyPr lIns="0" tIns="0" rIns="0" bIns="0">
                      <a:noAutofit/>
                    </a:bodyPr>
                    <a:lstStyle/>
                    <a:p>
                      <a:pPr algn="l"/>
                      <a:r>
                        <a:rPr sz="1700" b="1">
                          <a:solidFill>
                            <a:srgbClr val="FFFFFF"/>
                          </a:solidFill>
                          <a:latin typeface="Arial"/>
                          <a:ea typeface="Arial"/>
                          <a:cs typeface="Arial"/>
                        </a:rPr>
                        <a:t>Month</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Booster version</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Launch site</a:t>
                      </a:r>
                    </a:p>
                  </a:txBody>
                  <a:tcPr marL="76200" marR="76200" marT="0" marB="0" anchor="ctr">
                    <a:solidFill>
                      <a:srgbClr val="0B49CB"/>
                    </a:solidFill>
                  </a:tcPr>
                </a:tc>
              </a:tr>
              <a:tr h="501650">
                <a:tc>
                  <a:txBody>
                    <a:bodyPr lIns="0" tIns="0" rIns="0" bIns="0">
                      <a:noAutofit/>
                    </a:bodyPr>
                    <a:lstStyle/>
                    <a:p>
                      <a:pPr algn="l"/>
                      <a:r>
                        <a:rPr sz="1700" b="0">
                          <a:solidFill>
                            <a:srgbClr val="292929"/>
                          </a:solidFill>
                          <a:latin typeface="Arial"/>
                          <a:ea typeface="Arial"/>
                          <a:cs typeface="Arial"/>
                        </a:rPr>
                        <a:t>January</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F9 v1.1 B1012</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FFFFFF"/>
                    </a:solidFill>
                  </a:tcPr>
                </a:tc>
              </a:tr>
              <a:tr h="501650">
                <a:tc>
                  <a:txBody>
                    <a:bodyPr lIns="0" tIns="0" rIns="0" bIns="0">
                      <a:noAutofit/>
                    </a:bodyPr>
                    <a:lstStyle/>
                    <a:p>
                      <a:pPr algn="l"/>
                      <a:r>
                        <a:rPr sz="1700" b="0">
                          <a:solidFill>
                            <a:srgbClr val="292929"/>
                          </a:solidFill>
                          <a:latin typeface="Arial"/>
                          <a:ea typeface="Arial"/>
                          <a:cs typeface="Arial"/>
                        </a:rPr>
                        <a:t>April</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F9 v1.1 B1015</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CCAFS LC-40</a:t>
                      </a:r>
                    </a:p>
                  </a:txBody>
                  <a:tcPr marL="76200" marR="76200" marT="0" marB="0" anchor="ctr">
                    <a:solidFill>
                      <a:srgbClr val="E9EEF8"/>
                    </a:solidFill>
                  </a:tcPr>
                </a:tc>
              </a:tr>
            </a:tbl>
          </a:graphicData>
        </a:graphic>
      </p:graphicFrame>
      <p:sp>
        <p:nvSpPr>
          <p:cNvPr id="351" name="">
            <a:extLst xmlns:a="http://schemas.openxmlformats.org/drawingml/2006/main">
              <a:ext uri="{FF2B5EF4-FFF2-40B4-BE49-F238E27FC236}">
                <a16:creationId xmlns:a16="http://schemas.microsoft.com/office/drawing/2014/main" id="{48AE5347-F1FF-4DA0-A662-71A0DBC6ABC0}"/>
              </a:ext>
            </a:extLst>
          </p:cNvPr>
          <p:cNvSpPr>
            <a:spLocks xmlns:a="http://schemas.openxmlformats.org/drawingml/2006/main" noGrp="1"/>
          </p:cNvSpPr>
          <p:nvPr/>
        </p:nvSpPr>
        <p:spPr>
          <a:xfrm xmlns:a="http://schemas.openxmlformats.org/drawingml/2006/main">
            <a:off x="628650" y="4162425"/>
            <a:ext cx="7772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Both matching records launched from CCAFS LC-40.</a:t>
            </a:r>
          </a:p>
        </p:txBody>
      </p:sp>
    </p:spTree>
    <p:extLst>
      <p:ext uri="{BB962C8B-B14F-4D97-AF65-F5344CB8AC3E}">
        <p14:creationId xmlns:p14="http://schemas.microsoft.com/office/powerpoint/2010/main" val="1794543259"/>
      </p:ext>
    </p:extLst>
  </p:cSld>
</p:sld>
</file>

<file path=ppt/slides/slide33.xml><?xml version="1.0" encoding="utf-8"?>
<p:sld xmlns:p="http://schemas.openxmlformats.org/presentationml/2006/main">
  <p:cSld>
    <p:bg>
      <p:bgPr>
        <a:blipFill xmlns:a="http://schemas.openxmlformats.org/drawingml/2006/main">
          <a:blip xmlns:r="http://schemas.openxmlformats.org/officeDocument/2006/relationships" r:embed="Rd2dce5d6d5134832">
            <a:alphaModFix/>
          </a:blip>
          <a:stretch>
            <a:fillRect l="0" t="0" r="0" b="0"/>
          </a:stretch>
        </a:blipFill>
      </p:bgPr>
    </p:bg>
    <p:spTree>
      <p:nvGrpSpPr>
        <p:cNvPr id="1" name=""/>
        <p:cNvGrpSpPr/>
        <p:nvPr/>
      </p:nvGrpSpPr>
      <p:grpSpPr>
        <a:xfrm xmlns:a="http://schemas.openxmlformats.org/drawingml/2006/main"/>
      </p:grpSpPr>
      <p:sp>
        <p:nvSpPr>
          <p:cNvPr id="353" name="Google Shape;353;p59">
            <a:extLst xmlns:a="http://schemas.openxmlformats.org/drawingml/2006/main">
              <a:ext uri="{FF2B5EF4-FFF2-40B4-BE49-F238E27FC236}">
                <a16:creationId xmlns:a16="http://schemas.microsoft.com/office/drawing/2014/main" id="{43F79370-D9F0-4BFE-AA23-2AE82C2D278B}"/>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59F9B2FD-F323-2D0A-D581-D6E61055F9A8}" type="slidenum">
              <a:rPr sz="1200">
                <a:solidFill>
                  <a:srgbClr val="1C7DDB"/>
                </a:solidFill>
                <a:latin typeface="Arial"/>
                <a:ea typeface="Arial"/>
                <a:cs typeface="Arial"/>
              </a:rPr>
              <a:t>33</a:t>
            </a:fld>
            <a:endParaRPr/>
          </a:p>
        </p:txBody>
      </p:sp>
      <p:sp>
        <p:nvSpPr>
          <p:cNvPr id="355" name="Google Shape;355;p59">
            <a:extLst xmlns:a="http://schemas.openxmlformats.org/drawingml/2006/main">
              <a:ext uri="{FF2B5EF4-FFF2-40B4-BE49-F238E27FC236}">
                <a16:creationId xmlns:a16="http://schemas.microsoft.com/office/drawing/2014/main" id="{B37A1B8A-74EA-40F1-BF7C-F945B8D9AC96}"/>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Landing Outcomes: 2010-2017</a:t>
            </a:r>
            <a:endParaRPr sz="1100"/>
          </a:p>
        </p:txBody>
      </p:sp>
      <p:sp>
        <p:nvSpPr>
          <p:cNvPr id="356" name="">
            <a:extLst xmlns:a="http://schemas.openxmlformats.org/drawingml/2006/main">
              <a:ext uri="{FF2B5EF4-FFF2-40B4-BE49-F238E27FC236}">
                <a16:creationId xmlns:a16="http://schemas.microsoft.com/office/drawing/2014/main" id="{F61D9AB8-E6CB-4EF6-8004-31194CD59EA7}"/>
              </a:ext>
            </a:extLst>
          </p:cNvPr>
          <p:cNvSpPr>
            <a:spLocks xmlns:a="http://schemas.openxmlformats.org/drawingml/2006/main" noGrp="1"/>
          </p:cNvSpPr>
          <p:nvPr/>
        </p:nvSpPr>
        <p:spPr>
          <a:xfrm xmlns:a="http://schemas.openxmlformats.org/drawingml/2006/main">
            <a:off x="628650" y="1181100"/>
            <a:ext cx="7886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Date range: 2010-06-04 to 2017-03-20, inclusive.</a:t>
            </a:r>
          </a:p>
        </p:txBody>
      </p:sp>
      <p:graphicFrame>
        <p:nvGraphicFramePr>
          <p:cNvPr id="357" name="">
            <a:extLst xmlns:a="http://schemas.openxmlformats.org/drawingml/2006/main">
              <a:ext uri="{FF2B5EF4-FFF2-40B4-BE49-F238E27FC236}">
                <a16:creationId xmlns:a16="http://schemas.microsoft.com/office/drawing/2014/main" id="{81F2D9EF-BEFA-4F69-8BC3-9D601729FE1F}"/>
              </a:ext>
            </a:extLst>
          </p:cNvPr>
          <p:cNvGraphicFramePr/>
          <p:nvPr/>
        </p:nvGraphicFramePr>
        <p:xfrm>
          <a:off xmlns:a="http://schemas.openxmlformats.org/drawingml/2006/main" x="628650" y="1590675"/>
          <a:ext xmlns:a="http://schemas.openxmlformats.org/drawingml/2006/main" cx="5981700" cy="2886075"/>
        </p:xfrm>
        <a:graphic xmlns:a="http://schemas.openxmlformats.org/drawingml/2006/main">
          <a:graphicData uri="http://schemas.openxmlformats.org/drawingml/2006/table">
            <a:tbl>
              <a:tblPr firstRow="1" bandRow="0"/>
              <a:tblGrid>
                <a:gridCol w="4695825"/>
                <a:gridCol w="1285875"/>
              </a:tblGrid>
              <a:tr h="320675">
                <a:tc>
                  <a:txBody>
                    <a:bodyPr lIns="0" tIns="0" rIns="0" bIns="0">
                      <a:noAutofit/>
                    </a:bodyPr>
                    <a:lstStyle/>
                    <a:p>
                      <a:pPr algn="l"/>
                      <a:r>
                        <a:rPr sz="1700" b="1">
                          <a:solidFill>
                            <a:srgbClr val="FFFFFF"/>
                          </a:solidFill>
                          <a:latin typeface="Arial"/>
                          <a:ea typeface="Arial"/>
                          <a:cs typeface="Arial"/>
                        </a:rPr>
                        <a:t>Landing outcome</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Count</a:t>
                      </a:r>
                    </a:p>
                  </a:txBody>
                  <a:tcPr marL="76200" marR="76200" marT="0" marB="0" anchor="ctr">
                    <a:solidFill>
                      <a:srgbClr val="0B49CB"/>
                    </a:solidFill>
                  </a:tcPr>
                </a:tc>
              </a:tr>
              <a:tr h="320675">
                <a:tc>
                  <a:txBody>
                    <a:bodyPr lIns="0" tIns="0" rIns="0" bIns="0">
                      <a:noAutofit/>
                    </a:bodyPr>
                    <a:lstStyle/>
                    <a:p>
                      <a:pPr algn="l"/>
                      <a:r>
                        <a:rPr sz="1700" b="0">
                          <a:solidFill>
                            <a:srgbClr val="292929"/>
                          </a:solidFill>
                          <a:latin typeface="Arial"/>
                          <a:ea typeface="Arial"/>
                          <a:cs typeface="Arial"/>
                        </a:rPr>
                        <a:t>No attempt</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10</a:t>
                      </a:r>
                    </a:p>
                  </a:txBody>
                  <a:tcPr marL="76200" marR="76200" marT="0" marB="0" anchor="ctr">
                    <a:solidFill>
                      <a:srgbClr val="FFFFFF"/>
                    </a:solidFill>
                  </a:tcPr>
                </a:tc>
              </a:tr>
              <a:tr h="320675">
                <a:tc>
                  <a:txBody>
                    <a:bodyPr lIns="0" tIns="0" rIns="0" bIns="0">
                      <a:noAutofit/>
                    </a:bodyPr>
                    <a:lstStyle/>
                    <a:p>
                      <a:pPr algn="l"/>
                      <a:r>
                        <a:rPr sz="1700" b="0">
                          <a:solidFill>
                            <a:srgbClr val="292929"/>
                          </a:solidFill>
                          <a:latin typeface="Arial"/>
                          <a:ea typeface="Arial"/>
                          <a:cs typeface="Arial"/>
                        </a:rPr>
                        <a:t>Success (drone ship)</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5</a:t>
                      </a:r>
                    </a:p>
                  </a:txBody>
                  <a:tcPr marL="76200" marR="76200" marT="0" marB="0" anchor="ctr">
                    <a:solidFill>
                      <a:srgbClr val="E9EEF8"/>
                    </a:solidFill>
                  </a:tcPr>
                </a:tc>
              </a:tr>
              <a:tr h="320675">
                <a:tc>
                  <a:txBody>
                    <a:bodyPr lIns="0" tIns="0" rIns="0" bIns="0">
                      <a:noAutofit/>
                    </a:bodyPr>
                    <a:lstStyle/>
                    <a:p>
                      <a:pPr algn="l"/>
                      <a:r>
                        <a:rPr sz="1700" b="0">
                          <a:solidFill>
                            <a:srgbClr val="292929"/>
                          </a:solidFill>
                          <a:latin typeface="Arial"/>
                          <a:ea typeface="Arial"/>
                          <a:cs typeface="Arial"/>
                        </a:rPr>
                        <a:t>Failure (drone ship)</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5</a:t>
                      </a:r>
                    </a:p>
                  </a:txBody>
                  <a:tcPr marL="76200" marR="76200" marT="0" marB="0" anchor="ctr">
                    <a:solidFill>
                      <a:srgbClr val="FFFFFF"/>
                    </a:solidFill>
                  </a:tcPr>
                </a:tc>
              </a:tr>
              <a:tr h="320675">
                <a:tc>
                  <a:txBody>
                    <a:bodyPr lIns="0" tIns="0" rIns="0" bIns="0">
                      <a:noAutofit/>
                    </a:bodyPr>
                    <a:lstStyle/>
                    <a:p>
                      <a:pPr algn="l"/>
                      <a:r>
                        <a:rPr sz="1700" b="0">
                          <a:solidFill>
                            <a:srgbClr val="292929"/>
                          </a:solidFill>
                          <a:latin typeface="Arial"/>
                          <a:ea typeface="Arial"/>
                          <a:cs typeface="Arial"/>
                        </a:rPr>
                        <a:t>Success (ground pad)</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3</a:t>
                      </a:r>
                    </a:p>
                  </a:txBody>
                  <a:tcPr marL="76200" marR="76200" marT="0" marB="0" anchor="ctr">
                    <a:solidFill>
                      <a:srgbClr val="E9EEF8"/>
                    </a:solidFill>
                  </a:tcPr>
                </a:tc>
              </a:tr>
              <a:tr h="320675">
                <a:tc>
                  <a:txBody>
                    <a:bodyPr lIns="0" tIns="0" rIns="0" bIns="0">
                      <a:noAutofit/>
                    </a:bodyPr>
                    <a:lstStyle/>
                    <a:p>
                      <a:pPr algn="l"/>
                      <a:r>
                        <a:rPr sz="1700" b="0">
                          <a:solidFill>
                            <a:srgbClr val="292929"/>
                          </a:solidFill>
                          <a:latin typeface="Arial"/>
                          <a:ea typeface="Arial"/>
                          <a:cs typeface="Arial"/>
                        </a:rPr>
                        <a:t>Controlled (ocean)</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3</a:t>
                      </a:r>
                    </a:p>
                  </a:txBody>
                  <a:tcPr marL="76200" marR="76200" marT="0" marB="0" anchor="ctr">
                    <a:solidFill>
                      <a:srgbClr val="FFFFFF"/>
                    </a:solidFill>
                  </a:tcPr>
                </a:tc>
              </a:tr>
              <a:tr h="320675">
                <a:tc>
                  <a:txBody>
                    <a:bodyPr lIns="0" tIns="0" rIns="0" bIns="0">
                      <a:noAutofit/>
                    </a:bodyPr>
                    <a:lstStyle/>
                    <a:p>
                      <a:pPr algn="l"/>
                      <a:r>
                        <a:rPr sz="1700" b="0">
                          <a:solidFill>
                            <a:srgbClr val="292929"/>
                          </a:solidFill>
                          <a:latin typeface="Arial"/>
                          <a:ea typeface="Arial"/>
                          <a:cs typeface="Arial"/>
                        </a:rPr>
                        <a:t>Uncontrolled (ocean)</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2</a:t>
                      </a:r>
                    </a:p>
                  </a:txBody>
                  <a:tcPr marL="76200" marR="76200" marT="0" marB="0" anchor="ctr">
                    <a:solidFill>
                      <a:srgbClr val="E9EEF8"/>
                    </a:solidFill>
                  </a:tcPr>
                </a:tc>
              </a:tr>
              <a:tr h="320675">
                <a:tc>
                  <a:txBody>
                    <a:bodyPr lIns="0" tIns="0" rIns="0" bIns="0">
                      <a:noAutofit/>
                    </a:bodyPr>
                    <a:lstStyle/>
                    <a:p>
                      <a:pPr algn="l"/>
                      <a:r>
                        <a:rPr sz="1700" b="0">
                          <a:solidFill>
                            <a:srgbClr val="292929"/>
                          </a:solidFill>
                          <a:latin typeface="Arial"/>
                          <a:ea typeface="Arial"/>
                          <a:cs typeface="Arial"/>
                        </a:rPr>
                        <a:t>Failure (parachute)</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2</a:t>
                      </a:r>
                    </a:p>
                  </a:txBody>
                  <a:tcPr marL="76200" marR="76200" marT="0" marB="0" anchor="ctr">
                    <a:solidFill>
                      <a:srgbClr val="FFFFFF"/>
                    </a:solidFill>
                  </a:tcPr>
                </a:tc>
              </a:tr>
              <a:tr h="320675">
                <a:tc>
                  <a:txBody>
                    <a:bodyPr lIns="0" tIns="0" rIns="0" bIns="0">
                      <a:noAutofit/>
                    </a:bodyPr>
                    <a:lstStyle/>
                    <a:p>
                      <a:pPr algn="l"/>
                      <a:r>
                        <a:rPr sz="1700" b="0">
                          <a:solidFill>
                            <a:srgbClr val="292929"/>
                          </a:solidFill>
                          <a:latin typeface="Arial"/>
                          <a:ea typeface="Arial"/>
                          <a:cs typeface="Arial"/>
                        </a:rPr>
                        <a:t>Precluded (drone ship)</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a:t>
                      </a:r>
                    </a:p>
                  </a:txBody>
                  <a:tcPr marL="76200" marR="76200" marT="0" marB="0" anchor="ctr">
                    <a:solidFill>
                      <a:srgbClr val="E9EEF8"/>
                    </a:solidFill>
                  </a:tcPr>
                </a:tc>
              </a:tr>
            </a:tbl>
          </a:graphicData>
        </a:graphic>
      </p:graphicFrame>
      <p:sp>
        <p:nvSpPr>
          <p:cNvPr id="358" name="">
            <a:extLst xmlns:a="http://schemas.openxmlformats.org/drawingml/2006/main">
              <a:ext uri="{FF2B5EF4-FFF2-40B4-BE49-F238E27FC236}">
                <a16:creationId xmlns:a16="http://schemas.microsoft.com/office/drawing/2014/main" id="{61F4D8D3-0BC7-4728-96CC-9A55B20EE78B}"/>
              </a:ext>
            </a:extLst>
          </p:cNvPr>
          <p:cNvSpPr>
            <a:spLocks xmlns:a="http://schemas.openxmlformats.org/drawingml/2006/main" noGrp="1"/>
          </p:cNvSpPr>
          <p:nvPr/>
        </p:nvSpPr>
        <p:spPr>
          <a:xfrm xmlns:a="http://schemas.openxmlformats.org/drawingml/2006/main">
            <a:off x="6953250" y="2114550"/>
            <a:ext cx="1571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No attempt is the most frequent label. Outcomes retain distinct landing modes.</a:t>
            </a:r>
          </a:p>
        </p:txBody>
      </p:sp>
    </p:spTree>
    <p:extLst>
      <p:ext uri="{BB962C8B-B14F-4D97-AF65-F5344CB8AC3E}">
        <p14:creationId xmlns:p14="http://schemas.microsoft.com/office/powerpoint/2010/main" val="1165248689"/>
      </p:ext>
    </p:extLst>
  </p:cSld>
</p:sld>
</file>

<file path=ppt/slides/slide34.xml><?xml version="1.0" encoding="utf-8"?>
<p:sld xmlns:p="http://schemas.openxmlformats.org/presentationml/2006/main">
  <p:cSld>
    <p:bg>
      <p:bgPr>
        <a:blipFill xmlns:a="http://schemas.openxmlformats.org/drawingml/2006/main">
          <a:blip xmlns:r="http://schemas.openxmlformats.org/officeDocument/2006/relationships" r:embed="R13bf9728f9604b62">
            <a:alphaModFix/>
          </a:blip>
          <a:stretch>
            <a:fillRect l="0" t="0" r="0" b="0"/>
          </a:stretch>
        </a:blipFill>
      </p:bgPr>
    </p:bg>
    <p:spTree>
      <p:nvGrpSpPr>
        <p:cNvPr id="1" name=""/>
        <p:cNvGrpSpPr/>
        <p:nvPr/>
      </p:nvGrpSpPr>
      <p:grpSpPr>
        <a:xfrm xmlns:a="http://schemas.openxmlformats.org/drawingml/2006/main"/>
      </p:grpSpPr>
      <p:sp>
        <p:nvSpPr>
          <p:cNvPr id="360" name="Google Shape;360;p60">
            <a:extLst xmlns:a="http://schemas.openxmlformats.org/drawingml/2006/main">
              <a:ext uri="{FF2B5EF4-FFF2-40B4-BE49-F238E27FC236}">
                <a16:creationId xmlns:a16="http://schemas.microsoft.com/office/drawing/2014/main" id="{FEC96401-8A9B-4D2C-A36D-11C2C4FB6930}"/>
              </a:ext>
            </a:extLst>
          </p:cNvPr>
          <p:cNvSpPr>
            <a:spLocks xmlns:a="http://schemas.openxmlformats.org/drawingml/2006/main" noGrp="1"/>
          </p:cNvSpPr>
          <p:nvPr/>
        </p:nvSpPr>
        <p:spPr>
          <a:xfrm xmlns:a="http://schemas.openxmlformats.org/drawingml/2006/main">
            <a:off x="598477" y="1897310"/>
            <a:ext cx="793727" cy="276999"/>
          </a:xfrm>
          <a:prstGeom xmlns:a="http://schemas.openxmlformats.org/drawingml/2006/main" prst="rect">
            <a:avLst/>
          </a:prstGeom>
          <a:solidFill xmlns:a="http://schemas.openxmlformats.org/drawingml/2006/main">
            <a:srgbClr val="0948CB"/>
          </a:solidFill>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marR="0" lvl="0" indent="0" algn="l">
              <a:spcBef>
                <a:spcPts val="0"/>
              </a:spcBef>
              <a:spcAft>
                <a:spcPts val="0"/>
              </a:spcAft>
              <a:buNone/>
            </a:pPr>
            <a:r>
              <a:rPr sz="1400">
                <a:solidFill>
                  <a:schemeClr val="lt1"/>
                </a:solidFill>
                <a:latin typeface="Arial"/>
                <a:ea typeface="Arial"/>
                <a:cs typeface="Arial"/>
              </a:rPr>
              <a:t>Section 3</a:t>
            </a:r>
            <a:endParaRPr sz="1100"/>
          </a:p>
        </p:txBody>
      </p:sp>
    </p:spTree>
    <p:extLst>
      <p:ext uri="{BB962C8B-B14F-4D97-AF65-F5344CB8AC3E}">
        <p14:creationId xmlns:p14="http://schemas.microsoft.com/office/powerpoint/2010/main" val="1580181218"/>
      </p:ext>
    </p:extLst>
  </p:cSld>
</p:sld>
</file>

<file path=ppt/slides/slide35.xml><?xml version="1.0" encoding="utf-8"?>
<p:sld xmlns:p="http://schemas.openxmlformats.org/presentationml/2006/main">
  <p:cSld>
    <p:bg>
      <p:bgPr>
        <a:blipFill xmlns:a="http://schemas.openxmlformats.org/drawingml/2006/main">
          <a:blip xmlns:r="http://schemas.openxmlformats.org/officeDocument/2006/relationships" r:embed="Ree43d2fade164ef1">
            <a:alphaModFix/>
          </a:blip>
          <a:stretch>
            <a:fillRect l="0" t="0" r="0" b="0"/>
          </a:stretch>
        </a:blipFill>
      </p:bgPr>
    </p:bg>
    <p:spTree>
      <p:nvGrpSpPr>
        <p:cNvPr id="1" name=""/>
        <p:cNvGrpSpPr/>
        <p:nvPr/>
      </p:nvGrpSpPr>
      <p:grpSpPr>
        <a:xfrm xmlns:a="http://schemas.openxmlformats.org/drawingml/2006/main"/>
      </p:grpSpPr>
      <p:sp>
        <p:nvSpPr>
          <p:cNvPr id="365" name="Google Shape;365;p61">
            <a:extLst xmlns:a="http://schemas.openxmlformats.org/drawingml/2006/main">
              <a:ext uri="{FF2B5EF4-FFF2-40B4-BE49-F238E27FC236}">
                <a16:creationId xmlns:a16="http://schemas.microsoft.com/office/drawing/2014/main" id="{97364D75-D9D0-4C98-A43A-43B0476C51B7}"/>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4A4FA566-8B12-6DD2-DDB5-FA6393938FB6}" type="slidenum">
              <a:rPr sz="1200">
                <a:solidFill>
                  <a:srgbClr val="1C7DDB"/>
                </a:solidFill>
                <a:latin typeface="Arial"/>
                <a:ea typeface="Arial"/>
                <a:cs typeface="Arial"/>
              </a:rPr>
              <a:t>35</a:t>
            </a:fld>
            <a:endParaRPr/>
          </a:p>
        </p:txBody>
      </p:sp>
      <p:sp>
        <p:nvSpPr>
          <p:cNvPr id="367" name="Google Shape;367;p61">
            <a:extLst xmlns:a="http://schemas.openxmlformats.org/drawingml/2006/main">
              <a:ext uri="{FF2B5EF4-FFF2-40B4-BE49-F238E27FC236}">
                <a16:creationId xmlns:a16="http://schemas.microsoft.com/office/drawing/2014/main" id="{0A303292-9A9A-4100-BEAE-7A6216099E24}"/>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Launch Site Locations</a:t>
            </a:r>
            <a:endParaRPr sz="1100"/>
          </a:p>
        </p:txBody>
      </p:sp>
      <p:sp>
        <p:nvSpPr>
          <p:cNvPr id="368" name="">
            <a:extLst xmlns:a="http://schemas.openxmlformats.org/drawingml/2006/main">
              <a:ext uri="{FF2B5EF4-FFF2-40B4-BE49-F238E27FC236}">
                <a16:creationId xmlns:a16="http://schemas.microsoft.com/office/drawing/2014/main" id="{F9B7785E-36D9-41C2-B83F-99386AD04D3E}"/>
              </a:ext>
            </a:extLst>
          </p:cNvPr>
          <p:cNvSpPr>
            <a:spLocks xmlns:a="http://schemas.openxmlformats.org/drawingml/2006/main" noGrp="1"/>
          </p:cNvSpPr>
          <p:nvPr/>
        </p:nvSpPr>
        <p:spPr>
          <a:xfrm xmlns:a="http://schemas.openxmlformats.org/drawingml/2006/main">
            <a:off x="628650" y="1457325"/>
            <a:ext cx="26289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Four site labels span Florida and California.</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CCAFS LC-40 and SLC-40 sit close together in the source coordinates.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Geography supports site comparison, but does not establish landing success.</a:t>
            </a:r>
          </a:p>
        </p:txBody>
      </p:sp>
      <p:pic>
        <p:nvPicPr>
          <p:cNvPr id="369" name="">
            <a:extLst xmlns:a="http://schemas.openxmlformats.org/drawingml/2006/main">
              <a:ext uri="{FF2B5EF4-FFF2-40B4-BE49-F238E27FC236}">
                <a16:creationId xmlns:a16="http://schemas.microsoft.com/office/drawing/2014/main" id="{452834DA-3C99-40E1-BF3F-24AC596C11DB}"/>
              </a:ext>
            </a:extLst>
          </p:cNvPr>
          <p:cNvPicPr>
            <a:picLocks xmlns:a="http://schemas.openxmlformats.org/drawingml/2006/main" noChangeAspect="1"/>
          </p:cNvPicPr>
          <p:nvPr/>
        </p:nvPicPr>
        <p:blipFill>
          <a:blip xmlns:r="http://schemas.openxmlformats.org/officeDocument/2006/relationships" xmlns:a="http://schemas.openxmlformats.org/drawingml/2006/main" r:embed="R34582557b0094cc7"/>
          <a:stretch xmlns:a="http://schemas.openxmlformats.org/drawingml/2006/main"/>
        </p:blipFill>
        <p:spPr>
          <a:xfrm xmlns:a="http://schemas.openxmlformats.org/drawingml/2006/main">
            <a:off x="3486150" y="1381869"/>
            <a:ext cx="5048250" cy="2760762"/>
          </a:xfrm>
          <a:prstGeom xmlns:a="http://schemas.openxmlformats.org/drawingml/2006/main" prst="rect">
            <a:avLst/>
          </a:prstGeom>
        </p:spPr>
      </p:pic>
    </p:spTree>
    <p:extLst>
      <p:ext uri="{BB962C8B-B14F-4D97-AF65-F5344CB8AC3E}">
        <p14:creationId xmlns:p14="http://schemas.microsoft.com/office/powerpoint/2010/main" val="1209115814"/>
      </p:ext>
    </p:extLst>
  </p:cSld>
</p:sld>
</file>

<file path=ppt/slides/slide36.xml><?xml version="1.0" encoding="utf-8"?>
<p:sld xmlns:p="http://schemas.openxmlformats.org/presentationml/2006/main">
  <p:cSld>
    <p:bg>
      <p:bgPr>
        <a:blipFill xmlns:a="http://schemas.openxmlformats.org/drawingml/2006/main">
          <a:blip xmlns:r="http://schemas.openxmlformats.org/officeDocument/2006/relationships" r:embed="Rb3b5205b255e42c8">
            <a:alphaModFix/>
          </a:blip>
          <a:stretch>
            <a:fillRect l="0" t="0" r="0" b="0"/>
          </a:stretch>
        </a:blipFill>
      </p:bgPr>
    </p:bg>
    <p:spTree>
      <p:nvGrpSpPr>
        <p:cNvPr id="1" name=""/>
        <p:cNvGrpSpPr/>
        <p:nvPr/>
      </p:nvGrpSpPr>
      <p:grpSpPr>
        <a:xfrm xmlns:a="http://schemas.openxmlformats.org/drawingml/2006/main"/>
      </p:grpSpPr>
      <p:sp>
        <p:nvSpPr>
          <p:cNvPr id="372" name="Google Shape;372;p62">
            <a:extLst xmlns:a="http://schemas.openxmlformats.org/drawingml/2006/main">
              <a:ext uri="{FF2B5EF4-FFF2-40B4-BE49-F238E27FC236}">
                <a16:creationId xmlns:a16="http://schemas.microsoft.com/office/drawing/2014/main" id="{0F1EAA8D-22D2-4B37-BB9F-8ECED9A5F8AE}"/>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E39A338D-B192-3127-EB9A-53A2665A0BB7}" type="slidenum">
              <a:rPr sz="1200">
                <a:solidFill>
                  <a:srgbClr val="1C7DDB"/>
                </a:solidFill>
                <a:latin typeface="Arial"/>
                <a:ea typeface="Arial"/>
                <a:cs typeface="Arial"/>
              </a:rPr>
              <a:t>36</a:t>
            </a:fld>
            <a:endParaRPr/>
          </a:p>
        </p:txBody>
      </p:sp>
      <p:sp>
        <p:nvSpPr>
          <p:cNvPr id="374" name="Google Shape;374;p62">
            <a:extLst xmlns:a="http://schemas.openxmlformats.org/drawingml/2006/main">
              <a:ext uri="{FF2B5EF4-FFF2-40B4-BE49-F238E27FC236}">
                <a16:creationId xmlns:a16="http://schemas.microsoft.com/office/drawing/2014/main" id="{B7CA2DE1-6637-4F2E-A82A-98ADAC3D3228}"/>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Launch Outcomes on the Map</a:t>
            </a:r>
            <a:endParaRPr sz="1100"/>
          </a:p>
        </p:txBody>
      </p:sp>
      <p:sp>
        <p:nvSpPr>
          <p:cNvPr id="375" name="">
            <a:extLst xmlns:a="http://schemas.openxmlformats.org/drawingml/2006/main">
              <a:ext uri="{FF2B5EF4-FFF2-40B4-BE49-F238E27FC236}">
                <a16:creationId xmlns:a16="http://schemas.microsoft.com/office/drawing/2014/main" id="{EE577F2C-20C6-4F83-B953-9BA3A66AB078}"/>
              </a:ext>
            </a:extLst>
          </p:cNvPr>
          <p:cNvSpPr>
            <a:spLocks xmlns:a="http://schemas.openxmlformats.org/drawingml/2006/main" noGrp="1"/>
          </p:cNvSpPr>
          <p:nvPr/>
        </p:nvSpPr>
        <p:spPr>
          <a:xfrm xmlns:a="http://schemas.openxmlformats.org/drawingml/2006/main">
            <a:off x="628650" y="1457325"/>
            <a:ext cx="26289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Green points show success and red points show failure.</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Florida sites contain both outcomes.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A small display offset exposes records that share coordinates.</a:t>
            </a:r>
          </a:p>
        </p:txBody>
      </p:sp>
      <p:pic>
        <p:nvPicPr>
          <p:cNvPr id="376" name="">
            <a:extLst xmlns:a="http://schemas.openxmlformats.org/drawingml/2006/main">
              <a:ext uri="{FF2B5EF4-FFF2-40B4-BE49-F238E27FC236}">
                <a16:creationId xmlns:a16="http://schemas.microsoft.com/office/drawing/2014/main" id="{0AC7BE8D-0E61-49E7-AD4A-24794FC14541}"/>
              </a:ext>
            </a:extLst>
          </p:cNvPr>
          <p:cNvPicPr>
            <a:picLocks xmlns:a="http://schemas.openxmlformats.org/drawingml/2006/main" noChangeAspect="1"/>
          </p:cNvPicPr>
          <p:nvPr/>
        </p:nvPicPr>
        <p:blipFill>
          <a:blip xmlns:r="http://schemas.openxmlformats.org/officeDocument/2006/relationships" xmlns:a="http://schemas.openxmlformats.org/drawingml/2006/main" r:embed="R35c06b9b456d4c74"/>
          <a:stretch xmlns:a="http://schemas.openxmlformats.org/drawingml/2006/main"/>
        </p:blipFill>
        <p:spPr>
          <a:xfrm xmlns:a="http://schemas.openxmlformats.org/drawingml/2006/main">
            <a:off x="3486150" y="1381869"/>
            <a:ext cx="5048250" cy="2760762"/>
          </a:xfrm>
          <a:prstGeom xmlns:a="http://schemas.openxmlformats.org/drawingml/2006/main" prst="rect">
            <a:avLst/>
          </a:prstGeom>
        </p:spPr>
      </p:pic>
    </p:spTree>
    <p:extLst>
      <p:ext uri="{BB962C8B-B14F-4D97-AF65-F5344CB8AC3E}">
        <p14:creationId xmlns:p14="http://schemas.microsoft.com/office/powerpoint/2010/main" val="1237614527"/>
      </p:ext>
    </p:extLst>
  </p:cSld>
</p:sld>
</file>

<file path=ppt/slides/slide37.xml><?xml version="1.0" encoding="utf-8"?>
<p:sld xmlns:p="http://schemas.openxmlformats.org/presentationml/2006/main">
  <p:cSld>
    <p:bg>
      <p:bgPr>
        <a:blipFill xmlns:a="http://schemas.openxmlformats.org/drawingml/2006/main">
          <a:blip xmlns:r="http://schemas.openxmlformats.org/officeDocument/2006/relationships" r:embed="R0c7fb4dcd41c45bf">
            <a:alphaModFix/>
          </a:blip>
          <a:stretch>
            <a:fillRect l="0" t="0" r="0" b="0"/>
          </a:stretch>
        </a:blipFill>
      </p:bgPr>
    </p:bg>
    <p:spTree>
      <p:nvGrpSpPr>
        <p:cNvPr id="1" name=""/>
        <p:cNvGrpSpPr/>
        <p:nvPr/>
      </p:nvGrpSpPr>
      <p:grpSpPr>
        <a:xfrm xmlns:a="http://schemas.openxmlformats.org/drawingml/2006/main"/>
      </p:grpSpPr>
      <p:sp>
        <p:nvSpPr>
          <p:cNvPr id="379" name="Google Shape;379;p63">
            <a:extLst xmlns:a="http://schemas.openxmlformats.org/drawingml/2006/main">
              <a:ext uri="{FF2B5EF4-FFF2-40B4-BE49-F238E27FC236}">
                <a16:creationId xmlns:a16="http://schemas.microsoft.com/office/drawing/2014/main" id="{C29D8917-C816-41C4-85AA-97886BF7D806}"/>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8D334276-4C85-190E-BA41-5CA1CBB04E4E}" type="slidenum">
              <a:rPr sz="1200">
                <a:solidFill>
                  <a:srgbClr val="1C7DDB"/>
                </a:solidFill>
                <a:latin typeface="Arial"/>
                <a:ea typeface="Arial"/>
                <a:cs typeface="Arial"/>
              </a:rPr>
              <a:t>37</a:t>
            </a:fld>
            <a:endParaRPr/>
          </a:p>
        </p:txBody>
      </p:sp>
      <p:sp>
        <p:nvSpPr>
          <p:cNvPr id="381" name="Google Shape;381;p63">
            <a:extLst xmlns:a="http://schemas.openxmlformats.org/drawingml/2006/main">
              <a:ext uri="{FF2B5EF4-FFF2-40B4-BE49-F238E27FC236}">
                <a16:creationId xmlns:a16="http://schemas.microsoft.com/office/drawing/2014/main" id="{400C6F2F-41D7-43B8-A23E-6C9C832725E1}"/>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CCAFS LC-40: Nearby Features</a:t>
            </a:r>
            <a:endParaRPr sz="1100"/>
          </a:p>
        </p:txBody>
      </p:sp>
      <p:sp>
        <p:nvSpPr>
          <p:cNvPr id="382" name="">
            <a:extLst xmlns:a="http://schemas.openxmlformats.org/drawingml/2006/main">
              <a:ext uri="{FF2B5EF4-FFF2-40B4-BE49-F238E27FC236}">
                <a16:creationId xmlns:a16="http://schemas.microsoft.com/office/drawing/2014/main" id="{F4B67660-93BA-4450-A7EE-48C36062EEDE}"/>
              </a:ext>
            </a:extLst>
          </p:cNvPr>
          <p:cNvSpPr>
            <a:spLocks xmlns:a="http://schemas.openxmlformats.org/drawingml/2006/main" noGrp="1"/>
          </p:cNvSpPr>
          <p:nvPr/>
        </p:nvSpPr>
        <p:spPr>
          <a:xfrm xmlns:a="http://schemas.openxmlformats.org/drawingml/2006/main">
            <a:off x="628650" y="1428750"/>
            <a:ext cx="27241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Selected coastline point: 0.95 km.</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Selected railway node: 0.046 km.</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Selected access-road node: 0.056 km.</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Haversine distances are straight-line estimates to mapped nodes.</a:t>
            </a:r>
          </a:p>
        </p:txBody>
      </p:sp>
      <p:pic>
        <p:nvPicPr>
          <p:cNvPr id="383" name="">
            <a:extLst xmlns:a="http://schemas.openxmlformats.org/drawingml/2006/main">
              <a:ext uri="{FF2B5EF4-FFF2-40B4-BE49-F238E27FC236}">
                <a16:creationId xmlns:a16="http://schemas.microsoft.com/office/drawing/2014/main" id="{19A0A83C-1CDC-4988-815C-C55496DF0A6B}"/>
              </a:ext>
            </a:extLst>
          </p:cNvPr>
          <p:cNvPicPr>
            <a:picLocks xmlns:a="http://schemas.openxmlformats.org/drawingml/2006/main" noChangeAspect="1"/>
          </p:cNvPicPr>
          <p:nvPr/>
        </p:nvPicPr>
        <p:blipFill>
          <a:blip xmlns:r="http://schemas.openxmlformats.org/officeDocument/2006/relationships" xmlns:a="http://schemas.openxmlformats.org/drawingml/2006/main" r:embed="R7c867cab573147c8"/>
          <a:stretch xmlns:a="http://schemas.openxmlformats.org/drawingml/2006/main"/>
        </p:blipFill>
        <p:spPr>
          <a:xfrm xmlns:a="http://schemas.openxmlformats.org/drawingml/2006/main">
            <a:off x="3486150" y="1381869"/>
            <a:ext cx="5048250" cy="2760762"/>
          </a:xfrm>
          <a:prstGeom xmlns:a="http://schemas.openxmlformats.org/drawingml/2006/main" prst="rect">
            <a:avLst/>
          </a:prstGeom>
        </p:spPr>
      </p:pic>
    </p:spTree>
    <p:extLst>
      <p:ext uri="{BB962C8B-B14F-4D97-AF65-F5344CB8AC3E}">
        <p14:creationId xmlns:p14="http://schemas.microsoft.com/office/powerpoint/2010/main" val="1775001039"/>
      </p:ext>
    </p:extLst>
  </p:cSld>
</p:sld>
</file>

<file path=ppt/slides/slide38.xml><?xml version="1.0" encoding="utf-8"?>
<p:sld xmlns:p="http://schemas.openxmlformats.org/presentationml/2006/main">
  <p:cSld>
    <p:bg>
      <p:bgPr>
        <a:blipFill xmlns:a="http://schemas.openxmlformats.org/drawingml/2006/main">
          <a:blip xmlns:r="http://schemas.openxmlformats.org/officeDocument/2006/relationships" r:embed="R3fa433438ed74eab">
            <a:alphaModFix/>
          </a:blip>
          <a:stretch>
            <a:fillRect l="0" t="0" r="0" b="0"/>
          </a:stretch>
        </a:blipFill>
      </p:bgPr>
    </p:bg>
    <p:spTree>
      <p:nvGrpSpPr>
        <p:cNvPr id="1" name=""/>
        <p:cNvGrpSpPr/>
        <p:nvPr/>
      </p:nvGrpSpPr>
      <p:grpSpPr>
        <a:xfrm xmlns:a="http://schemas.openxmlformats.org/drawingml/2006/main"/>
      </p:grpSpPr>
      <p:sp>
        <p:nvSpPr>
          <p:cNvPr id="386" name="Google Shape;386;p64">
            <a:extLst xmlns:a="http://schemas.openxmlformats.org/drawingml/2006/main">
              <a:ext uri="{FF2B5EF4-FFF2-40B4-BE49-F238E27FC236}">
                <a16:creationId xmlns:a16="http://schemas.microsoft.com/office/drawing/2014/main" id="{B8333E3D-D66D-4016-BAA4-5C81D8B38A8C}"/>
              </a:ext>
            </a:extLst>
          </p:cNvPr>
          <p:cNvSpPr>
            <a:spLocks xmlns:a="http://schemas.openxmlformats.org/drawingml/2006/main" noGrp="1"/>
          </p:cNvSpPr>
          <p:nvPr/>
        </p:nvSpPr>
        <p:spPr>
          <a:xfrm xmlns:a="http://schemas.openxmlformats.org/drawingml/2006/main">
            <a:off x="598477" y="1897310"/>
            <a:ext cx="793727" cy="276999"/>
          </a:xfrm>
          <a:prstGeom xmlns:a="http://schemas.openxmlformats.org/drawingml/2006/main" prst="rect">
            <a:avLst/>
          </a:prstGeom>
          <a:solidFill xmlns:a="http://schemas.openxmlformats.org/drawingml/2006/main">
            <a:srgbClr val="0948CB"/>
          </a:solidFill>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marR="0" lvl="0" indent="0" algn="l">
              <a:spcBef>
                <a:spcPts val="0"/>
              </a:spcBef>
              <a:spcAft>
                <a:spcPts val="0"/>
              </a:spcAft>
              <a:buNone/>
            </a:pPr>
            <a:r>
              <a:rPr sz="1400">
                <a:solidFill>
                  <a:schemeClr val="lt1"/>
                </a:solidFill>
                <a:latin typeface="Arial"/>
                <a:ea typeface="Arial"/>
                <a:cs typeface="Arial"/>
              </a:rPr>
              <a:t>Section 4</a:t>
            </a:r>
            <a:endParaRPr sz="1100"/>
          </a:p>
        </p:txBody>
      </p:sp>
    </p:spTree>
    <p:extLst>
      <p:ext uri="{BB962C8B-B14F-4D97-AF65-F5344CB8AC3E}">
        <p14:creationId xmlns:p14="http://schemas.microsoft.com/office/powerpoint/2010/main" val="320787814"/>
      </p:ext>
    </p:extLst>
  </p:cSld>
</p:sld>
</file>

<file path=ppt/slides/slide39.xml><?xml version="1.0" encoding="utf-8"?>
<p:sld xmlns:p="http://schemas.openxmlformats.org/presentationml/2006/main">
  <p:cSld>
    <p:bg>
      <p:bgPr>
        <a:blipFill xmlns:a="http://schemas.openxmlformats.org/drawingml/2006/main">
          <a:blip xmlns:r="http://schemas.openxmlformats.org/officeDocument/2006/relationships" r:embed="R9fb92ecb1f1147ec">
            <a:alphaModFix/>
          </a:blip>
          <a:stretch>
            <a:fillRect l="0" t="0" r="0" b="0"/>
          </a:stretch>
        </a:blipFill>
      </p:bgPr>
    </p:bg>
    <p:spTree>
      <p:nvGrpSpPr>
        <p:cNvPr id="1" name=""/>
        <p:cNvGrpSpPr/>
        <p:nvPr/>
      </p:nvGrpSpPr>
      <p:grpSpPr>
        <a:xfrm xmlns:a="http://schemas.openxmlformats.org/drawingml/2006/main"/>
      </p:grpSpPr>
      <p:sp>
        <p:nvSpPr>
          <p:cNvPr id="391" name="Google Shape;391;p65">
            <a:extLst xmlns:a="http://schemas.openxmlformats.org/drawingml/2006/main">
              <a:ext uri="{FF2B5EF4-FFF2-40B4-BE49-F238E27FC236}">
                <a16:creationId xmlns:a16="http://schemas.microsoft.com/office/drawing/2014/main" id="{6FF9DA11-D54C-486B-9E44-74C906CC7822}"/>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6166C477-A387-35CF-F492-F54B4FA4FEC9}" type="slidenum">
              <a:rPr sz="1200">
                <a:solidFill>
                  <a:srgbClr val="1C7DDB"/>
                </a:solidFill>
                <a:latin typeface="Arial"/>
                <a:ea typeface="Arial"/>
                <a:cs typeface="Arial"/>
              </a:rPr>
              <a:t>39</a:t>
            </a:fld>
            <a:endParaRPr/>
          </a:p>
        </p:txBody>
      </p:sp>
      <p:sp>
        <p:nvSpPr>
          <p:cNvPr id="393" name="Google Shape;393;p65">
            <a:extLst xmlns:a="http://schemas.openxmlformats.org/drawingml/2006/main">
              <a:ext uri="{FF2B5EF4-FFF2-40B4-BE49-F238E27FC236}">
                <a16:creationId xmlns:a16="http://schemas.microsoft.com/office/drawing/2014/main" id="{5DC6309A-7C3A-4E32-8CC9-DEA50AE1FB44}"/>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Dashboard: Success Counts by Site</a:t>
            </a:r>
            <a:endParaRPr sz="1100"/>
          </a:p>
        </p:txBody>
      </p:sp>
      <p:sp>
        <p:nvSpPr>
          <p:cNvPr id="394" name="">
            <a:extLst xmlns:a="http://schemas.openxmlformats.org/drawingml/2006/main">
              <a:ext uri="{FF2B5EF4-FFF2-40B4-BE49-F238E27FC236}">
                <a16:creationId xmlns:a16="http://schemas.microsoft.com/office/drawing/2014/main" id="{A799BB51-559F-4063-988C-003DAB0D7CC9}"/>
              </a:ext>
            </a:extLst>
          </p:cNvPr>
          <p:cNvSpPr>
            <a:spLocks xmlns:a="http://schemas.openxmlformats.org/drawingml/2006/main" noGrp="1"/>
          </p:cNvSpPr>
          <p:nvPr/>
        </p:nvSpPr>
        <p:spPr>
          <a:xfrm xmlns:a="http://schemas.openxmlformats.org/drawingml/2006/main">
            <a:off x="628650" y="1495425"/>
            <a:ext cx="2590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KSC LC-39A contributes 10 of the 24 successful launches.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Its pie slice is 41.7% of all successes.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This share compares counts, not the success rate within each site.</a:t>
            </a:r>
          </a:p>
        </p:txBody>
      </p:sp>
      <p:pic>
        <p:nvPicPr>
          <p:cNvPr id="395" name="">
            <a:extLst xmlns:a="http://schemas.openxmlformats.org/drawingml/2006/main">
              <a:ext uri="{FF2B5EF4-FFF2-40B4-BE49-F238E27FC236}">
                <a16:creationId xmlns:a16="http://schemas.microsoft.com/office/drawing/2014/main" id="{207D3082-612C-4E3D-9634-6D167F949771}"/>
              </a:ext>
            </a:extLst>
          </p:cNvPr>
          <p:cNvPicPr>
            <a:picLocks xmlns:a="http://schemas.openxmlformats.org/drawingml/2006/main" noChangeAspect="1"/>
          </p:cNvPicPr>
          <p:nvPr/>
        </p:nvPicPr>
        <p:blipFill>
          <a:blip xmlns:r="http://schemas.openxmlformats.org/officeDocument/2006/relationships" xmlns:a="http://schemas.openxmlformats.org/drawingml/2006/main" r:embed="R532465b9f9a146f6"/>
          <a:stretch xmlns:a="http://schemas.openxmlformats.org/drawingml/2006/main"/>
        </p:blipFill>
        <p:spPr>
          <a:xfrm xmlns:a="http://schemas.openxmlformats.org/drawingml/2006/main">
            <a:off x="3854694" y="1219200"/>
            <a:ext cx="4273062" cy="3086100"/>
          </a:xfrm>
          <a:prstGeom xmlns:a="http://schemas.openxmlformats.org/drawingml/2006/main" prst="rect">
            <a:avLst/>
          </a:prstGeom>
        </p:spPr>
      </p:pic>
    </p:spTree>
    <p:extLst>
      <p:ext uri="{BB962C8B-B14F-4D97-AF65-F5344CB8AC3E}">
        <p14:creationId xmlns:p14="http://schemas.microsoft.com/office/powerpoint/2010/main" val="572864689"/>
      </p:ext>
    </p:extLst>
  </p:cSld>
</p:sld>
</file>

<file path=ppt/slides/slide40.xml><?xml version="1.0" encoding="utf-8"?>
<p:sld xmlns:p="http://schemas.openxmlformats.org/presentationml/2006/main">
  <p:cSld>
    <p:bg>
      <p:bgPr>
        <a:blipFill xmlns:a="http://schemas.openxmlformats.org/drawingml/2006/main">
          <a:blip xmlns:r="http://schemas.openxmlformats.org/officeDocument/2006/relationships" r:embed="R52fc9c46c7d04a48">
            <a:alphaModFix/>
          </a:blip>
          <a:stretch>
            <a:fillRect l="0" t="0" r="0" b="0"/>
          </a:stretch>
        </a:blipFill>
      </p:bgPr>
    </p:bg>
    <p:spTree>
      <p:nvGrpSpPr>
        <p:cNvPr id="1" name=""/>
        <p:cNvGrpSpPr/>
        <p:nvPr/>
      </p:nvGrpSpPr>
      <p:grpSpPr>
        <a:xfrm xmlns:a="http://schemas.openxmlformats.org/drawingml/2006/main"/>
      </p:grpSpPr>
      <p:sp>
        <p:nvSpPr>
          <p:cNvPr id="398" name="Google Shape;398;p66">
            <a:extLst xmlns:a="http://schemas.openxmlformats.org/drawingml/2006/main">
              <a:ext uri="{FF2B5EF4-FFF2-40B4-BE49-F238E27FC236}">
                <a16:creationId xmlns:a16="http://schemas.microsoft.com/office/drawing/2014/main" id="{13724D1C-0384-4B84-8E83-30CB78F347D9}"/>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C0C89EF0-BE71-8D92-BDDF-FF7D05F0AC04}" type="slidenum">
              <a:rPr sz="1200">
                <a:solidFill>
                  <a:srgbClr val="1C7DDB"/>
                </a:solidFill>
                <a:latin typeface="Arial"/>
                <a:ea typeface="Arial"/>
                <a:cs typeface="Arial"/>
              </a:rPr>
              <a:t>40</a:t>
            </a:fld>
            <a:endParaRPr/>
          </a:p>
        </p:txBody>
      </p:sp>
      <p:sp>
        <p:nvSpPr>
          <p:cNvPr id="400" name="Google Shape;400;p66">
            <a:extLst xmlns:a="http://schemas.openxmlformats.org/drawingml/2006/main">
              <a:ext uri="{FF2B5EF4-FFF2-40B4-BE49-F238E27FC236}">
                <a16:creationId xmlns:a16="http://schemas.microsoft.com/office/drawing/2014/main" id="{4773BA86-CC1E-4B36-BB03-22F4198240C5}"/>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Dashboard: Highest Site Success Rate</a:t>
            </a:r>
            <a:endParaRPr sz="1100"/>
          </a:p>
        </p:txBody>
      </p:sp>
      <p:sp>
        <p:nvSpPr>
          <p:cNvPr id="401" name="">
            <a:extLst xmlns:a="http://schemas.openxmlformats.org/drawingml/2006/main">
              <a:ext uri="{FF2B5EF4-FFF2-40B4-BE49-F238E27FC236}">
                <a16:creationId xmlns:a16="http://schemas.microsoft.com/office/drawing/2014/main" id="{EB78C3C5-5D38-4062-81F1-146D16C8FE9F}"/>
              </a:ext>
            </a:extLst>
          </p:cNvPr>
          <p:cNvSpPr>
            <a:spLocks xmlns:a="http://schemas.openxmlformats.org/drawingml/2006/main" noGrp="1"/>
          </p:cNvSpPr>
          <p:nvPr/>
        </p:nvSpPr>
        <p:spPr>
          <a:xfrm xmlns:a="http://schemas.openxmlformats.org/drawingml/2006/main">
            <a:off x="628650" y="1495425"/>
            <a:ext cx="2590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KSC LC-39A has 10 successes in 13 launches.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Its 76.9% success rate is the highest among the four dashboard site labels.</a:t>
            </a:r>
          </a:p>
          <a:p xmlns:a="http://schemas.openxmlformats.org/drawingml/2006/main">
            <a:pPr marL="190500" indent="-127000" algn="l">
              <a:spcAft>
                <a:spcPts val="1400"/>
              </a:spcAft>
              <a:buChar char="•"/>
              <a:defRPr sz="1700" b="0">
                <a:solidFill>
                  <a:srgbClr val="292929"/>
                </a:solidFill>
                <a:latin typeface="Arial"/>
                <a:ea typeface="Arial"/>
                <a:cs typeface="Arial"/>
              </a:defRPr>
            </a:pPr>
            <a:r>
              <a:rPr sz="1700" b="0">
                <a:solidFill>
                  <a:srgbClr val="292929"/>
                </a:solidFill>
                <a:latin typeface="Arial"/>
                <a:ea typeface="Arial"/>
                <a:cs typeface="Arial"/>
              </a:rPr>
              <a:t>The comparison describes this 56-launch snapshot.</a:t>
            </a:r>
          </a:p>
        </p:txBody>
      </p:sp>
      <p:pic>
        <p:nvPicPr>
          <p:cNvPr id="402" name="">
            <a:extLst xmlns:a="http://schemas.openxmlformats.org/drawingml/2006/main">
              <a:ext uri="{FF2B5EF4-FFF2-40B4-BE49-F238E27FC236}">
                <a16:creationId xmlns:a16="http://schemas.microsoft.com/office/drawing/2014/main" id="{42AC605E-1B68-4FB4-8A51-A60F466FEEA9}"/>
              </a:ext>
            </a:extLst>
          </p:cNvPr>
          <p:cNvPicPr>
            <a:picLocks xmlns:a="http://schemas.openxmlformats.org/drawingml/2006/main" noChangeAspect="1"/>
          </p:cNvPicPr>
          <p:nvPr/>
        </p:nvPicPr>
        <p:blipFill>
          <a:blip xmlns:r="http://schemas.openxmlformats.org/officeDocument/2006/relationships" xmlns:a="http://schemas.openxmlformats.org/drawingml/2006/main" r:embed="R808cd3ead6bc4a36"/>
          <a:stretch xmlns:a="http://schemas.openxmlformats.org/drawingml/2006/main"/>
        </p:blipFill>
        <p:spPr>
          <a:xfrm xmlns:a="http://schemas.openxmlformats.org/drawingml/2006/main">
            <a:off x="3854694" y="1219200"/>
            <a:ext cx="4273062" cy="3086100"/>
          </a:xfrm>
          <a:prstGeom xmlns:a="http://schemas.openxmlformats.org/drawingml/2006/main" prst="rect">
            <a:avLst/>
          </a:prstGeom>
        </p:spPr>
      </p:pic>
    </p:spTree>
    <p:extLst>
      <p:ext uri="{BB962C8B-B14F-4D97-AF65-F5344CB8AC3E}">
        <p14:creationId xmlns:p14="http://schemas.microsoft.com/office/powerpoint/2010/main" val="1940695172"/>
      </p:ext>
    </p:extLst>
  </p:cSld>
</p:sld>
</file>

<file path=ppt/slides/slide41.xml><?xml version="1.0" encoding="utf-8"?>
<p:sld xmlns:p="http://schemas.openxmlformats.org/presentationml/2006/main">
  <p:cSld>
    <p:bg>
      <p:bgPr>
        <a:blipFill xmlns:a="http://schemas.openxmlformats.org/drawingml/2006/main">
          <a:blip xmlns:r="http://schemas.openxmlformats.org/officeDocument/2006/relationships" r:embed="Rce4053039fe349a6">
            <a:alphaModFix/>
          </a:blip>
          <a:stretch>
            <a:fillRect l="0" t="0" r="0" b="0"/>
          </a:stretch>
        </a:blipFill>
      </p:bgPr>
    </p:bg>
    <p:spTree>
      <p:nvGrpSpPr>
        <p:cNvPr id="1" name=""/>
        <p:cNvGrpSpPr/>
        <p:nvPr/>
      </p:nvGrpSpPr>
      <p:grpSpPr>
        <a:xfrm xmlns:a="http://schemas.openxmlformats.org/drawingml/2006/main"/>
      </p:grpSpPr>
      <p:sp>
        <p:nvSpPr>
          <p:cNvPr id="405" name="Google Shape;405;p67">
            <a:extLst xmlns:a="http://schemas.openxmlformats.org/drawingml/2006/main">
              <a:ext uri="{FF2B5EF4-FFF2-40B4-BE49-F238E27FC236}">
                <a16:creationId xmlns:a16="http://schemas.microsoft.com/office/drawing/2014/main" id="{5339DEA9-9109-4825-9709-18990C33D70C}"/>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9CAEC632-A9E6-82AB-6034-3014BC3905A0}" type="slidenum">
              <a:rPr sz="1200">
                <a:solidFill>
                  <a:srgbClr val="1C7DDB"/>
                </a:solidFill>
                <a:latin typeface="Arial"/>
                <a:ea typeface="Arial"/>
                <a:cs typeface="Arial"/>
              </a:rPr>
              <a:t>41</a:t>
            </a:fld>
            <a:endParaRPr/>
          </a:p>
        </p:txBody>
      </p:sp>
      <p:sp>
        <p:nvSpPr>
          <p:cNvPr id="407" name="Google Shape;407;p67">
            <a:extLst xmlns:a="http://schemas.openxmlformats.org/drawingml/2006/main">
              <a:ext uri="{FF2B5EF4-FFF2-40B4-BE49-F238E27FC236}">
                <a16:creationId xmlns:a16="http://schemas.microsoft.com/office/drawing/2014/main" id="{58A04273-B07C-4166-B65A-720A0F84BCB5}"/>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Dashboard: Payload Range Comparison</a:t>
            </a:r>
            <a:endParaRPr sz="1100"/>
          </a:p>
        </p:txBody>
      </p:sp>
      <p:pic>
        <p:nvPicPr>
          <p:cNvPr id="408" name="">
            <a:extLst xmlns:a="http://schemas.openxmlformats.org/drawingml/2006/main">
              <a:ext uri="{FF2B5EF4-FFF2-40B4-BE49-F238E27FC236}">
                <a16:creationId xmlns:a16="http://schemas.microsoft.com/office/drawing/2014/main" id="{2A4AFA7B-9724-415D-ABD4-EA3555A15DD2}"/>
              </a:ext>
            </a:extLst>
          </p:cNvPr>
          <p:cNvPicPr>
            <a:picLocks xmlns:a="http://schemas.openxmlformats.org/drawingml/2006/main" noChangeAspect="1"/>
          </p:cNvPicPr>
          <p:nvPr/>
        </p:nvPicPr>
        <p:blipFill>
          <a:blip xmlns:r="http://schemas.openxmlformats.org/officeDocument/2006/relationships" xmlns:a="http://schemas.openxmlformats.org/drawingml/2006/main" r:embed="R111c04710bf74061"/>
          <a:stretch xmlns:a="http://schemas.openxmlformats.org/drawingml/2006/main"/>
        </p:blipFill>
        <p:spPr>
          <a:xfrm xmlns:a="http://schemas.openxmlformats.org/drawingml/2006/main">
            <a:off x="628650" y="1290638"/>
            <a:ext cx="3829050" cy="1914525"/>
          </a:xfrm>
          <a:prstGeom xmlns:a="http://schemas.openxmlformats.org/drawingml/2006/main" prst="rect">
            <a:avLst/>
          </a:prstGeom>
        </p:spPr>
      </p:pic>
      <p:pic>
        <p:nvPicPr>
          <p:cNvPr id="409" name="">
            <a:extLst xmlns:a="http://schemas.openxmlformats.org/drawingml/2006/main">
              <a:ext uri="{FF2B5EF4-FFF2-40B4-BE49-F238E27FC236}">
                <a16:creationId xmlns:a16="http://schemas.microsoft.com/office/drawing/2014/main" id="{14C4A6A6-D0D6-4378-97EC-43515B996E8F}"/>
              </a:ext>
            </a:extLst>
          </p:cNvPr>
          <p:cNvPicPr>
            <a:picLocks xmlns:a="http://schemas.openxmlformats.org/drawingml/2006/main" noChangeAspect="1"/>
          </p:cNvPicPr>
          <p:nvPr/>
        </p:nvPicPr>
        <p:blipFill>
          <a:blip xmlns:r="http://schemas.openxmlformats.org/officeDocument/2006/relationships" xmlns:a="http://schemas.openxmlformats.org/drawingml/2006/main" r:embed="R826266ab66bb4ec0"/>
          <a:stretch xmlns:a="http://schemas.openxmlformats.org/drawingml/2006/main"/>
        </p:blipFill>
        <p:spPr>
          <a:xfrm xmlns:a="http://schemas.openxmlformats.org/drawingml/2006/main">
            <a:off x="4686300" y="1290638"/>
            <a:ext cx="3829050" cy="1914525"/>
          </a:xfrm>
          <a:prstGeom xmlns:a="http://schemas.openxmlformats.org/drawingml/2006/main" prst="rect">
            <a:avLst/>
          </a:prstGeom>
        </p:spPr>
      </p:pic>
      <p:sp>
        <p:nvSpPr>
          <p:cNvPr id="410" name="">
            <a:extLst xmlns:a="http://schemas.openxmlformats.org/drawingml/2006/main">
              <a:ext uri="{FF2B5EF4-FFF2-40B4-BE49-F238E27FC236}">
                <a16:creationId xmlns:a16="http://schemas.microsoft.com/office/drawing/2014/main" id="{CB97853F-85BC-4B7E-B80C-C60B52FE09BB}"/>
              </a:ext>
            </a:extLst>
          </p:cNvPr>
          <p:cNvSpPr>
            <a:spLocks xmlns:a="http://schemas.openxmlformats.org/drawingml/2006/main" noGrp="1"/>
          </p:cNvSpPr>
          <p:nvPr/>
        </p:nvSpPr>
        <p:spPr>
          <a:xfrm xmlns:a="http://schemas.openxmlformats.org/drawingml/2006/main">
            <a:off x="628650" y="3571875"/>
            <a:ext cx="7772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0-10,000 kg: 24/56 successes (42.9%).</a:t>
            </a:r>
          </a:p>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2,000-5,000 kg: 16/29 successes (55.2%).</a:t>
            </a:r>
          </a:p>
        </p:txBody>
      </p:sp>
      <p:sp>
        <p:nvSpPr>
          <p:cNvPr id="411" name="">
            <a:extLst xmlns:a="http://schemas.openxmlformats.org/drawingml/2006/main">
              <a:ext uri="{FF2B5EF4-FFF2-40B4-BE49-F238E27FC236}">
                <a16:creationId xmlns:a16="http://schemas.microsoft.com/office/drawing/2014/main" id="{6DF2DC7F-6299-450B-A2F0-D31504CC3E89}"/>
              </a:ext>
            </a:extLst>
          </p:cNvPr>
          <p:cNvSpPr>
            <a:spLocks xmlns:a="http://schemas.openxmlformats.org/drawingml/2006/main" noGrp="1"/>
          </p:cNvSpPr>
          <p:nvPr/>
        </p:nvSpPr>
        <p:spPr>
          <a:xfrm xmlns:a="http://schemas.openxmlformats.org/drawingml/2006/main">
            <a:off x="628650" y="4371975"/>
            <a:ext cx="7543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Success and failure overlap. The narrower range is an exploratory filter, not a causal advantage.</a:t>
            </a:r>
          </a:p>
        </p:txBody>
      </p:sp>
    </p:spTree>
    <p:extLst>
      <p:ext uri="{BB962C8B-B14F-4D97-AF65-F5344CB8AC3E}">
        <p14:creationId xmlns:p14="http://schemas.microsoft.com/office/powerpoint/2010/main" val="1736836715"/>
      </p:ext>
    </p:extLst>
  </p:cSld>
</p:sld>
</file>

<file path=ppt/slides/slide42.xml><?xml version="1.0" encoding="utf-8"?>
<p:sld xmlns:p="http://schemas.openxmlformats.org/presentationml/2006/main">
  <p:cSld>
    <p:bg>
      <p:bgPr>
        <a:blipFill xmlns:a="http://schemas.openxmlformats.org/drawingml/2006/main">
          <a:blip xmlns:r="http://schemas.openxmlformats.org/officeDocument/2006/relationships" r:embed="R4923622c2f314211">
            <a:alphaModFix/>
          </a:blip>
          <a:stretch>
            <a:fillRect l="0" t="0" r="0" b="0"/>
          </a:stretch>
        </a:blipFill>
      </p:bgPr>
    </p:bg>
    <p:spTree>
      <p:nvGrpSpPr>
        <p:cNvPr id="1" name=""/>
        <p:cNvGrpSpPr/>
        <p:nvPr/>
      </p:nvGrpSpPr>
      <p:grpSpPr>
        <a:xfrm xmlns:a="http://schemas.openxmlformats.org/drawingml/2006/main"/>
      </p:grpSpPr>
      <p:sp>
        <p:nvSpPr>
          <p:cNvPr id="412" name="Google Shape;412;p68">
            <a:extLst xmlns:a="http://schemas.openxmlformats.org/drawingml/2006/main">
              <a:ext uri="{FF2B5EF4-FFF2-40B4-BE49-F238E27FC236}">
                <a16:creationId xmlns:a16="http://schemas.microsoft.com/office/drawing/2014/main" id="{99C27E4B-AE05-4F2E-A222-B33BA260EC74}"/>
              </a:ext>
            </a:extLst>
          </p:cNvPr>
          <p:cNvSpPr>
            <a:spLocks xmlns:a="http://schemas.openxmlformats.org/drawingml/2006/main" noGrp="1"/>
          </p:cNvSpPr>
          <p:nvPr/>
        </p:nvSpPr>
        <p:spPr>
          <a:xfrm xmlns:a="http://schemas.openxmlformats.org/drawingml/2006/main">
            <a:off x="598477" y="1897310"/>
            <a:ext cx="793727" cy="276999"/>
          </a:xfrm>
          <a:prstGeom xmlns:a="http://schemas.openxmlformats.org/drawingml/2006/main" prst="rect">
            <a:avLst/>
          </a:prstGeom>
          <a:solidFill xmlns:a="http://schemas.openxmlformats.org/drawingml/2006/main">
            <a:srgbClr val="0948CB"/>
          </a:solidFill>
          <a:ln xmlns:a="http://schemas.openxmlformats.org/drawingml/2006/main">
            <a:noFill/>
          </a:ln>
        </p:spPr>
        <p:txBody>
          <a:bodyPr xmlns:a="http://schemas.openxmlformats.org/drawingml/2006/main" spcFirstLastPara="1" wrap="square" lIns="68575" tIns="34275" rIns="68575" bIns="34275" anchor="t">
            <a:spAutoFit/>
          </a:bodyPr>
          <a:lstStyle xmlns:a="http://schemas.openxmlformats.org/drawingml/2006/main"/>
          <a:p xmlns:a="http://schemas.openxmlformats.org/drawingml/2006/main">
            <a:pPr marL="0" marR="0" lvl="0" indent="0" algn="l">
              <a:spcBef>
                <a:spcPts val="0"/>
              </a:spcBef>
              <a:spcAft>
                <a:spcPts val="0"/>
              </a:spcAft>
              <a:buNone/>
            </a:pPr>
            <a:r>
              <a:rPr sz="1400">
                <a:solidFill>
                  <a:schemeClr val="lt1"/>
                </a:solidFill>
                <a:latin typeface="Arial"/>
                <a:ea typeface="Arial"/>
                <a:cs typeface="Arial"/>
              </a:rPr>
              <a:t>Section 5</a:t>
            </a:r>
            <a:endParaRPr sz="1100"/>
          </a:p>
        </p:txBody>
      </p:sp>
    </p:spTree>
    <p:extLst>
      <p:ext uri="{BB962C8B-B14F-4D97-AF65-F5344CB8AC3E}">
        <p14:creationId xmlns:p14="http://schemas.microsoft.com/office/powerpoint/2010/main" val="332922383"/>
      </p:ext>
    </p:extLst>
  </p:cSld>
</p:sld>
</file>

<file path=ppt/slides/slide43.xml><?xml version="1.0" encoding="utf-8"?>
<p:sld xmlns:p="http://schemas.openxmlformats.org/presentationml/2006/main">
  <p:cSld>
    <p:bg>
      <p:bgPr>
        <a:blipFill xmlns:a="http://schemas.openxmlformats.org/drawingml/2006/main">
          <a:blip xmlns:r="http://schemas.openxmlformats.org/officeDocument/2006/relationships" r:embed="R62b54067efb54cc4">
            <a:alphaModFix/>
          </a:blip>
          <a:stretch>
            <a:fillRect l="0" t="0" r="0" b="0"/>
          </a:stretch>
        </a:blipFill>
      </p:bgPr>
    </p:bg>
    <p:spTree>
      <p:nvGrpSpPr>
        <p:cNvPr id="1" name=""/>
        <p:cNvGrpSpPr/>
        <p:nvPr/>
      </p:nvGrpSpPr>
      <p:grpSpPr>
        <a:xfrm xmlns:a="http://schemas.openxmlformats.org/drawingml/2006/main"/>
      </p:grpSpPr>
      <p:sp>
        <p:nvSpPr>
          <p:cNvPr id="417" name="Google Shape;417;p69">
            <a:extLst xmlns:a="http://schemas.openxmlformats.org/drawingml/2006/main">
              <a:ext uri="{FF2B5EF4-FFF2-40B4-BE49-F238E27FC236}">
                <a16:creationId xmlns:a16="http://schemas.microsoft.com/office/drawing/2014/main" id="{C79A26DE-EC9E-4B9D-B7F3-FE125EEABB06}"/>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270EE3B2-1325-F8E9-D276-8EA80C32ED19}" type="slidenum">
              <a:rPr sz="1200">
                <a:solidFill>
                  <a:srgbClr val="1C7DDB"/>
                </a:solidFill>
                <a:latin typeface="Arial"/>
                <a:ea typeface="Arial"/>
                <a:cs typeface="Arial"/>
              </a:rPr>
              <a:t>43</a:t>
            </a:fld>
            <a:endParaRPr/>
          </a:p>
        </p:txBody>
      </p:sp>
      <p:sp>
        <p:nvSpPr>
          <p:cNvPr id="419" name="Google Shape;419;p69">
            <a:extLst xmlns:a="http://schemas.openxmlformats.org/drawingml/2006/main">
              <a:ext uri="{FF2B5EF4-FFF2-40B4-BE49-F238E27FC236}">
                <a16:creationId xmlns:a16="http://schemas.microsoft.com/office/drawing/2014/main" id="{718DD374-4238-4DBA-B3B6-E04C8818D9F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Classification Accuracy</a:t>
            </a:r>
            <a:endParaRPr sz="3000">
              <a:solidFill>
                <a:srgbClr val="0B49CB"/>
              </a:solidFill>
              <a:latin typeface="Arial"/>
              <a:ea typeface="Arial"/>
              <a:cs typeface="Arial"/>
            </a:endParaRPr>
          </a:p>
        </p:txBody>
      </p:sp>
      <p:sp>
        <p:nvSpPr>
          <p:cNvPr id="420" name="">
            <a:extLst xmlns:a="http://schemas.openxmlformats.org/drawingml/2006/main">
              <a:ext uri="{FF2B5EF4-FFF2-40B4-BE49-F238E27FC236}">
                <a16:creationId xmlns:a16="http://schemas.microsoft.com/office/drawing/2014/main" id="{386611F1-F152-4DF0-940C-E3B3F4ED227D}"/>
              </a:ext>
            </a:extLst>
          </p:cNvPr>
          <p:cNvSpPr>
            <a:spLocks xmlns:a="http://schemas.openxmlformats.org/drawingml/2006/main" noGrp="1"/>
          </p:cNvSpPr>
          <p:nvPr/>
        </p:nvSpPr>
        <p:spPr>
          <a:xfrm xmlns:a="http://schemas.openxmlformats.org/drawingml/2006/main">
            <a:off x="628650" y="1295400"/>
            <a:ext cx="2676525" cy="3057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b="1"/>
              <a:t>10-fold CV: </a:t>
            </a:r>
            <a:r>
              <a:t>Logistic 84.64%, SVM 84.82%, Tree 87.68%, KNN 84.82%.</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b="1"/>
              <a:t>Test accuracy: </a:t>
            </a:r>
            <a:r>
              <a:t>Each model scores 83.33%, or 15 correct predictions in 18.</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b="1"/>
              <a:t>Selection: </a:t>
            </a:r>
            <a:r>
              <a:t>Decision Tree leads CV. All four share the same test predictions.</a:t>
            </a:r>
          </a:p>
        </p:txBody>
      </p:sp>
      <p:graphicFrame>
        <p:nvGraphicFramePr>
          <p:cNvPr id="421" name="Chart">
            <a:extLst xmlns:a="http://schemas.openxmlformats.org/drawingml/2006/main">
              <a:ext uri="{FF2B5EF4-FFF2-40B4-BE49-F238E27FC236}">
                <a16:creationId xmlns:a16="http://schemas.microsoft.com/office/drawing/2014/main" id="{4F243E4C-578C-43DC-803B-B4F69AAFCAA2}"/>
              </a:ext>
            </a:extLst>
          </p:cNvPr>
          <p:cNvGraphicFramePr/>
          <p:nvPr/>
        </p:nvGraphicFramePr>
        <p:xfrm>
          <a:off xmlns:a="http://schemas.openxmlformats.org/drawingml/2006/main" x="3476625" y="1257300"/>
          <a:ext xmlns:a="http://schemas.openxmlformats.org/drawingml/2006/main" cx="5048250" cy="3057525"/>
        </p:xfrm>
        <a:graphic xmlns:a="http://schemas.openxmlformats.org/drawingml/2006/main">
          <a:graphicData uri="http://schemas.openxmlformats.org/drawingml/2006/chart">
            <c:chart xmlns:r="http://schemas.openxmlformats.org/officeDocument/2006/relationships" xmlns:c="http://schemas.openxmlformats.org/drawingml/2006/chart" r:id="Rce9e430354104acd"/>
          </a:graphicData>
        </a:graphic>
      </p:graphicFrame>
    </p:spTree>
    <p:extLst>
      <p:ext uri="{BB962C8B-B14F-4D97-AF65-F5344CB8AC3E}">
        <p14:creationId xmlns:p14="http://schemas.microsoft.com/office/powerpoint/2010/main" val="2017225239"/>
      </p:ext>
    </p:extLst>
  </p:cSld>
</p:sld>
</file>

<file path=ppt/slides/slide44.xml><?xml version="1.0" encoding="utf-8"?>
<p:sld xmlns:p="http://schemas.openxmlformats.org/presentationml/2006/main">
  <p:cSld>
    <p:bg>
      <p:bgPr>
        <a:blipFill xmlns:a="http://schemas.openxmlformats.org/drawingml/2006/main">
          <a:blip xmlns:r="http://schemas.openxmlformats.org/officeDocument/2006/relationships" r:embed="R9ae85479ae474e6d">
            <a:alphaModFix/>
          </a:blip>
          <a:stretch>
            <a:fillRect l="0" t="0" r="0" b="0"/>
          </a:stretch>
        </a:blipFill>
      </p:bgPr>
    </p:bg>
    <p:spTree>
      <p:nvGrpSpPr>
        <p:cNvPr id="1" name=""/>
        <p:cNvGrpSpPr/>
        <p:nvPr/>
      </p:nvGrpSpPr>
      <p:grpSpPr>
        <a:xfrm xmlns:a="http://schemas.openxmlformats.org/drawingml/2006/main"/>
      </p:grpSpPr>
      <p:sp>
        <p:nvSpPr>
          <p:cNvPr id="424" name="Google Shape;424;p70">
            <a:extLst xmlns:a="http://schemas.openxmlformats.org/drawingml/2006/main">
              <a:ext uri="{FF2B5EF4-FFF2-40B4-BE49-F238E27FC236}">
                <a16:creationId xmlns:a16="http://schemas.microsoft.com/office/drawing/2014/main" id="{FC262001-58E2-49D4-917B-CB371911F4D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1110800D-D5E6-B48B-B335-F070B0EAA3B9}" type="slidenum">
              <a:rPr sz="1200">
                <a:solidFill>
                  <a:srgbClr val="1C7DDB"/>
                </a:solidFill>
                <a:latin typeface="Arial"/>
                <a:ea typeface="Arial"/>
                <a:cs typeface="Arial"/>
              </a:rPr>
              <a:t>44</a:t>
            </a:fld>
            <a:endParaRPr/>
          </a:p>
        </p:txBody>
      </p:sp>
      <p:sp>
        <p:nvSpPr>
          <p:cNvPr id="426" name="Google Shape;426;p70">
            <a:extLst xmlns:a="http://schemas.openxmlformats.org/drawingml/2006/main">
              <a:ext uri="{FF2B5EF4-FFF2-40B4-BE49-F238E27FC236}">
                <a16:creationId xmlns:a16="http://schemas.microsoft.com/office/drawing/2014/main" id="{CFB59185-9D5C-4B69-B038-A63857892E30}"/>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Confusion Matrix: Decision Tree</a:t>
            </a:r>
            <a:endParaRPr sz="3000">
              <a:solidFill>
                <a:srgbClr val="0B49CB"/>
              </a:solidFill>
              <a:latin typeface="Arial"/>
              <a:ea typeface="Arial"/>
              <a:cs typeface="Arial"/>
            </a:endParaRPr>
          </a:p>
        </p:txBody>
      </p:sp>
      <p:sp>
        <p:nvSpPr>
          <p:cNvPr id="427" name="">
            <a:extLst xmlns:a="http://schemas.openxmlformats.org/drawingml/2006/main">
              <a:ext uri="{FF2B5EF4-FFF2-40B4-BE49-F238E27FC236}">
                <a16:creationId xmlns:a16="http://schemas.microsoft.com/office/drawing/2014/main" id="{9023C464-1B53-4C66-89B8-13437B2F28A0}"/>
              </a:ext>
            </a:extLst>
          </p:cNvPr>
          <p:cNvSpPr>
            <a:spLocks xmlns:a="http://schemas.openxmlformats.org/drawingml/2006/main" noGrp="1"/>
          </p:cNvSpPr>
          <p:nvPr/>
        </p:nvSpPr>
        <p:spPr>
          <a:xfrm xmlns:a="http://schemas.openxmlformats.org/drawingml/2006/main">
            <a:off x="628650" y="1400175"/>
            <a:ext cx="30099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12 successful outcomes are correctly identified.</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3 other outcomes are correctly rejected.</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3 false positives predict success for an actual Class 0 outcome.</a:t>
            </a:r>
          </a:p>
          <a:p xmlns:a="http://schemas.openxmlformats.org/drawingml/2006/main">
            <a:pPr marL="190500" indent="-127000" algn="l">
              <a:spcAft>
                <a:spcPts val="1200"/>
              </a:spcAft>
              <a:buChar char="•"/>
              <a:defRPr sz="1700" b="0">
                <a:solidFill>
                  <a:srgbClr val="292929"/>
                </a:solidFill>
                <a:latin typeface="Arial"/>
                <a:ea typeface="Arial"/>
                <a:cs typeface="Arial"/>
              </a:defRPr>
            </a:pPr>
            <a:r>
              <a:rPr sz="1700" b="0">
                <a:solidFill>
                  <a:srgbClr val="292929"/>
                </a:solidFill>
                <a:latin typeface="Arial"/>
                <a:ea typeface="Arial"/>
                <a:cs typeface="Arial"/>
              </a:rPr>
              <a:t>No false negatives occur in this test sample.</a:t>
            </a:r>
          </a:p>
        </p:txBody>
      </p:sp>
      <p:graphicFrame>
        <p:nvGraphicFramePr>
          <p:cNvPr id="428" name="">
            <a:extLst xmlns:a="http://schemas.openxmlformats.org/drawingml/2006/main">
              <a:ext uri="{FF2B5EF4-FFF2-40B4-BE49-F238E27FC236}">
                <a16:creationId xmlns:a16="http://schemas.microsoft.com/office/drawing/2014/main" id="{05012FB4-92F8-4F0A-A0FC-6C751C4602C0}"/>
              </a:ext>
            </a:extLst>
          </p:cNvPr>
          <p:cNvGraphicFramePr/>
          <p:nvPr/>
        </p:nvGraphicFramePr>
        <p:xfrm>
          <a:off xmlns:a="http://schemas.openxmlformats.org/drawingml/2006/main" x="4076700" y="1466850"/>
          <a:ext xmlns:a="http://schemas.openxmlformats.org/drawingml/2006/main" cx="4438650" cy="2162175"/>
        </p:xfrm>
        <a:graphic xmlns:a="http://schemas.openxmlformats.org/drawingml/2006/main">
          <a:graphicData uri="http://schemas.openxmlformats.org/drawingml/2006/table">
            <a:tbl>
              <a:tblPr firstRow="1" bandRow="0"/>
              <a:tblGrid>
                <a:gridCol w="2114550"/>
                <a:gridCol w="1162050"/>
                <a:gridCol w="1162050"/>
              </a:tblGrid>
              <a:tr h="720725">
                <a:tc>
                  <a:txBody>
                    <a:bodyPr lIns="0" tIns="0" rIns="0" bIns="0">
                      <a:noAutofit/>
                    </a:bodyPr>
                    <a:lstStyle/>
                    <a:p>
                      <a:pPr algn="l"/>
                      <a:r>
                        <a:rPr sz="1700" b="1">
                          <a:solidFill>
                            <a:srgbClr val="FFFFFF"/>
                          </a:solidFill>
                          <a:latin typeface="Arial"/>
                          <a:ea typeface="Arial"/>
                          <a:cs typeface="Arial"/>
                        </a:rPr>
                        <a:t>Actual / predicted</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Class 0</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Class 1</a:t>
                      </a:r>
                    </a:p>
                  </a:txBody>
                  <a:tcPr marL="76200" marR="76200" marT="0" marB="0" anchor="ctr">
                    <a:solidFill>
                      <a:srgbClr val="0B49CB"/>
                    </a:solidFill>
                  </a:tcPr>
                </a:tc>
              </a:tr>
              <a:tr h="720725">
                <a:tc>
                  <a:txBody>
                    <a:bodyPr lIns="0" tIns="0" rIns="0" bIns="0">
                      <a:noAutofit/>
                    </a:bodyPr>
                    <a:lstStyle/>
                    <a:p>
                      <a:pPr algn="l"/>
                      <a:r>
                        <a:rPr sz="1700" b="0">
                          <a:solidFill>
                            <a:srgbClr val="292929"/>
                          </a:solidFill>
                          <a:latin typeface="Arial"/>
                          <a:ea typeface="Arial"/>
                          <a:cs typeface="Arial"/>
                        </a:rPr>
                        <a:t>Class 0</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3</a:t>
                      </a:r>
                    </a:p>
                  </a:txBody>
                  <a:tcPr marL="76200" marR="76200" marT="0" marB="0" anchor="ctr">
                    <a:solidFill>
                      <a:srgbClr val="DDEAFB"/>
                    </a:solidFill>
                  </a:tcPr>
                </a:tc>
                <a:tc>
                  <a:txBody>
                    <a:bodyPr lIns="0" tIns="0" rIns="0" bIns="0">
                      <a:noAutofit/>
                    </a:bodyPr>
                    <a:lstStyle/>
                    <a:p>
                      <a:pPr algn="l"/>
                      <a:r>
                        <a:rPr sz="1700" b="0">
                          <a:solidFill>
                            <a:srgbClr val="292929"/>
                          </a:solidFill>
                          <a:latin typeface="Arial"/>
                          <a:ea typeface="Arial"/>
                          <a:cs typeface="Arial"/>
                        </a:rPr>
                        <a:t>3</a:t>
                      </a:r>
                    </a:p>
                  </a:txBody>
                  <a:tcPr marL="76200" marR="76200" marT="0" marB="0" anchor="ctr">
                    <a:solidFill>
                      <a:srgbClr val="FFF0DB"/>
                    </a:solidFill>
                  </a:tcPr>
                </a:tc>
              </a:tr>
              <a:tr h="720725">
                <a:tc>
                  <a:txBody>
                    <a:bodyPr lIns="0" tIns="0" rIns="0" bIns="0">
                      <a:noAutofit/>
                    </a:bodyPr>
                    <a:lstStyle/>
                    <a:p>
                      <a:pPr algn="l"/>
                      <a:r>
                        <a:rPr sz="1700" b="0">
                          <a:solidFill>
                            <a:srgbClr val="292929"/>
                          </a:solidFill>
                          <a:latin typeface="Arial"/>
                          <a:ea typeface="Arial"/>
                          <a:cs typeface="Arial"/>
                        </a:rPr>
                        <a:t>Class 1</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0</a:t>
                      </a:r>
                    </a:p>
                  </a:txBody>
                  <a:tcPr marL="76200" marR="76200" marT="0" marB="0" anchor="ctr">
                    <a:solidFill>
                      <a:srgbClr val="FFFFFF"/>
                    </a:solidFill>
                  </a:tcPr>
                </a:tc>
                <a:tc>
                  <a:txBody>
                    <a:bodyPr lIns="0" tIns="0" rIns="0" bIns="0">
                      <a:noAutofit/>
                    </a:bodyPr>
                    <a:lstStyle/>
                    <a:p>
                      <a:pPr algn="ctr"/>
                      <a:r>
                        <a:rPr sz="1700" b="1">
                          <a:solidFill>
                            <a:srgbClr val="FFFFFF"/>
                          </a:solidFill>
                          <a:latin typeface="Arial"/>
                          <a:ea typeface="Arial"/>
                          <a:cs typeface="Arial"/>
                        </a:rPr>
                        <a:t>12</a:t>
                      </a:r>
                    </a:p>
                  </a:txBody>
                  <a:tcPr marL="76200" marR="76200" marT="0" marB="0" anchor="ctr">
                    <a:solidFill>
                      <a:srgbClr val="0B49CB"/>
                    </a:solidFill>
                  </a:tcPr>
                </a:tc>
              </a:tr>
            </a:tbl>
          </a:graphicData>
        </a:graphic>
      </p:graphicFrame>
      <p:sp>
        <p:nvSpPr>
          <p:cNvPr id="429" name="">
            <a:extLst xmlns:a="http://schemas.openxmlformats.org/drawingml/2006/main">
              <a:ext uri="{FF2B5EF4-FFF2-40B4-BE49-F238E27FC236}">
                <a16:creationId xmlns:a16="http://schemas.microsoft.com/office/drawing/2014/main" id="{4F9D89FA-E692-4A64-9275-26FED7CEDE35}"/>
              </a:ext>
            </a:extLst>
          </p:cNvPr>
          <p:cNvSpPr>
            <a:spLocks xmlns:a="http://schemas.openxmlformats.org/drawingml/2006/main" noGrp="1"/>
          </p:cNvSpPr>
          <p:nvPr/>
        </p:nvSpPr>
        <p:spPr>
          <a:xfrm xmlns:a="http://schemas.openxmlformats.org/drawingml/2006/main">
            <a:off x="4076700" y="3819525"/>
            <a:ext cx="4419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Accuracy: 83.33%</a:t>
            </a:r>
          </a:p>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Success precision: 80%</a:t>
            </a:r>
          </a:p>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Success recall: 100%</a:t>
            </a:r>
          </a:p>
        </p:txBody>
      </p:sp>
    </p:spTree>
    <p:extLst>
      <p:ext uri="{BB962C8B-B14F-4D97-AF65-F5344CB8AC3E}">
        <p14:creationId xmlns:p14="http://schemas.microsoft.com/office/powerpoint/2010/main" val="1970291004"/>
      </p:ext>
    </p:extLst>
  </p:cSld>
</p:sld>
</file>

<file path=ppt/slides/slide45.xml><?xml version="1.0" encoding="utf-8"?>
<p:sld xmlns:p="http://schemas.openxmlformats.org/presentationml/2006/main">
  <p:cSld>
    <p:bg>
      <p:bgPr>
        <a:blipFill xmlns:a="http://schemas.openxmlformats.org/drawingml/2006/main">
          <a:blip xmlns:r="http://schemas.openxmlformats.org/officeDocument/2006/relationships" r:embed="R46145ded8fc740cf">
            <a:alphaModFix/>
          </a:blip>
          <a:stretch>
            <a:fillRect l="0" t="0" r="0" b="0"/>
          </a:stretch>
        </a:blipFill>
      </p:bgPr>
    </p:bg>
    <p:spTree>
      <p:nvGrpSpPr>
        <p:cNvPr id="1" name=""/>
        <p:cNvGrpSpPr/>
        <p:nvPr/>
      </p:nvGrpSpPr>
      <p:grpSpPr>
        <a:xfrm xmlns:a="http://schemas.openxmlformats.org/drawingml/2006/main"/>
      </p:grpSpPr>
      <p:sp>
        <p:nvSpPr>
          <p:cNvPr id="431" name="Google Shape;431;p71">
            <a:extLst xmlns:a="http://schemas.openxmlformats.org/drawingml/2006/main">
              <a:ext uri="{FF2B5EF4-FFF2-40B4-BE49-F238E27FC236}">
                <a16:creationId xmlns:a16="http://schemas.microsoft.com/office/drawing/2014/main" id="{C0DB9182-0223-4B28-9A76-1AC31527D910}"/>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AE060EEA-E29B-CF3D-E7B7-BE01DFE3A2D2}" type="slidenum">
              <a:rPr sz="1200">
                <a:solidFill>
                  <a:srgbClr val="1C7DDB"/>
                </a:solidFill>
                <a:latin typeface="Arial"/>
                <a:ea typeface="Arial"/>
                <a:cs typeface="Arial"/>
              </a:rPr>
              <a:t>45</a:t>
            </a:fld>
            <a:endParaRPr/>
          </a:p>
        </p:txBody>
      </p:sp>
      <p:sp>
        <p:nvSpPr>
          <p:cNvPr id="433" name="Google Shape;433;p71">
            <a:extLst xmlns:a="http://schemas.openxmlformats.org/drawingml/2006/main">
              <a:ext uri="{FF2B5EF4-FFF2-40B4-BE49-F238E27FC236}">
                <a16:creationId xmlns:a16="http://schemas.microsoft.com/office/drawing/2014/main" id="{D34EA208-D3F6-4A05-95F4-27C1C3F09DDA}"/>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Conclusions</a:t>
            </a:r>
            <a:endParaRPr sz="3000">
              <a:solidFill>
                <a:srgbClr val="0B49CB"/>
              </a:solidFill>
              <a:latin typeface="Arial"/>
              <a:ea typeface="Arial"/>
              <a:cs typeface="Arial"/>
            </a:endParaRPr>
          </a:p>
        </p:txBody>
      </p:sp>
      <p:sp>
        <p:nvSpPr>
          <p:cNvPr id="434" name="">
            <a:extLst xmlns:a="http://schemas.openxmlformats.org/drawingml/2006/main">
              <a:ext uri="{FF2B5EF4-FFF2-40B4-BE49-F238E27FC236}">
                <a16:creationId xmlns:a16="http://schemas.microsoft.com/office/drawing/2014/main" id="{74EEB2AA-2179-431A-916E-958D476C1CEB}"/>
              </a:ext>
            </a:extLst>
          </p:cNvPr>
          <p:cNvSpPr>
            <a:spLocks xmlns:a="http://schemas.openxmlformats.org/drawingml/2006/main" noGrp="1"/>
          </p:cNvSpPr>
          <p:nvPr/>
        </p:nvSpPr>
        <p:spPr>
          <a:xfrm xmlns:a="http://schemas.openxmlformats.org/drawingml/2006/main">
            <a:off x="628650" y="1257300"/>
            <a:ext cx="78867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marL="190500" indent="-127000" algn="l">
              <a:spcAft>
                <a:spcPts val="1000"/>
              </a:spcAft>
              <a:buChar char="•"/>
              <a:defRPr sz="1700" b="0">
                <a:solidFill>
                  <a:srgbClr val="292929"/>
                </a:solidFill>
                <a:latin typeface="Arial"/>
                <a:ea typeface="Arial"/>
                <a:cs typeface="Arial"/>
              </a:defRPr>
            </a:pPr>
            <a:r>
              <a:rPr b="1"/>
              <a:t>Models: </a:t>
            </a:r>
            <a:r>
              <a:t>Decision Tree leads CV at 87.68%. All four tie at 83.33% on 18 test launches.</a:t>
            </a:r>
          </a:p>
          <a:p xmlns:a="http://schemas.openxmlformats.org/drawingml/2006/main">
            <a:pPr marL="190500" indent="-127000" algn="l">
              <a:spcAft>
                <a:spcPts val="1000"/>
              </a:spcAft>
              <a:buChar char="•"/>
              <a:defRPr sz="1700" b="0">
                <a:solidFill>
                  <a:srgbClr val="292929"/>
                </a:solidFill>
                <a:latin typeface="Arial"/>
                <a:ea typeface="Arial"/>
                <a:cs typeface="Arial"/>
              </a:defRPr>
            </a:pPr>
            <a:r>
              <a:rPr b="1"/>
              <a:t>Site insight: </a:t>
            </a:r>
            <a:r>
              <a:t>KSC leads the dashboard at 76.9% (10/13). Its 41.7% share (10/24) answers a different question.</a:t>
            </a:r>
          </a:p>
          <a:p xmlns:a="http://schemas.openxmlformats.org/drawingml/2006/main">
            <a:pPr marL="190500" indent="-127000" algn="l">
              <a:spcAft>
                <a:spcPts val="1000"/>
              </a:spcAft>
              <a:buChar char="•"/>
              <a:defRPr sz="1700" b="0">
                <a:solidFill>
                  <a:srgbClr val="292929"/>
                </a:solidFill>
                <a:latin typeface="Arial"/>
                <a:ea typeface="Arial"/>
                <a:cs typeface="Arial"/>
              </a:defRPr>
            </a:pPr>
            <a:r>
              <a:rPr b="1"/>
              <a:t>SQL insight: </a:t>
            </a:r>
            <a:r>
              <a:t>NASA CRS payload is 45,596 kg. Including shared NASA-tagged missions gives 107,010 kg.</a:t>
            </a:r>
          </a:p>
          <a:p xmlns:a="http://schemas.openxmlformats.org/drawingml/2006/main">
            <a:pPr marL="190500" indent="-127000" algn="l">
              <a:spcAft>
                <a:spcPts val="1000"/>
              </a:spcAft>
              <a:buChar char="•"/>
              <a:defRPr sz="1700" b="0">
                <a:solidFill>
                  <a:srgbClr val="292929"/>
                </a:solidFill>
                <a:latin typeface="Arial"/>
                <a:ea typeface="Arial"/>
                <a:cs typeface="Arial"/>
              </a:defRPr>
            </a:pPr>
            <a:r>
              <a:rPr b="1"/>
              <a:t>Prediction risk: </a:t>
            </a:r>
            <a:r>
              <a:t>Three false positives give 80% success precision. Recall is 100% on this small test set.</a:t>
            </a:r>
          </a:p>
          <a:p xmlns:a="http://schemas.openxmlformats.org/drawingml/2006/main">
            <a:pPr marL="190500" indent="-127000" algn="l">
              <a:spcAft>
                <a:spcPts val="1000"/>
              </a:spcAft>
              <a:buChar char="•"/>
              <a:defRPr sz="1700" b="0">
                <a:solidFill>
                  <a:srgbClr val="292929"/>
                </a:solidFill>
                <a:latin typeface="Arial"/>
                <a:ea typeface="Arial"/>
                <a:cs typeface="Arial"/>
              </a:defRPr>
            </a:pPr>
            <a:r>
              <a:rPr b="1"/>
              <a:t>Next step: </a:t>
            </a:r>
            <a:r>
              <a:t>Fit preprocessing inside CV and test future launches chronologically before operational use.</a:t>
            </a:r>
          </a:p>
        </p:txBody>
      </p:sp>
    </p:spTree>
    <p:extLst>
      <p:ext uri="{BB962C8B-B14F-4D97-AF65-F5344CB8AC3E}">
        <p14:creationId xmlns:p14="http://schemas.microsoft.com/office/powerpoint/2010/main" val="1316252293"/>
      </p:ext>
    </p:extLst>
  </p:cSld>
</p:sld>
</file>

<file path=ppt/slides/slide46.xml><?xml version="1.0" encoding="utf-8"?>
<p:sld xmlns:p="http://schemas.openxmlformats.org/presentationml/2006/main">
  <p:cSld>
    <p:bg>
      <p:bgPr>
        <a:blipFill xmlns:a="http://schemas.openxmlformats.org/drawingml/2006/main">
          <a:blip xmlns:r="http://schemas.openxmlformats.org/officeDocument/2006/relationships" r:embed="Rc34aa7cb155d44c9">
            <a:alphaModFix/>
          </a:blip>
          <a:stretch>
            <a:fillRect l="0" t="0" r="0" b="0"/>
          </a:stretch>
        </a:blipFill>
      </p:bgPr>
    </p:bg>
    <p:spTree>
      <p:nvGrpSpPr>
        <p:cNvPr id="1" name=""/>
        <p:cNvGrpSpPr/>
        <p:nvPr/>
      </p:nvGrpSpPr>
      <p:grpSpPr>
        <a:xfrm xmlns:a="http://schemas.openxmlformats.org/drawingml/2006/main"/>
      </p:grpSpPr>
      <p:sp>
        <p:nvSpPr>
          <p:cNvPr id="439" name="Google Shape;439;p72">
            <a:extLst xmlns:a="http://schemas.openxmlformats.org/drawingml/2006/main">
              <a:ext uri="{FF2B5EF4-FFF2-40B4-BE49-F238E27FC236}">
                <a16:creationId xmlns:a16="http://schemas.microsoft.com/office/drawing/2014/main" id="{B4E18D4C-64E8-4BE7-B765-3EAC0563B7BC}"/>
              </a:ext>
            </a:extLst>
          </p:cNvPr>
          <p:cNvSpPr>
            <a:spLocks xmlns:a="http://schemas.openxmlformats.org/drawingml/2006/main" noGrp="1"/>
          </p:cNvSpPr>
          <p:nvPr>
            <p:ph type="sldNum" idx="12"/>
          </p:nvPr>
        </p:nvSpPr>
        <p:spPr>
          <a:xfrm xmlns:a="http://schemas.openxmlformats.org/drawingml/2006/main">
            <a:off x="6536079" y="4519180"/>
            <a:ext cx="2057400" cy="30122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defPPr algn="r">
              <a:defRPr sz="1200">
                <a:solidFill>
                  <a:srgbClr val="1C7DDB"/>
                </a:solidFill>
                <a:latin typeface="Arial"/>
                <a:ea typeface="Arial"/>
                <a:cs typeface="Arial"/>
              </a:defRPr>
            </a:defPPr>
          </a:lstStyle>
          <a:p xmlns:a="http://schemas.openxmlformats.org/drawingml/2006/main">
            <a:pPr marL="0" lvl="0" indent="0" algn="r">
              <a:spcBef>
                <a:spcPts val="0"/>
              </a:spcBef>
              <a:spcAft>
                <a:spcPts val="0"/>
              </a:spcAft>
              <a:buNone/>
              <a:defRPr sz="1200">
                <a:solidFill>
                  <a:srgbClr val="1C7DDB"/>
                </a:solidFill>
                <a:latin typeface="Arial"/>
                <a:ea typeface="Arial"/>
                <a:cs typeface="Arial"/>
              </a:defRPr>
            </a:pPr>
            <a:fld id="{472DB7CE-501A-BBF4-0CAD-B084CE0A592C}" type="slidenum">
              <a:rPr sz="1200">
                <a:solidFill>
                  <a:srgbClr val="1C7DDB"/>
                </a:solidFill>
                <a:latin typeface="Arial"/>
                <a:ea typeface="Arial"/>
                <a:cs typeface="Arial"/>
              </a:rPr>
              <a:t>46</a:t>
            </a:fld>
            <a:endParaRPr/>
          </a:p>
        </p:txBody>
      </p:sp>
      <p:sp>
        <p:nvSpPr>
          <p:cNvPr id="441" name="Google Shape;441;p72">
            <a:extLst xmlns:a="http://schemas.openxmlformats.org/drawingml/2006/main">
              <a:ext uri="{FF2B5EF4-FFF2-40B4-BE49-F238E27FC236}">
                <a16:creationId xmlns:a16="http://schemas.microsoft.com/office/drawing/2014/main" id="{F04A7AB3-0E12-4397-831C-59F06196A50F}"/>
              </a:ext>
            </a:extLst>
          </p:cNvPr>
          <p:cNvSpPr>
            <a:spLocks xmlns:a="http://schemas.openxmlformats.org/drawingml/2006/main" noGrp="1"/>
          </p:cNvSpPr>
          <p:nvPr/>
        </p:nvSpPr>
        <p:spPr>
          <a:xfrm xmlns:a="http://schemas.openxmlformats.org/drawingml/2006/main">
            <a:off x="577501" y="403955"/>
            <a:ext cx="78867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defPPr>
              <a:defRPr sz="3000" b="0">
                <a:solidFill>
                  <a:srgbClr val="0B49CB"/>
                </a:solidFill>
                <a:latin typeface="Arial"/>
                <a:ea typeface="Arial"/>
                <a:cs typeface="Arial"/>
              </a:defRPr>
            </a:defPPr>
          </a:lstStyle>
          <a:p xmlns:a="http://schemas.openxmlformats.org/drawingml/2006/main">
            <a:pPr marL="0" marR="0" lvl="0" indent="0" algn="l">
              <a:lnSpc>
                <a:spcPct val="90000"/>
              </a:lnSpc>
              <a:spcBef>
                <a:spcPts val="0"/>
              </a:spcBef>
              <a:spcAft>
                <a:spcPts val="0"/>
              </a:spcAft>
              <a:buClr>
                <a:srgbClr val="0B49CB"/>
              </a:buClr>
              <a:buSzPct val="100000"/>
              <a:buFont typeface="Arial"/>
              <a:buNone/>
              <a:defRPr sz="3000" b="0">
                <a:solidFill>
                  <a:srgbClr val="0B49CB"/>
                </a:solidFill>
                <a:latin typeface="Arial"/>
                <a:ea typeface="Arial"/>
                <a:cs typeface="Arial"/>
              </a:defRPr>
            </a:pPr>
            <a:r>
              <a:rPr sz="3000" b="0">
                <a:solidFill>
                  <a:srgbClr val="0B49CB"/>
                </a:solidFill>
                <a:latin typeface="Arial"/>
                <a:ea typeface="Arial"/>
                <a:cs typeface="Arial"/>
              </a:rPr>
              <a:t>Appendix: Data Scope and Sources</a:t>
            </a:r>
            <a:endParaRPr sz="3000">
              <a:solidFill>
                <a:srgbClr val="0B49CB"/>
              </a:solidFill>
              <a:latin typeface="Arial"/>
              <a:ea typeface="Arial"/>
              <a:cs typeface="Arial"/>
            </a:endParaRPr>
          </a:p>
        </p:txBody>
      </p:sp>
      <p:graphicFrame>
        <p:nvGraphicFramePr>
          <p:cNvPr id="442" name="">
            <a:extLst xmlns:a="http://schemas.openxmlformats.org/drawingml/2006/main">
              <a:ext uri="{FF2B5EF4-FFF2-40B4-BE49-F238E27FC236}">
                <a16:creationId xmlns:a16="http://schemas.microsoft.com/office/drawing/2014/main" id="{85CAFED7-6207-4E4B-8E9E-DC8780E73799}"/>
              </a:ext>
            </a:extLst>
          </p:cNvPr>
          <p:cNvGraphicFramePr/>
          <p:nvPr/>
        </p:nvGraphicFramePr>
        <p:xfrm>
          <a:off xmlns:a="http://schemas.openxmlformats.org/drawingml/2006/main" x="628650" y="1247775"/>
          <a:ext xmlns:a="http://schemas.openxmlformats.org/drawingml/2006/main" cx="7886700" cy="2009775"/>
        </p:xfrm>
        <a:graphic xmlns:a="http://schemas.openxmlformats.org/drawingml/2006/main">
          <a:graphicData uri="http://schemas.openxmlformats.org/drawingml/2006/table">
            <a:tbl>
              <a:tblPr firstRow="1" bandRow="0"/>
              <a:tblGrid>
                <a:gridCol w="3333750"/>
                <a:gridCol w="952500"/>
                <a:gridCol w="3600450"/>
              </a:tblGrid>
              <a:tr h="401955">
                <a:tc>
                  <a:txBody>
                    <a:bodyPr lIns="0" tIns="0" rIns="0" bIns="0">
                      <a:noAutofit/>
                    </a:bodyPr>
                    <a:lstStyle/>
                    <a:p>
                      <a:pPr algn="l"/>
                      <a:r>
                        <a:rPr sz="1700" b="1">
                          <a:solidFill>
                            <a:srgbClr val="FFFFFF"/>
                          </a:solidFill>
                          <a:latin typeface="Arial"/>
                          <a:ea typeface="Arial"/>
                          <a:cs typeface="Arial"/>
                        </a:rPr>
                        <a:t>Analysis</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Rows</a:t>
                      </a:r>
                    </a:p>
                  </a:txBody>
                  <a:tcPr marL="76200" marR="76200" marT="0" marB="0" anchor="ctr">
                    <a:solidFill>
                      <a:srgbClr val="0B49CB"/>
                    </a:solidFill>
                  </a:tcPr>
                </a:tc>
                <a:tc>
                  <a:txBody>
                    <a:bodyPr lIns="0" tIns="0" rIns="0" bIns="0">
                      <a:noAutofit/>
                    </a:bodyPr>
                    <a:lstStyle/>
                    <a:p>
                      <a:pPr algn="l"/>
                      <a:r>
                        <a:rPr sz="1700" b="1">
                          <a:solidFill>
                            <a:srgbClr val="FFFFFF"/>
                          </a:solidFill>
                          <a:latin typeface="Arial"/>
                          <a:ea typeface="Arial"/>
                          <a:cs typeface="Arial"/>
                        </a:rPr>
                        <a:t>Primary input</a:t>
                      </a:r>
                    </a:p>
                  </a:txBody>
                  <a:tcPr marL="76200" marR="76200" marT="0" marB="0" anchor="ctr">
                    <a:solidFill>
                      <a:srgbClr val="0B49CB"/>
                    </a:solidFill>
                  </a:tcPr>
                </a:tc>
              </a:tr>
              <a:tr h="401955">
                <a:tc>
                  <a:txBody>
                    <a:bodyPr lIns="0" tIns="0" rIns="0" bIns="0">
                      <a:noAutofit/>
                    </a:bodyPr>
                    <a:lstStyle/>
                    <a:p>
                      <a:pPr algn="l"/>
                      <a:r>
                        <a:rPr sz="1700" b="0">
                          <a:solidFill>
                            <a:srgbClr val="292929"/>
                          </a:solidFill>
                          <a:latin typeface="Arial"/>
                          <a:ea typeface="Arial"/>
                          <a:cs typeface="Arial"/>
                        </a:rPr>
                        <a:t>EDA and ML</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90</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dataset_part_2 / part_3</a:t>
                      </a:r>
                    </a:p>
                  </a:txBody>
                  <a:tcPr marL="76200" marR="76200" marT="0" marB="0" anchor="ctr">
                    <a:solidFill>
                      <a:srgbClr val="FFFFFF"/>
                    </a:solidFill>
                  </a:tcPr>
                </a:tc>
              </a:tr>
              <a:tr h="401955">
                <a:tc>
                  <a:txBody>
                    <a:bodyPr lIns="0" tIns="0" rIns="0" bIns="0">
                      <a:noAutofit/>
                    </a:bodyPr>
                    <a:lstStyle/>
                    <a:p>
                      <a:pPr algn="l"/>
                      <a:r>
                        <a:rPr sz="1700" b="0">
                          <a:solidFill>
                            <a:srgbClr val="292929"/>
                          </a:solidFill>
                          <a:latin typeface="Arial"/>
                          <a:ea typeface="Arial"/>
                          <a:cs typeface="Arial"/>
                        </a:rPr>
                        <a:t>SQL</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101</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IBM Spacex.csv</a:t>
                      </a:r>
                    </a:p>
                  </a:txBody>
                  <a:tcPr marL="76200" marR="76200" marT="0" marB="0" anchor="ctr">
                    <a:solidFill>
                      <a:srgbClr val="E9EEF8"/>
                    </a:solidFill>
                  </a:tcPr>
                </a:tc>
              </a:tr>
              <a:tr h="401955">
                <a:tc>
                  <a:txBody>
                    <a:bodyPr lIns="0" tIns="0" rIns="0" bIns="0">
                      <a:noAutofit/>
                    </a:bodyPr>
                    <a:lstStyle/>
                    <a:p>
                      <a:pPr algn="l"/>
                      <a:r>
                        <a:rPr sz="1700" b="0">
                          <a:solidFill>
                            <a:srgbClr val="292929"/>
                          </a:solidFill>
                          <a:latin typeface="Arial"/>
                          <a:ea typeface="Arial"/>
                          <a:cs typeface="Arial"/>
                        </a:rPr>
                        <a:t>Dashboard and map</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56</a:t>
                      </a:r>
                    </a:p>
                  </a:txBody>
                  <a:tcPr marL="76200" marR="76200" marT="0" marB="0" anchor="ctr">
                    <a:solidFill>
                      <a:srgbClr val="FFFFFF"/>
                    </a:solidFill>
                  </a:tcPr>
                </a:tc>
                <a:tc>
                  <a:txBody>
                    <a:bodyPr lIns="0" tIns="0" rIns="0" bIns="0">
                      <a:noAutofit/>
                    </a:bodyPr>
                    <a:lstStyle/>
                    <a:p>
                      <a:pPr algn="l"/>
                      <a:r>
                        <a:rPr sz="1700" b="0">
                          <a:solidFill>
                            <a:srgbClr val="292929"/>
                          </a:solidFill>
                          <a:latin typeface="Arial"/>
                          <a:ea typeface="Arial"/>
                          <a:cs typeface="Arial"/>
                        </a:rPr>
                        <a:t>IBM dash / geo CSV</a:t>
                      </a:r>
                    </a:p>
                  </a:txBody>
                  <a:tcPr marL="76200" marR="76200" marT="0" marB="0" anchor="ctr">
                    <a:solidFill>
                      <a:srgbClr val="FFFFFF"/>
                    </a:solidFill>
                  </a:tcPr>
                </a:tc>
              </a:tr>
              <a:tr h="401955">
                <a:tc>
                  <a:txBody>
                    <a:bodyPr lIns="0" tIns="0" rIns="0" bIns="0">
                      <a:noAutofit/>
                    </a:bodyPr>
                    <a:lstStyle/>
                    <a:p>
                      <a:pPr algn="l"/>
                      <a:r>
                        <a:rPr sz="1700" b="0">
                          <a:solidFill>
                            <a:srgbClr val="292929"/>
                          </a:solidFill>
                          <a:latin typeface="Arial"/>
                          <a:ea typeface="Arial"/>
                          <a:cs typeface="Arial"/>
                        </a:rPr>
                        <a:t>Scraping output</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0</a:t>
                      </a:r>
                    </a:p>
                  </a:txBody>
                  <a:tcPr marL="76200" marR="76200" marT="0" marB="0" anchor="ctr">
                    <a:solidFill>
                      <a:srgbClr val="E9EEF8"/>
                    </a:solidFill>
                  </a:tcPr>
                </a:tc>
                <a:tc>
                  <a:txBody>
                    <a:bodyPr lIns="0" tIns="0" rIns="0" bIns="0">
                      <a:noAutofit/>
                    </a:bodyPr>
                    <a:lstStyle/>
                    <a:p>
                      <a:pPr algn="l"/>
                      <a:r>
                        <a:rPr sz="1700" b="0">
                          <a:solidFill>
                            <a:srgbClr val="292929"/>
                          </a:solidFill>
                          <a:latin typeface="Arial"/>
                          <a:ea typeface="Arial"/>
                          <a:cs typeface="Arial"/>
                        </a:rPr>
                        <a:t>Excluded from analysis</a:t>
                      </a:r>
                    </a:p>
                  </a:txBody>
                  <a:tcPr marL="76200" marR="76200" marT="0" marB="0" anchor="ctr">
                    <a:solidFill>
                      <a:srgbClr val="E9EEF8"/>
                    </a:solidFill>
                  </a:tcPr>
                </a:tc>
              </a:tr>
            </a:tbl>
          </a:graphicData>
        </a:graphic>
      </p:graphicFrame>
      <p:sp>
        <p:nvSpPr>
          <p:cNvPr id="443" name="">
            <a:extLst xmlns:a="http://schemas.openxmlformats.org/drawingml/2006/main">
              <a:ext uri="{FF2B5EF4-FFF2-40B4-BE49-F238E27FC236}">
                <a16:creationId xmlns:a16="http://schemas.microsoft.com/office/drawing/2014/main" id="{DC9E08D9-54F2-4C42-9C42-9EB76E12C245}"/>
              </a:ext>
            </a:extLst>
          </p:cNvPr>
          <p:cNvSpPr>
            <a:spLocks xmlns:a="http://schemas.openxmlformats.org/drawingml/2006/main" noGrp="1"/>
          </p:cNvSpPr>
          <p:nvPr/>
        </p:nvSpPr>
        <p:spPr>
          <a:xfrm xmlns:a="http://schemas.openxmlformats.org/drawingml/2006/main">
            <a:off x="628650" y="3495675"/>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292929"/>
                </a:solidFill>
                <a:latin typeface="Arial"/>
                <a:ea typeface="Arial"/>
                <a:cs typeface="Arial"/>
              </a:defRPr>
            </a:defPPr>
          </a:lstStyle>
          <a:p xmlns:a="http://schemas.openxmlformats.org/drawingml/2006/main">
            <a:pPr algn="l">
              <a:defRPr sz="1700" b="0">
                <a:solidFill>
                  <a:srgbClr val="292929"/>
                </a:solidFill>
                <a:latin typeface="Arial"/>
                <a:ea typeface="Arial"/>
                <a:cs typeface="Arial"/>
              </a:defRPr>
            </a:pPr>
            <a:r>
              <a:rPr sz="1700" b="0">
                <a:solidFill>
                  <a:srgbClr val="292929"/>
                </a:solidFill>
                <a:latin typeface="Arial"/>
                <a:ea typeface="Arial"/>
                <a:cs typeface="Arial"/>
              </a:rPr>
              <a:t>Validation priorities: fit preprocessing inside CV, test future launches, and clarify whether success means controlled landing or recoverable hardware.</a:t>
            </a:r>
          </a:p>
        </p:txBody>
      </p:sp>
      <p:sp>
        <p:nvSpPr>
          <p:cNvPr id="444" name="">
            <a:extLst xmlns:a="http://schemas.openxmlformats.org/drawingml/2006/main">
              <a:ext uri="{FF2B5EF4-FFF2-40B4-BE49-F238E27FC236}">
                <a16:creationId xmlns:a16="http://schemas.microsoft.com/office/drawing/2014/main" id="{0743A8D6-0947-45F1-864B-427CE8175E2B}"/>
              </a:ext>
            </a:extLst>
          </p:cNvPr>
          <p:cNvSpPr>
            <a:spLocks xmlns:a="http://schemas.openxmlformats.org/drawingml/2006/main" noGrp="1"/>
          </p:cNvSpPr>
          <p:nvPr/>
        </p:nvSpPr>
        <p:spPr>
          <a:xfrm xmlns:a="http://schemas.openxmlformats.org/drawingml/2006/main">
            <a:off x="628650" y="4381500"/>
            <a:ext cx="7886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B49CB"/>
                </a:solidFill>
                <a:latin typeface="Arial"/>
                <a:ea typeface="Arial"/>
                <a:cs typeface="Arial"/>
              </a:defRPr>
            </a:defPPr>
          </a:lstStyle>
          <a:p xmlns:a="http://schemas.openxmlformats.org/drawingml/2006/main">
            <a:pPr algn="l">
              <a:defRPr sz="1700" b="0">
                <a:solidFill>
                  <a:srgbClr val="0B49CB"/>
                </a:solidFill>
                <a:latin typeface="Arial"/>
                <a:ea typeface="Arial"/>
                <a:cs typeface="Arial"/>
              </a:defRPr>
            </a:pPr>
            <a:r>
              <a:rPr sz="1700" b="0">
                <a:solidFill>
                  <a:srgbClr val="0B49CB"/>
                </a:solidFill>
                <a:latin typeface="Arial"/>
                <a:ea typeface="Arial"/>
                <a:cs typeface="Arial"/>
                <a:hlinkClick xmlns:r="http://schemas.openxmlformats.org/officeDocument/2006/relationships" r:id="R17b672fe5ca74755"/>
              </a:rPr>
              <a:t>https://github.com/elvenj/elvenj-ibm-data-science-professional-certificate</a:t>
            </a:r>
          </a:p>
        </p:txBody>
      </p:sp>
    </p:spTree>
    <p:extLst>
      <p:ext uri="{BB962C8B-B14F-4D97-AF65-F5344CB8AC3E}">
        <p14:creationId xmlns:p14="http://schemas.microsoft.com/office/powerpoint/2010/main" val="849614354"/>
      </p:ext>
    </p:extLst>
  </p:cSld>
</p:sld>
</file>

<file path=ppt/slides/slide47.xml><?xml version="1.0" encoding="utf-8"?>
<p:sld xmlns:p="http://schemas.openxmlformats.org/presentationml/2006/main">
  <p:cSld>
    <p:bg>
      <p:bgPr>
        <a:blipFill xmlns:a="http://schemas.openxmlformats.org/drawingml/2006/main">
          <a:blip xmlns:r="http://schemas.openxmlformats.org/officeDocument/2006/relationships" r:embed="R555615bf43cf48f2">
            <a:alphaModFix/>
          </a:blip>
          <a:stretch>
            <a:fillRect l="0" t="0" r="0" b="0"/>
          </a:stretch>
        </a:blip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9CE0CF-AEC8-4D65-AFFC-26BE2DE4EAF6}"/>
              </a:ext>
            </a:extLst>
          </p:cNvPr>
          <p:cNvSpPr>
            <a:spLocks xmlns:a="http://schemas.openxmlformats.org/drawingml/2006/main" noGrp="1"/>
          </p:cNvSpPr>
          <p:nvPr/>
        </p:nvSpPr>
        <p:spPr>
          <a:xfrm xmlns:a="http://schemas.openxmlformats.org/drawingml/2006/main">
            <a:off x="638175" y="4286250"/>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FFFFFF"/>
                </a:solidFill>
                <a:latin typeface="Arial"/>
                <a:ea typeface="Arial"/>
                <a:cs typeface="Arial"/>
              </a:defRPr>
            </a:defPPr>
          </a:lstStyle>
          <a:p xmlns:a="http://schemas.openxmlformats.org/drawingml/2006/main">
            <a:pPr algn="l">
              <a:defRPr sz="1700" b="0">
                <a:solidFill>
                  <a:srgbClr val="FFFFFF"/>
                </a:solidFill>
                <a:latin typeface="Arial"/>
                <a:ea typeface="Arial"/>
                <a:cs typeface="Arial"/>
              </a:defRPr>
            </a:pPr>
            <a:r>
              <a:rPr sz="1700" b="0">
                <a:solidFill>
                  <a:srgbClr val="FFFFFF"/>
                </a:solidFill>
                <a:latin typeface="Arial"/>
                <a:ea typeface="Arial"/>
                <a:cs typeface="Arial"/>
                <a:hlinkClick xmlns:r="http://schemas.openxmlformats.org/officeDocument/2006/relationships" r:id="R3789eb58afcc4a5b"/>
              </a:rPr>
              <a:t>Project repository</a:t>
            </a:r>
          </a:p>
        </p:txBody>
      </p:sp>
    </p:spTree>
    <p:extLst>
      <p:ext uri="{BB962C8B-B14F-4D97-AF65-F5344CB8AC3E}">
        <p14:creationId xmlns:p14="http://schemas.microsoft.com/office/powerpoint/2010/main" val="1116052348"/>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2026-10-10T10:09:56.8870000Z</dcterms:created>
  <dcterms:modified xsi:type="dcterms:W3CDTF">2026-10-10T10:09:56.8870000Z</dcterms:modified>
</coreProperties>
</file>